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Let the assistant read the data and answer the first question; show the peak plot. Accept the calibration explicitly ('my decision, not the assistant's'). Deliberate mistake: when asked for the reaction window, say 'the same as the standards'; chromhandler warns 'No peaks found for Neu5Ac', the document has no Neu5Ac values. Say why (the shift on the peak plot), correct it, continue. The questions on the slide are what every pair answers; we compare at 11:25.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283931" y="1965960"/>
            <a:ext cx="1371600" cy="1371600"/>
          </a:xfrm>
          <a:prstGeom prst="rect">
            <a:avLst/>
          </a:prstGeom>
        </p:spPr>
      </p:pic>
      <p:sp>
        <p:nvSpPr>
          <p:cNvPr id="8" name="TextBox 7"/>
          <p:cNvSpPr txBox="1"/>
          <p:nvPr/>
        </p:nvSpPr>
        <p:spPr>
          <a:xfrm>
            <a:off x="822960" y="3611880"/>
            <a:ext cx="2293543"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2293543" cy="1280160"/>
          </a:xfrm>
          <a:prstGeom prst="rect">
            <a:avLst/>
          </a:prstGeom>
          <a:noFill/>
        </p:spPr>
        <p:txBody>
          <a:bodyPr wrap="square" lIns="0" rIns="0" tIns="0" bIns="0">
            <a:spAutoFit/>
          </a:bodyPr>
          <a:lstStyle/>
          <a:p>
            <a:pPr algn="ctr"/>
            <a:r>
              <a:rPr sz="1300">
                <a:solidFill>
                  <a:srgbClr val="6F6F6F"/>
                </a:solidFill>
              </a:rPr>
              <a:t>From a one-page card, today's models write working code for our tools</a:t>
            </a:r>
          </a:p>
        </p:txBody>
      </p:sp>
      <p:pic>
        <p:nvPicPr>
          <p:cNvPr id="10" name="Picture 9" descr="icon_peak.png"/>
          <p:cNvPicPr>
            <a:picLocks noChangeAspect="1"/>
          </p:cNvPicPr>
          <p:nvPr/>
        </p:nvPicPr>
        <p:blipFill>
          <a:blip r:embed="rId4"/>
          <a:stretch>
            <a:fillRect/>
          </a:stretch>
        </p:blipFill>
        <p:spPr>
          <a:xfrm>
            <a:off x="4034675" y="1965960"/>
            <a:ext cx="1371600" cy="1371600"/>
          </a:xfrm>
          <a:prstGeom prst="rect">
            <a:avLst/>
          </a:prstGeom>
        </p:spPr>
      </p:pic>
      <p:sp>
        <p:nvSpPr>
          <p:cNvPr id="11" name="TextBox 10"/>
          <p:cNvSpPr txBox="1"/>
          <p:nvPr/>
        </p:nvSpPr>
        <p:spPr>
          <a:xfrm>
            <a:off x="3573703" y="3611880"/>
            <a:ext cx="2293543" cy="411480"/>
          </a:xfrm>
          <a:prstGeom prst="rect">
            <a:avLst/>
          </a:prstGeom>
          <a:noFill/>
        </p:spPr>
        <p:txBody>
          <a:bodyPr wrap="square" lIns="0" rIns="0" tIns="0" bIns="0">
            <a:spAutoFit/>
          </a:bodyPr>
          <a:lstStyle/>
          <a:p>
            <a:pPr algn="ctr"/>
            <a:r>
              <a:rPr b="1" sz="1600">
                <a:solidFill>
                  <a:srgbClr val="0A0A0A"/>
                </a:solidFill>
              </a:rPr>
              <a:t>Blind to your data</a:t>
            </a:r>
          </a:p>
        </p:txBody>
      </p:sp>
      <p:sp>
        <p:nvSpPr>
          <p:cNvPr id="12" name="TextBox 11"/>
          <p:cNvSpPr txBox="1"/>
          <p:nvPr/>
        </p:nvSpPr>
        <p:spPr>
          <a:xfrm>
            <a:off x="3573703" y="4160520"/>
            <a:ext cx="2293543" cy="1280160"/>
          </a:xfrm>
          <a:prstGeom prst="rect">
            <a:avLst/>
          </a:prstGeom>
          <a:noFill/>
        </p:spPr>
        <p:txBody>
          <a:bodyPr wrap="square" lIns="0" rIns="0" tIns="0" bIns="0">
            <a:spAutoFit/>
          </a:bodyPr>
          <a:lstStyle/>
          <a:p>
            <a:pPr algn="ctr"/>
            <a:r>
              <a:rPr sz="1300">
                <a:solidFill>
                  <a:srgbClr val="6F6F6F"/>
                </a:solidFill>
              </a:rPr>
              <a:t>Where the peak is, which model is right, when a result is wrong</a:t>
            </a:r>
          </a:p>
        </p:txBody>
      </p:sp>
      <p:pic>
        <p:nvPicPr>
          <p:cNvPr id="13" name="Picture 12" descr="icon_person_check.png"/>
          <p:cNvPicPr>
            <a:picLocks noChangeAspect="1"/>
          </p:cNvPicPr>
          <p:nvPr/>
        </p:nvPicPr>
        <p:blipFill>
          <a:blip r:embed="rId5"/>
          <a:stretch>
            <a:fillRect/>
          </a:stretch>
        </p:blipFill>
        <p:spPr>
          <a:xfrm>
            <a:off x="6785419" y="1965960"/>
            <a:ext cx="1371600" cy="1371600"/>
          </a:xfrm>
          <a:prstGeom prst="rect">
            <a:avLst/>
          </a:prstGeom>
        </p:spPr>
      </p:pic>
      <p:sp>
        <p:nvSpPr>
          <p:cNvPr id="14" name="TextBox 13"/>
          <p:cNvSpPr txBox="1"/>
          <p:nvPr/>
        </p:nvSpPr>
        <p:spPr>
          <a:xfrm>
            <a:off x="6324447" y="3611880"/>
            <a:ext cx="2293543"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5" name="TextBox 14"/>
          <p:cNvSpPr txBox="1"/>
          <p:nvPr/>
        </p:nvSpPr>
        <p:spPr>
          <a:xfrm>
            <a:off x="6324447" y="4160520"/>
            <a:ext cx="2293543"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6"/>
          <a:stretch>
            <a:fillRect/>
          </a:stretch>
        </p:blipFill>
        <p:spPr>
          <a:xfrm>
            <a:off x="9536163" y="1965960"/>
            <a:ext cx="1371600" cy="1371600"/>
          </a:xfrm>
          <a:prstGeom prst="rect">
            <a:avLst/>
          </a:prstGeom>
        </p:spPr>
      </p:pic>
      <p:sp>
        <p:nvSpPr>
          <p:cNvPr id="17" name="TextBox 16"/>
          <p:cNvSpPr txBox="1"/>
          <p:nvPr/>
        </p:nvSpPr>
        <p:spPr>
          <a:xfrm>
            <a:off x="9075191" y="3611880"/>
            <a:ext cx="2293543"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8" name="TextBox 17"/>
          <p:cNvSpPr txBox="1"/>
          <p:nvPr/>
        </p:nvSpPr>
        <p:spPr>
          <a:xfrm>
            <a:off x="9075191" y="4160520"/>
            <a:ext cx="2293543" cy="1280160"/>
          </a:xfrm>
          <a:prstGeom prst="rect">
            <a:avLst/>
          </a:prstGeom>
          <a:noFill/>
        </p:spPr>
        <p:txBody>
          <a:bodyPr wrap="square" lIns="0" rIns="0" tIns="0" bIns="0">
            <a:spAutoFit/>
          </a:bodyPr>
          <a:lstStyle/>
          <a:p>
            <a:pPr algn="ctr"/>
            <a:r>
              <a:rPr sz="1300">
                <a:solidFill>
                  <a:srgbClr val="6F6F6F"/>
                </a:solidFill>
              </a:rPr>
              <a:t>One document carries the data between the steps and the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infer the kinetic parameters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sp>
        <p:nvSpPr>
          <p:cNvPr id="7" name="Text Placeholder 6"/>
          <p:cNvSpPr>
            <a:spLocks noGrp="1"/>
          </p:cNvSpPr>
          <p:nvPr>
            <p:ph type="body" idx="16" sz="quarter"/>
          </p:nvPr>
        </p:nvSpPr>
        <p:spPr/>
        <p:txBody>
          <a:bodyPr/>
          <a:lstStyle/>
          <a:p>
            <a:r>
              <a:rP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tinyurl.com/enzymeml2026 · start with the README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3" name="Content Placeholder 2"/>
          <p:cNvSpPr>
            <a:spLocks noGrp="1"/>
          </p:cNvSpPr>
          <p:nvPr>
            <p:ph idx="1"/>
          </p:nvPr>
        </p:nvSpPr>
        <p:spPr/>
        <p:txBody>
          <a:bodyPr/>
          <a:lstStyle/>
          <a:p>
            <a:r>
              <a:rPr b="1"/>
              <a:t>Plot the data: </a:t>
            </a:r>
            <a:r>
              <a:rPr/>
              <a:t>all peaks of all injections; where does Neu5Ac elute?</a:t>
            </a:r>
          </a:p>
          <a:p>
            <a:r>
              <a:rPr b="1"/>
              <a:t>Check how the kinetic assay was designed: </a:t>
            </a:r>
            <a:r>
              <a:rPr/>
              <a:t>how many reactions, what was varied, what was fixed?</a:t>
            </a:r>
          </a:p>
          <a:p>
            <a:r>
              <a:rPr b="1"/>
              <a:t>Calibrate: </a:t>
            </a:r>
            <a:r>
              <a:rPr/>
              <a:t>what are the calibration parameters, and how well does the line fit?</a:t>
            </a:r>
          </a:p>
          <a:p>
            <a:r>
              <a:rPr b="1"/>
              <a:t>Set the retention window </a:t>
            </a:r>
            <a:r>
              <a:rPr/>
              <a:t>for the reactions (it differs from the standards) and assign the peak</a:t>
            </a:r>
          </a:p>
          <a:p>
            <a:r>
              <a:rPr b="1"/>
              <a:t>Export the EnzymeML document: </a:t>
            </a:r>
            <a:r>
              <a:rPr/>
              <a:t>every reaction with all its time points; which reactions form product?</a:t>
            </a:r>
          </a:p>
        </p:txBody>
      </p:sp>
      <p:sp>
        <p:nvSpPr>
          <p:cNvPr id="4" name="Text Placeholder 3"/>
          <p:cNvSpPr>
            <a:spLocks noGrp="1"/>
          </p:cNvSpPr>
          <p:nvPr>
            <p:ph type="body" idx="13" sz="quarter"/>
          </p:nvPr>
        </p:nvSpPr>
        <p:spPr/>
        <p:txBody>
          <a:bodyPr/>
          <a:lstStyle/>
          <a:p>
            <a:r>
              <a:rPr/>
              <a:t>Task 1</a:t>
            </a:r>
          </a:p>
        </p:txBody>
      </p:sp>
      <p:sp>
        <p:nvSpPr>
          <p:cNvPr id="5" name="Text Placeholder 4"/>
          <p:cNvSpPr>
            <a:spLocks noGrp="1"/>
          </p:cNvSpPr>
          <p:nvPr>
            <p:ph type="body" idx="15" sz="quarter"/>
          </p:nvPr>
        </p:nvSpPr>
        <p:spPr/>
        <p:txBody>
          <a:bodyPr/>
          <a:lstStyle/>
          <a:p>
            <a:r>
              <a:rPr/>
              <a:t>Result: an EnzymeML document with the Neu5Ac time course of every reaction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Plot the time courses </a:t>
            </a:r>
            <a:r>
              <a:rPr/>
              <a:t>from the EnzymeML document</a:t>
            </a:r>
          </a:p>
          <a:p>
            <a:r>
              <a:rPr b="1"/>
              <a:t>Define the model and the priors: </a:t>
            </a:r>
            <a:r>
              <a:rPr/>
              <a:t>the enzyme is in the rate law, only Neu5Ac is measured</a:t>
            </a:r>
          </a:p>
          <a:p>
            <a:r>
              <a:rPr b="1"/>
              <a:t>Infer the kinetic parameters: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each with its uncertainty</a:t>
            </a:r>
          </a:p>
          <a:p>
            <a:r>
              <a:rPr b="1"/>
              <a:t>Check the sampler: </a:t>
            </a:r>
            <a:r>
              <a:rPr/>
              <a:t>do the chains agree, divergences, posterior clear of the prior bounds?</a:t>
            </a:r>
          </a:p>
          <a:p>
            <a:r>
              <a:rPr b="1"/>
              <a:t>What is the correlation between the kinetic parameters?</a:t>
            </a:r>
          </a:p>
          <a:p>
            <a:r>
              <a:rPr b="1"/>
              <a:t>Does one model describe both series? </a:t>
            </a:r>
            <a:r>
              <a:rPr/>
              <a:t>plot data and model together</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
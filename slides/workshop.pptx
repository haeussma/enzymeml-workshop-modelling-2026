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2 min, then this slide stays on the projector. Task 1 with Chromhandler, task 2 with Catalax; the README has the detailed tasks (what to look for in the data) and the three ways to work. Live demo of task 1 first (9:15), hands-on from 9:30, break 10:15, demo of task 2 10:30, hands-on 10:40, comparison of everybody's parameters at 11:25. Those without an assistant that runs code team up; those stuck in task 1 start task 2 from the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repository</a:t>
            </a:r>
          </a:p>
        </p:txBody>
      </p:sp>
      <p:sp>
        <p:nvSpPr>
          <p:cNvPr id="5" name="Text Placeholder 4"/>
          <p:cNvSpPr>
            <a:spLocks noGrp="1"/>
          </p:cNvSpPr>
          <p:nvPr>
            <p:ph type="body" idx="13" sz="quarter"/>
          </p:nvPr>
        </p:nvSpPr>
        <p:spPr/>
        <p:txBody>
          <a:bodyPr/>
          <a:lstStyle/>
          <a:p>
            <a:r>
              <a:rPr/>
              <a:t>Hands-on</a:t>
            </a:r>
          </a:p>
        </p:txBody>
      </p:sp>
      <p:sp>
        <p:nvSpPr>
          <p:cNvPr id="6" name="Text Placeholder 5"/>
          <p:cNvSpPr>
            <a:spLocks noGrp="1"/>
          </p:cNvSpPr>
          <p:nvPr>
            <p:ph type="body" idx="15" sz="quarter"/>
          </p:nvPr>
        </p:nvSpPr>
        <p:spPr/>
        <p:txBody>
          <a:bodyPr/>
          <a:lstStyle/>
          <a:p>
            <a:r>
              <a:rPr/>
              <a:t>Everything is in the README: tinyurl.com/enzymeml2026</a:t>
            </a:r>
          </a:p>
        </p:txBody>
      </p:sp>
      <p:sp>
        <p:nvSpPr>
          <p:cNvPr id="8" name="TextBox 7"/>
          <p:cNvSpPr txBox="1"/>
          <p:nvPr/>
        </p:nvSpPr>
        <p:spPr>
          <a:xfrm>
            <a:off x="822960" y="2011680"/>
            <a:ext cx="5029200" cy="365760"/>
          </a:xfrm>
          <a:prstGeom prst="rect">
            <a:avLst/>
          </a:prstGeom>
          <a:noFill/>
        </p:spPr>
        <p:txBody>
          <a:bodyPr wrap="none" lIns="0" tIns="0" bIns="0">
            <a:spAutoFit/>
          </a:bodyPr>
          <a:lstStyle/>
          <a:p>
            <a:r>
              <a:rPr b="1" sz="1600"/>
              <a:t>Tasks</a:t>
            </a:r>
          </a:p>
        </p:txBody>
      </p:sp>
      <p:pic>
        <p:nvPicPr>
          <p:cNvPr id="9" name="Picture 8" descr="chart-area-line.png"/>
          <p:cNvPicPr>
            <a:picLocks noChangeAspect="1"/>
          </p:cNvPicPr>
          <p:nvPr/>
        </p:nvPicPr>
        <p:blipFill>
          <a:blip r:embed="rId3"/>
          <a:stretch>
            <a:fillRect/>
          </a:stretch>
        </p:blipFill>
        <p:spPr>
          <a:xfrm>
            <a:off x="822960" y="2487168"/>
            <a:ext cx="384048" cy="384048"/>
          </a:xfrm>
          <a:prstGeom prst="rect">
            <a:avLst/>
          </a:prstGeom>
        </p:spPr>
      </p:pic>
      <p:sp>
        <p:nvSpPr>
          <p:cNvPr id="10" name="TextBox 9"/>
          <p:cNvSpPr txBox="1"/>
          <p:nvPr/>
        </p:nvSpPr>
        <p:spPr>
          <a:xfrm>
            <a:off x="1389888" y="2468880"/>
            <a:ext cx="4462272" cy="960119"/>
          </a:xfrm>
          <a:prstGeom prst="rect">
            <a:avLst/>
          </a:prstGeom>
          <a:noFill/>
        </p:spPr>
        <p:txBody>
          <a:bodyPr wrap="square" lIns="0" tIns="0" bIns="0">
            <a:spAutoFit/>
          </a:bodyPr>
          <a:lstStyle/>
          <a:p>
            <a:r>
              <a:rPr b="1" sz="1600"/>
              <a:t>Task 1 · chromatograms to EnzymeML: </a:t>
            </a:r>
            <a:r>
              <a:rPr sz="1600"/>
              <a:t>plot the data, check the assay design, calibrate, export the document</a:t>
            </a:r>
          </a:p>
        </p:txBody>
      </p:sp>
      <p:pic>
        <p:nvPicPr>
          <p:cNvPr id="11" name="Picture 10" descr="chart-scatter.png"/>
          <p:cNvPicPr>
            <a:picLocks noChangeAspect="1"/>
          </p:cNvPicPr>
          <p:nvPr/>
        </p:nvPicPr>
        <p:blipFill>
          <a:blip r:embed="rId4"/>
          <a:stretch>
            <a:fillRect/>
          </a:stretch>
        </p:blipFill>
        <p:spPr>
          <a:xfrm>
            <a:off x="822960" y="3538728"/>
            <a:ext cx="384048" cy="384048"/>
          </a:xfrm>
          <a:prstGeom prst="rect">
            <a:avLst/>
          </a:prstGeom>
        </p:spPr>
      </p:pic>
      <p:sp>
        <p:nvSpPr>
          <p:cNvPr id="12" name="TextBox 11"/>
          <p:cNvSpPr txBox="1"/>
          <p:nvPr/>
        </p:nvSpPr>
        <p:spPr>
          <a:xfrm>
            <a:off x="1389888" y="3520440"/>
            <a:ext cx="4462272" cy="960119"/>
          </a:xfrm>
          <a:prstGeom prst="rect">
            <a:avLst/>
          </a:prstGeom>
          <a:noFill/>
        </p:spPr>
        <p:txBody>
          <a:bodyPr wrap="square" lIns="0" tIns="0" bIns="0">
            <a:spAutoFit/>
          </a:bodyPr>
          <a:lstStyle/>
          <a:p>
            <a:r>
              <a:rPr b="1" sz="1600"/>
              <a:t>Task 2 · kinetic parameters: </a:t>
            </a:r>
            <a:r>
              <a:rPr sz="1600"/>
              <a:t>infer </a:t>
            </a:r>
            <a:r>
              <a:rPr i="1" sz="1600"/>
              <a:t>k</a:t>
            </a:r>
            <a:r>
              <a:rPr sz="1600" baseline="-25000"/>
              <a:t>cat</a:t>
            </a:r>
            <a:r>
              <a:rPr sz="1600"/>
              <a:t> and </a:t>
            </a:r>
            <a:r>
              <a:rPr i="1" sz="1600"/>
              <a:t>K</a:t>
            </a:r>
            <a:r>
              <a:rPr i="1" sz="1600" baseline="-25000"/>
              <a:t>M</a:t>
            </a:r>
            <a:r>
              <a:rPr sz="1600"/>
              <a:t> with their uncertainty and correlation; does the model describe the data?</a:t>
            </a:r>
          </a:p>
        </p:txBody>
      </p:sp>
      <p:pic>
        <p:nvPicPr>
          <p:cNvPr id="13" name="Picture 12" descr="users-group.png"/>
          <p:cNvPicPr>
            <a:picLocks noChangeAspect="1"/>
          </p:cNvPicPr>
          <p:nvPr/>
        </p:nvPicPr>
        <p:blipFill>
          <a:blip r:embed="rId5"/>
          <a:stretch>
            <a:fillRect/>
          </a:stretch>
        </p:blipFill>
        <p:spPr>
          <a:xfrm>
            <a:off x="822960" y="4590288"/>
            <a:ext cx="384048" cy="384048"/>
          </a:xfrm>
          <a:prstGeom prst="rect">
            <a:avLst/>
          </a:prstGeom>
        </p:spPr>
      </p:pic>
      <p:sp>
        <p:nvSpPr>
          <p:cNvPr id="14" name="TextBox 13"/>
          <p:cNvSpPr txBox="1"/>
          <p:nvPr/>
        </p:nvSpPr>
        <p:spPr>
          <a:xfrm>
            <a:off x="1389888" y="4572000"/>
            <a:ext cx="4462272" cy="960119"/>
          </a:xfrm>
          <a:prstGeom prst="rect">
            <a:avLst/>
          </a:prstGeom>
          <a:noFill/>
        </p:spPr>
        <p:txBody>
          <a:bodyPr wrap="square" lIns="0" tIns="0" bIns="0">
            <a:spAutoFit/>
          </a:bodyPr>
          <a:lstStyle/>
          <a:p>
            <a:r>
              <a:rPr b="1" sz="1600"/>
              <a:t>At the end </a:t>
            </a:r>
            <a:r>
              <a:rPr sz="1600"/>
              <a:t>we compare everybody's parameters</a:t>
            </a:r>
          </a:p>
        </p:txBody>
      </p:sp>
      <p:sp>
        <p:nvSpPr>
          <p:cNvPr id="15" name="TextBox 14"/>
          <p:cNvSpPr txBox="1"/>
          <p:nvPr/>
        </p:nvSpPr>
        <p:spPr>
          <a:xfrm>
            <a:off x="6339535" y="2011680"/>
            <a:ext cx="5029200" cy="365760"/>
          </a:xfrm>
          <a:prstGeom prst="rect">
            <a:avLst/>
          </a:prstGeom>
          <a:noFill/>
        </p:spPr>
        <p:txBody>
          <a:bodyPr wrap="none" lIns="0" tIns="0" bIns="0">
            <a:spAutoFit/>
          </a:bodyPr>
          <a:lstStyle/>
          <a:p>
            <a:r>
              <a:rPr b="1" sz="1600"/>
              <a:t>How to get started</a:t>
            </a:r>
          </a:p>
        </p:txBody>
      </p:sp>
      <p:pic>
        <p:nvPicPr>
          <p:cNvPr id="16" name="Picture 15" descr="terminal-2.png"/>
          <p:cNvPicPr>
            <a:picLocks noChangeAspect="1"/>
          </p:cNvPicPr>
          <p:nvPr/>
        </p:nvPicPr>
        <p:blipFill>
          <a:blip r:embed="rId6"/>
          <a:stretch>
            <a:fillRect/>
          </a:stretch>
        </p:blipFill>
        <p:spPr>
          <a:xfrm>
            <a:off x="6339535" y="2487168"/>
            <a:ext cx="384048" cy="384048"/>
          </a:xfrm>
          <a:prstGeom prst="rect">
            <a:avLst/>
          </a:prstGeom>
        </p:spPr>
      </p:pic>
      <p:sp>
        <p:nvSpPr>
          <p:cNvPr id="17" name="TextBox 16"/>
          <p:cNvSpPr txBox="1"/>
          <p:nvPr/>
        </p:nvSpPr>
        <p:spPr>
          <a:xfrm>
            <a:off x="6906463" y="2468880"/>
            <a:ext cx="4462272" cy="685800"/>
          </a:xfrm>
          <a:prstGeom prst="rect">
            <a:avLst/>
          </a:prstGeom>
          <a:noFill/>
        </p:spPr>
        <p:txBody>
          <a:bodyPr wrap="square" lIns="0" tIns="0" bIns="0">
            <a:spAutoFit/>
          </a:bodyPr>
          <a:lstStyle/>
          <a:p>
            <a:r>
              <a:rPr b="1" sz="1600"/>
              <a:t>Route A · coding assistant on your computer: </a:t>
            </a:r>
            <a:r>
              <a:rPr sz="1600"/>
              <a:t>give it the cards in briefs/</a:t>
            </a:r>
          </a:p>
        </p:txBody>
      </p:sp>
      <p:pic>
        <p:nvPicPr>
          <p:cNvPr id="18" name="Picture 17" descr="message-chatbot.png"/>
          <p:cNvPicPr>
            <a:picLocks noChangeAspect="1"/>
          </p:cNvPicPr>
          <p:nvPr/>
        </p:nvPicPr>
        <p:blipFill>
          <a:blip r:embed="rId7"/>
          <a:stretch>
            <a:fillRect/>
          </a:stretch>
        </p:blipFill>
        <p:spPr>
          <a:xfrm>
            <a:off x="6339535" y="3264408"/>
            <a:ext cx="384048" cy="384048"/>
          </a:xfrm>
          <a:prstGeom prst="rect">
            <a:avLst/>
          </a:prstGeom>
        </p:spPr>
      </p:pic>
      <p:sp>
        <p:nvSpPr>
          <p:cNvPr id="19" name="TextBox 18"/>
          <p:cNvSpPr txBox="1"/>
          <p:nvPr/>
        </p:nvSpPr>
        <p:spPr>
          <a:xfrm>
            <a:off x="6906463" y="3246120"/>
            <a:ext cx="4462272" cy="685800"/>
          </a:xfrm>
          <a:prstGeom prst="rect">
            <a:avLst/>
          </a:prstGeom>
          <a:noFill/>
        </p:spPr>
        <p:txBody>
          <a:bodyPr wrap="square" lIns="0" tIns="0" bIns="0">
            <a:spAutoFit/>
          </a:bodyPr>
          <a:lstStyle/>
          <a:p>
            <a:r>
              <a:rPr b="1" sz="1600"/>
              <a:t>Route B · chat assistant only: </a:t>
            </a:r>
            <a:r>
              <a:rPr sz="1600"/>
              <a:t>the Colab starter notebook</a:t>
            </a:r>
          </a:p>
        </p:txBody>
      </p:sp>
      <p:pic>
        <p:nvPicPr>
          <p:cNvPr id="20" name="Picture 19" descr="users.png"/>
          <p:cNvPicPr>
            <a:picLocks noChangeAspect="1"/>
          </p:cNvPicPr>
          <p:nvPr/>
        </p:nvPicPr>
        <p:blipFill>
          <a:blip r:embed="rId8"/>
          <a:stretch>
            <a:fillRect/>
          </a:stretch>
        </p:blipFill>
        <p:spPr>
          <a:xfrm>
            <a:off x="6339535" y="4041648"/>
            <a:ext cx="384048" cy="384048"/>
          </a:xfrm>
          <a:prstGeom prst="rect">
            <a:avLst/>
          </a:prstGeom>
        </p:spPr>
      </p:pic>
      <p:sp>
        <p:nvSpPr>
          <p:cNvPr id="21" name="TextBox 20"/>
          <p:cNvSpPr txBox="1"/>
          <p:nvPr/>
        </p:nvSpPr>
        <p:spPr>
          <a:xfrm>
            <a:off x="6906463" y="4023360"/>
            <a:ext cx="4462272" cy="685800"/>
          </a:xfrm>
          <a:prstGeom prst="rect">
            <a:avLst/>
          </a:prstGeom>
          <a:noFill/>
        </p:spPr>
        <p:txBody>
          <a:bodyPr wrap="square" lIns="0" tIns="0" bIns="0">
            <a:spAutoFit/>
          </a:bodyPr>
          <a:lstStyle/>
          <a:p>
            <a:r>
              <a:rPr b="1" sz="1600"/>
              <a:t>Route C · no assistant that runs code: </a:t>
            </a:r>
            <a:r>
              <a:rPr sz="1600"/>
              <a:t>team up</a:t>
            </a:r>
          </a:p>
        </p:txBody>
      </p:sp>
      <p:pic>
        <p:nvPicPr>
          <p:cNvPr id="22" name="Picture 21" descr="book-2.png"/>
          <p:cNvPicPr>
            <a:picLocks noChangeAspect="1"/>
          </p:cNvPicPr>
          <p:nvPr/>
        </p:nvPicPr>
        <p:blipFill>
          <a:blip r:embed="rId9"/>
          <a:stretch>
            <a:fillRect/>
          </a:stretch>
        </p:blipFill>
        <p:spPr>
          <a:xfrm>
            <a:off x="6339535" y="4818888"/>
            <a:ext cx="384048" cy="384048"/>
          </a:xfrm>
          <a:prstGeom prst="rect">
            <a:avLst/>
          </a:prstGeom>
        </p:spPr>
      </p:pic>
      <p:sp>
        <p:nvSpPr>
          <p:cNvPr id="23" name="TextBox 22"/>
          <p:cNvSpPr txBox="1"/>
          <p:nvPr/>
        </p:nvSpPr>
        <p:spPr>
          <a:xfrm>
            <a:off x="6906463" y="4800600"/>
            <a:ext cx="4462272" cy="685800"/>
          </a:xfrm>
          <a:prstGeom prst="rect">
            <a:avLst/>
          </a:prstGeom>
          <a:noFill/>
        </p:spPr>
        <p:txBody>
          <a:bodyPr wrap="square" lIns="0" tIns="0" bIns="0">
            <a:spAutoFit/>
          </a:bodyPr>
          <a:lstStyle/>
          <a:p>
            <a:r>
              <a:rPr b="1" sz="1600"/>
              <a:t>Details: </a:t>
            </a:r>
            <a:r>
              <a:rPr sz="1600"/>
              <a:t>README, sections How to do it, Task 1, Task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
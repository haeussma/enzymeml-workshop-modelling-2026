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2 min. Neu5Ac synthase condenses ManNAc and PEP to Neu5Ac and phosphate (metal cofactor, water). HPLC-PDA at 215 nm; the instrument software exported one peak table per injection. Only the product is quantified; the substrates enter the model as their known initial values. Do not explain the design or the numbers: how many reactions there are, what was varied and what the data look like is what the participants find out with their assistant in task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1 min. Task 1 with Chromhandler, task 2 with Catalax. Live demo first, then you work in pairs; the checks in the task card decide when you are done. Timing: demo 9:15, hands-on 9:30, break 10:15–10:30, demo 10:30, hands-on 10:40. At 11:25 we collect everybody's kcat and Km on one slide or the whiteboard, wrap-up 11:50.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 3 min. README first. Two ways. With a language model: any chat model, free or by subscription (ChatGPT, Claude, Gemini, …); paste the tool card, then the task card; run the code it writes; paste errors back; the checks decide. Without writing code: the Colab link opens a prepared notebook with the tools installed and the data loaded; run it cell by cell, change a window, a prior, a series; ask the model inside Colab to explain any cell. notebooks/ are the reference solutions, open to everyone; checkpoints/ holds the result of task 1. Locally: uv sync.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Live demo 15 min, then hands-on 9:30–10:15. Demo: paste chromhandler.md, then the task card, then 'Let's start with task 1'. Let the assistant read the data and answer the first question; show the peak plot. Accept the calibration explicitly ('my decision, not the assistant's'). Deliberate mistake: when asked for the reaction window, say 'the same as the standards'; chromhandler warns 'No peaks found for Neu5Ac', the document has no Neu5Ac values. Say why (the shift on the peak plot), correct it, continue. The questions on the slide are what every pair answers; we compare at 11:25.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 Live demo 10 min, then hands-on 10:40–11:25. Paste catalax.md, then the task card. enable_x64 first. Only Neu5Ac has data; in Catalax 0.5.5 every state stays observable and the unmeasured ones get NaN arrays (observable=False breaks the sampler in this version). The priors and the sampler settings are in the card; they are decisions, say so. Show the posterior table, the trace and the fit plot. Those who did not finish task 1 start from checkpoints/neus_enzymeml.json.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tinyurl.com/enzymeml2026, or the QR code.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Last year the code was the hurdle</a:t>
            </a:r>
          </a:p>
        </p:txBody>
      </p:sp>
      <p:sp>
        <p:nvSpPr>
          <p:cNvPr id="4" name="Text Placeholder 3"/>
          <p:cNvSpPr>
            <a:spLocks noGrp="1"/>
          </p:cNvSpPr>
          <p:nvPr>
            <p:ph type="body" idx="2" sz="half"/>
          </p:nvPr>
        </p:nvSpPr>
        <p:spPr>
          <a:xfrm>
            <a:off x="822960" y="4114800"/>
            <a:ext cx="10545775" cy="1188720"/>
          </a:xfrm>
        </p:spPr>
        <p:txBody>
          <a:bodyPr/>
          <a:lstStyle/>
          <a:p>
            <a:r>
              <a:rPr/>
              <a:t>Failing installs and unfamiliar code: a hurdle for everyone who does not code daily</a:t>
            </a:r>
          </a:p>
          <a:p>
            <a:r>
              <a:rPr/>
              <a:t>So the data stayed unstructured, and the contemporary methods out of reach</a:t>
            </a:r>
          </a:p>
          <a:p>
            <a:r>
              <a:rPr b="1"/>
              <a:t>Since then: </a:t>
            </a:r>
            <a:r>
              <a:rPr/>
              <a:t>the models got better, and so did the harnesses that let them run tools</a:t>
            </a:r>
          </a:p>
        </p:txBody>
      </p:sp>
      <p:sp>
        <p:nvSpPr>
          <p:cNvPr id="5" name="Text Placeholder 4"/>
          <p:cNvSpPr>
            <a:spLocks noGrp="1"/>
          </p:cNvSpPr>
          <p:nvPr>
            <p:ph type="body" idx="13" sz="quarter"/>
          </p:nvPr>
        </p:nvSpPr>
        <p:spPr/>
        <p:txBody>
          <a:bodyPr/>
          <a:lstStyle/>
          <a:p>
            <a:r>
              <a:rPr/>
              <a:t>Looking back</a:t>
            </a:r>
          </a:p>
        </p:txBody>
      </p:sp>
      <p:sp>
        <p:nvSpPr>
          <p:cNvPr id="6" name="Text Placeholder 5"/>
          <p:cNvSpPr>
            <a:spLocks noGrp="1"/>
          </p:cNvSpPr>
          <p:nvPr>
            <p:ph type="body" idx="15" sz="quarter"/>
          </p:nvPr>
        </p:nvSpPr>
        <p:spPr/>
        <p:txBody>
          <a:bodyPr/>
          <a:lstStyle/>
          <a:p>
            <a:r>
              <a:rPr/>
              <a:t>Previous hands-on sessions: we installed, read the docs and wrote the analysis code ourselves</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4" name="Text Placeholder 3"/>
          <p:cNvSpPr>
            <a:spLocks noGrp="1"/>
          </p:cNvSpPr>
          <p:nvPr>
            <p:ph type="body" idx="13" sz="quarter"/>
          </p:nvPr>
        </p:nvSpPr>
        <p:spPr/>
        <p:txBody>
          <a:bodyPr/>
          <a:lstStyle/>
          <a:p>
            <a:r>
              <a:rPr/>
              <a:t>Motivation</a:t>
            </a:r>
          </a:p>
        </p:txBody>
      </p:sp>
      <p:pic>
        <p:nvPicPr>
          <p:cNvPr id="7" name="Picture 6" descr="icon_card.png"/>
          <p:cNvPicPr>
            <a:picLocks noChangeAspect="1"/>
          </p:cNvPicPr>
          <p:nvPr/>
        </p:nvPicPr>
        <p:blipFill>
          <a:blip r:embed="rId3"/>
          <a:stretch>
            <a:fillRect/>
          </a:stretch>
        </p:blipFill>
        <p:spPr>
          <a:xfrm>
            <a:off x="1283931" y="1965960"/>
            <a:ext cx="1371600" cy="1371600"/>
          </a:xfrm>
          <a:prstGeom prst="rect">
            <a:avLst/>
          </a:prstGeom>
        </p:spPr>
      </p:pic>
      <p:sp>
        <p:nvSpPr>
          <p:cNvPr id="8" name="TextBox 7"/>
          <p:cNvSpPr txBox="1"/>
          <p:nvPr/>
        </p:nvSpPr>
        <p:spPr>
          <a:xfrm>
            <a:off x="822960" y="3611880"/>
            <a:ext cx="2293543" cy="411480"/>
          </a:xfrm>
          <a:prstGeom prst="rect">
            <a:avLst/>
          </a:prstGeom>
          <a:noFill/>
        </p:spPr>
        <p:txBody>
          <a:bodyPr wrap="square" lIns="0" rIns="0" tIns="0" bIns="0">
            <a:spAutoFit/>
          </a:bodyPr>
          <a:lstStyle/>
          <a:p>
            <a:pPr algn="ctr"/>
            <a:r>
              <a:rPr b="1" sz="1600">
                <a:solidFill>
                  <a:srgbClr val="0A0A0A"/>
                </a:solidFill>
              </a:rPr>
              <a:t>One page is enough</a:t>
            </a:r>
          </a:p>
        </p:txBody>
      </p:sp>
      <p:sp>
        <p:nvSpPr>
          <p:cNvPr id="9" name="TextBox 8"/>
          <p:cNvSpPr txBox="1"/>
          <p:nvPr/>
        </p:nvSpPr>
        <p:spPr>
          <a:xfrm>
            <a:off x="822960" y="4160520"/>
            <a:ext cx="2293543" cy="1280160"/>
          </a:xfrm>
          <a:prstGeom prst="rect">
            <a:avLst/>
          </a:prstGeom>
          <a:noFill/>
        </p:spPr>
        <p:txBody>
          <a:bodyPr wrap="square" lIns="0" rIns="0" tIns="0" bIns="0">
            <a:spAutoFit/>
          </a:bodyPr>
          <a:lstStyle/>
          <a:p>
            <a:pPr algn="ctr"/>
            <a:r>
              <a:rPr sz="1300">
                <a:solidFill>
                  <a:srgbClr val="6F6F6F"/>
                </a:solidFill>
              </a:rPr>
              <a:t>From a one-page card, today's models write working code for our tools</a:t>
            </a:r>
          </a:p>
        </p:txBody>
      </p:sp>
      <p:pic>
        <p:nvPicPr>
          <p:cNvPr id="10" name="Picture 9" descr="icon_peak.png"/>
          <p:cNvPicPr>
            <a:picLocks noChangeAspect="1"/>
          </p:cNvPicPr>
          <p:nvPr/>
        </p:nvPicPr>
        <p:blipFill>
          <a:blip r:embed="rId4"/>
          <a:stretch>
            <a:fillRect/>
          </a:stretch>
        </p:blipFill>
        <p:spPr>
          <a:xfrm>
            <a:off x="4034675" y="1965960"/>
            <a:ext cx="1371600" cy="1371600"/>
          </a:xfrm>
          <a:prstGeom prst="rect">
            <a:avLst/>
          </a:prstGeom>
        </p:spPr>
      </p:pic>
      <p:sp>
        <p:nvSpPr>
          <p:cNvPr id="11" name="TextBox 10"/>
          <p:cNvSpPr txBox="1"/>
          <p:nvPr/>
        </p:nvSpPr>
        <p:spPr>
          <a:xfrm>
            <a:off x="3573703" y="3611880"/>
            <a:ext cx="2293543" cy="411480"/>
          </a:xfrm>
          <a:prstGeom prst="rect">
            <a:avLst/>
          </a:prstGeom>
          <a:noFill/>
        </p:spPr>
        <p:txBody>
          <a:bodyPr wrap="square" lIns="0" rIns="0" tIns="0" bIns="0">
            <a:spAutoFit/>
          </a:bodyPr>
          <a:lstStyle/>
          <a:p>
            <a:pPr algn="ctr"/>
            <a:r>
              <a:rPr b="1" sz="1600">
                <a:solidFill>
                  <a:srgbClr val="0A0A0A"/>
                </a:solidFill>
              </a:rPr>
              <a:t>Blind to your data</a:t>
            </a:r>
          </a:p>
        </p:txBody>
      </p:sp>
      <p:sp>
        <p:nvSpPr>
          <p:cNvPr id="12" name="TextBox 11"/>
          <p:cNvSpPr txBox="1"/>
          <p:nvPr/>
        </p:nvSpPr>
        <p:spPr>
          <a:xfrm>
            <a:off x="3573703" y="4160520"/>
            <a:ext cx="2293543" cy="1280160"/>
          </a:xfrm>
          <a:prstGeom prst="rect">
            <a:avLst/>
          </a:prstGeom>
          <a:noFill/>
        </p:spPr>
        <p:txBody>
          <a:bodyPr wrap="square" lIns="0" rIns="0" tIns="0" bIns="0">
            <a:spAutoFit/>
          </a:bodyPr>
          <a:lstStyle/>
          <a:p>
            <a:pPr algn="ctr"/>
            <a:r>
              <a:rPr sz="1300">
                <a:solidFill>
                  <a:srgbClr val="6F6F6F"/>
                </a:solidFill>
              </a:rPr>
              <a:t>Where the peak is, which model is right, when a result is wrong</a:t>
            </a:r>
          </a:p>
        </p:txBody>
      </p:sp>
      <p:pic>
        <p:nvPicPr>
          <p:cNvPr id="13" name="Picture 12" descr="icon_person_check.png"/>
          <p:cNvPicPr>
            <a:picLocks noChangeAspect="1"/>
          </p:cNvPicPr>
          <p:nvPr/>
        </p:nvPicPr>
        <p:blipFill>
          <a:blip r:embed="rId5"/>
          <a:stretch>
            <a:fillRect/>
          </a:stretch>
        </p:blipFill>
        <p:spPr>
          <a:xfrm>
            <a:off x="6785419" y="1965960"/>
            <a:ext cx="1371600" cy="1371600"/>
          </a:xfrm>
          <a:prstGeom prst="rect">
            <a:avLst/>
          </a:prstGeom>
        </p:spPr>
      </p:pic>
      <p:sp>
        <p:nvSpPr>
          <p:cNvPr id="14" name="TextBox 13"/>
          <p:cNvSpPr txBox="1"/>
          <p:nvPr/>
        </p:nvSpPr>
        <p:spPr>
          <a:xfrm>
            <a:off x="6324447" y="3611880"/>
            <a:ext cx="2293543" cy="411480"/>
          </a:xfrm>
          <a:prstGeom prst="rect">
            <a:avLst/>
          </a:prstGeom>
          <a:noFill/>
        </p:spPr>
        <p:txBody>
          <a:bodyPr wrap="square" lIns="0" rIns="0" tIns="0" bIns="0">
            <a:spAutoFit/>
          </a:bodyPr>
          <a:lstStyle/>
          <a:p>
            <a:pPr algn="ctr"/>
            <a:r>
              <a:rPr b="1" sz="1600">
                <a:solidFill>
                  <a:srgbClr val="0A0A0A"/>
                </a:solidFill>
              </a:rPr>
              <a:t>You decide and check</a:t>
            </a:r>
          </a:p>
        </p:txBody>
      </p:sp>
      <p:sp>
        <p:nvSpPr>
          <p:cNvPr id="15" name="TextBox 14"/>
          <p:cNvSpPr txBox="1"/>
          <p:nvPr/>
        </p:nvSpPr>
        <p:spPr>
          <a:xfrm>
            <a:off x="6324447" y="4160520"/>
            <a:ext cx="2293543" cy="1280160"/>
          </a:xfrm>
          <a:prstGeom prst="rect">
            <a:avLst/>
          </a:prstGeom>
          <a:noFill/>
        </p:spPr>
        <p:txBody>
          <a:bodyPr wrap="square" lIns="0" rIns="0" tIns="0" bIns="0">
            <a:spAutoFit/>
          </a:bodyPr>
          <a:lstStyle/>
          <a:p>
            <a:pPr algn="ctr"/>
            <a:r>
              <a:rPr sz="1300">
                <a:solidFill>
                  <a:srgbClr val="6F6F6F"/>
                </a:solidFill>
              </a:rPr>
              <a:t>The decisions and the checks stay with the scientist; the assistant executes</a:t>
            </a:r>
          </a:p>
        </p:txBody>
      </p:sp>
      <p:pic>
        <p:nvPicPr>
          <p:cNvPr id="16" name="Picture 15" descr="icon_document_arrows.png"/>
          <p:cNvPicPr>
            <a:picLocks noChangeAspect="1"/>
          </p:cNvPicPr>
          <p:nvPr/>
        </p:nvPicPr>
        <p:blipFill>
          <a:blip r:embed="rId6"/>
          <a:stretch>
            <a:fillRect/>
          </a:stretch>
        </p:blipFill>
        <p:spPr>
          <a:xfrm>
            <a:off x="9536163" y="1965960"/>
            <a:ext cx="1371600" cy="1371600"/>
          </a:xfrm>
          <a:prstGeom prst="rect">
            <a:avLst/>
          </a:prstGeom>
        </p:spPr>
      </p:pic>
      <p:sp>
        <p:nvSpPr>
          <p:cNvPr id="17" name="TextBox 16"/>
          <p:cNvSpPr txBox="1"/>
          <p:nvPr/>
        </p:nvSpPr>
        <p:spPr>
          <a:xfrm>
            <a:off x="9075191" y="3611880"/>
            <a:ext cx="2293543" cy="411480"/>
          </a:xfrm>
          <a:prstGeom prst="rect">
            <a:avLst/>
          </a:prstGeom>
          <a:noFill/>
        </p:spPr>
        <p:txBody>
          <a:bodyPr wrap="square" lIns="0" rIns="0" tIns="0" bIns="0">
            <a:spAutoFit/>
          </a:bodyPr>
          <a:lstStyle/>
          <a:p>
            <a:pPr algn="ctr"/>
            <a:r>
              <a:rPr b="1" sz="1600">
                <a:solidFill>
                  <a:srgbClr val="0A0A0A"/>
                </a:solidFill>
              </a:rPr>
              <a:t>EnzymeML in between</a:t>
            </a:r>
          </a:p>
        </p:txBody>
      </p:sp>
      <p:sp>
        <p:nvSpPr>
          <p:cNvPr id="18" name="TextBox 17"/>
          <p:cNvSpPr txBox="1"/>
          <p:nvPr/>
        </p:nvSpPr>
        <p:spPr>
          <a:xfrm>
            <a:off x="9075191" y="4160520"/>
            <a:ext cx="2293543" cy="1280160"/>
          </a:xfrm>
          <a:prstGeom prst="rect">
            <a:avLst/>
          </a:prstGeom>
          <a:noFill/>
        </p:spPr>
        <p:txBody>
          <a:bodyPr wrap="square" lIns="0" rIns="0" tIns="0" bIns="0">
            <a:spAutoFit/>
          </a:bodyPr>
          <a:lstStyle/>
          <a:p>
            <a:pPr algn="ctr"/>
            <a:r>
              <a:rPr sz="1300">
                <a:solidFill>
                  <a:srgbClr val="6F6F6F"/>
                </a:solidFill>
              </a:rPr>
              <a:t>One document carries the data between the steps and the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one peak table per injection</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EnzymeML to </a:t>
            </a:r>
            <a:r>
              <a:rPr i="1" sz="1200">
                <a:solidFill>
                  <a:srgbClr val="0A0A0A"/>
                </a:solidFill>
              </a:rPr>
              <a:t>k</a:t>
            </a:r>
            <a:r>
              <a:rPr sz="1200" baseline="-25000">
                <a:solidFill>
                  <a:srgbClr val="0A0A0A"/>
                </a:solidFill>
              </a:rPr>
              <a:t>cat</a:t>
            </a:r>
            <a:r>
              <a:rPr sz="1200">
                <a:solidFill>
                  <a:srgbClr val="0A0A0A"/>
                </a:solidFill>
              </a:rPr>
              <a:t> and </a:t>
            </a:r>
            <a:r>
              <a:rPr i="1" sz="1200">
                <a:solidFill>
                  <a:srgbClr val="0A0A0A"/>
                </a:solidFill>
              </a:rPr>
              <a:t>K</a:t>
            </a:r>
            <a:r>
              <a:rPr i="1" sz="1200" baseline="-25000">
                <a:solidFill>
                  <a:srgbClr val="0A0A0A"/>
                </a:solidFill>
              </a:rPr>
              <a:t>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a:p>
            <a:pPr algn="ctr"/>
            <a:r>
              <a:rPr sz="1100">
                <a:solidFill>
                  <a:srgbClr val="6F6F6F"/>
                </a:solidFill>
              </a:rPr>
              <a:t>one export per injection, the time in the file name</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a:p>
            <a:pPr algn="ctr"/>
            <a:r>
              <a:rPr sz="1100">
                <a:solidFill>
                  <a:srgbClr val="6F6F6F"/>
                </a:solidFill>
              </a:rPr>
              <a:t>exports with known concentrations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a:p>
            <a:pPr algn="ctr"/>
            <a:r>
              <a:rPr sz="1100">
                <a:solidFill>
                  <a:srgbClr val="6F6F6F"/>
                </a:solidFill>
              </a:rPr>
              <a:t>what was in each reaction at t = 0</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a:p>
            <a:pPr algn="ctr"/>
            <a:r>
              <a:rPr sz="1100">
                <a:solidFill>
                  <a:srgbClr val="6F6F6F"/>
                </a:solidFill>
              </a:rPr>
              <a:t>read_shimadzu, reaction or calibration mode</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a:p>
            <a:pPr algn="ctr"/>
            <a:r>
              <a:rPr sz="1100">
                <a:solidFill>
                  <a:srgbClr val="6F6F6F"/>
                </a:solidFill>
              </a:rPr>
              <a:t>your decision, per measurement session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a:p>
            <a:pPr algn="ctr"/>
            <a:r>
              <a:rPr sz="1100">
                <a:solidFill>
                  <a:srgbClr val="6F6F6F"/>
                </a:solidFill>
              </a:rPr>
              <a:t>auto_assign: the peak inside the window</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a:p>
            <a:pPr algn="ctr"/>
            <a:r>
              <a:rPr sz="1100">
                <a:solidFill>
                  <a:srgbClr val="6F6F6F"/>
                </a:solidFill>
              </a:rPr>
              <a:t>add_standard, area against concentration; you accept R²</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a:p>
            <a:pPr algn="ctr"/>
            <a:r>
              <a:rPr sz="1100">
                <a:solidFill>
                  <a:srgbClr val="6F6F6F"/>
                </a:solidFill>
              </a:rPr>
              <a:t>to_enzymeml: areas become concentrations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with their initial conditions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a:p>
            <a:pPr algn="ctr"/>
            <a:r>
              <a:rPr sz="1100">
                <a:solidFill>
                  <a:srgbClr val="6F6F6F"/>
                </a:solidFill>
              </a:rPr>
              <a:t>one peak per chromatogram, R², values per reaction</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and initial conditions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a:p>
            <a:pPr algn="ctr"/>
            <a:r>
              <a:rPr sz="1100">
                <a:solidFill>
                  <a:srgbClr val="6F6F6F"/>
                </a:solidFill>
              </a:rPr>
              <a:t>one equation; states and ODEs follow from it</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a:p>
            <a:pPr algn="ctr"/>
            <a:r>
              <a:rPr sz="1100">
                <a:solidFill>
                  <a:srgbClr val="6F6F6F"/>
                </a:solidFill>
              </a:rPr>
              <a:t>what you assume before seeing the data</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a:p>
            <a:pPr algn="ctr"/>
            <a:r>
              <a:rPr sz="1100">
                <a:solidFill>
                  <a:srgbClr val="6F6F6F"/>
                </a:solidFill>
              </a:rPr>
              <a:t>Dataset.from_enzymeml</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a:p>
            <a:pPr algn="ctr"/>
            <a:r>
              <a:rPr sz="1100">
                <a:solidFill>
                  <a:srgbClr val="6F6F6F"/>
                </a:solidFill>
              </a:rPr>
              <a:t>add_state, add_ode; your decision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a:p>
            <a:pPr algn="ctr"/>
            <a:r>
              <a:rPr sz="1100">
                <a:solidFill>
                  <a:srgbClr val="6F6F6F"/>
                </a:solidFill>
              </a:rPr>
              <a:t>LogUniform per parameter, yerrs; your decision</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a:p>
            <a:pPr algn="ctr"/>
            <a:r>
              <a:rPr sz="1100">
                <a:solidFill>
                  <a:srgbClr val="6F6F6F"/>
                </a:solidFill>
              </a:rPr>
              <a:t>run_mcmc: chains, warmup, samples</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a:p>
            <a:pPr algn="ctr"/>
            <a:r>
              <a:rPr sz="1100">
                <a:solidFill>
                  <a:srgbClr val="6F6F6F"/>
                </a:solidFill>
              </a:rPr>
              <a:t>r-hat, divergences, bounds, correlations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a:p>
            <a:pPr algn="ct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ManNAc</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PEP</a:t>
            </a:r>
            <a:r>
              <a:rPr sz="1100">
                <a:solidFill>
                  <a:srgbClr val="6F6F6F"/>
                </a:solidFill>
              </a:rPr>
              <a:t>: mean ± sd, intervals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a:p>
            <a:pPr algn="ctr"/>
            <a:r>
              <a:rPr sz="1100">
                <a:solidFill>
                  <a:srgbClr val="6F6F6F"/>
                </a:solidFill>
              </a:rPr>
              <a:t>corner plot; data with the model on top</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Reactions sampled over time and followed by HPLC-PDA at 215 nm</a:t>
            </a:r>
          </a:p>
          <a:p>
            <a:r>
              <a:rPr/>
              <a:t>What you get is the instrument's peak table per injection, not the raw trace</a:t>
            </a:r>
          </a:p>
          <a:p>
            <a:r>
              <a:rPr/>
              <a:t>Only the product Neu5Ac is quantified; calibration standards with known concentrations</a:t>
            </a:r>
          </a:p>
          <a:p>
            <a:r>
              <a:rPr/>
              <a:t>How many reactions, which conditions, how they were varied: that is in the data</a:t>
            </a:r>
          </a:p>
        </p:txBody>
      </p:sp>
      <p:sp>
        <p:nvSpPr>
          <p:cNvPr id="5" name="Text Placeholder 4"/>
          <p:cNvSpPr>
            <a:spLocks noGrp="1"/>
          </p:cNvSpPr>
          <p:nvPr>
            <p:ph type="body" idx="13" sz="quarter"/>
          </p:nvPr>
        </p:nvSpPr>
        <p:spPr/>
        <p:txBody>
          <a:bodyPr/>
          <a:lstStyle/>
          <a:p>
            <a:r>
              <a:rPr/>
              <a:t>The experiment</a:t>
            </a:r>
          </a:p>
        </p:txBody>
      </p:sp>
      <p:sp>
        <p:nvSpPr>
          <p:cNvPr id="7" name="Text Placeholder 6"/>
          <p:cNvSpPr>
            <a:spLocks noGrp="1"/>
          </p:cNvSpPr>
          <p:nvPr>
            <p:ph type="body" idx="16" sz="quarter"/>
          </p:nvPr>
        </p:nvSpPr>
        <p:spPr/>
        <p:txBody>
          <a:bodyPr/>
          <a:lstStyle/>
          <a:p>
            <a:r>
              <a:rPr/>
              <a:t>Data: Çakar et al. (2024) Kinetic characterization of two neuraminic acid synthases and evaluation of their application potential. Appl. Microbiol. Biotechnol. 108, 446 · doi:10.1007/s00253-024-13277-1</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we do today</a:t>
            </a:r>
          </a:p>
        </p:txBody>
      </p:sp>
      <p:sp>
        <p:nvSpPr>
          <p:cNvPr id="3" name="Content Placeholder 2"/>
          <p:cNvSpPr>
            <a:spLocks noGrp="1"/>
          </p:cNvSpPr>
          <p:nvPr>
            <p:ph idx="1"/>
          </p:nvPr>
        </p:nvSpPr>
        <p:spPr/>
        <p:txBody>
          <a:bodyPr/>
          <a:lstStyle/>
          <a:p>
            <a:r>
              <a:rPr b="1"/>
              <a:t>Task 1: </a:t>
            </a:r>
            <a:r>
              <a:rPr/>
              <a:t>from the peak tables to an EnzymeML document (Chromhandler)</a:t>
            </a:r>
          </a:p>
          <a:p>
            <a:r>
              <a:rPr b="1"/>
              <a:t>Task 2: </a:t>
            </a:r>
            <a:r>
              <a:rPr/>
              <a:t>from the EnzymeML document to </a:t>
            </a:r>
            <a:r>
              <a:rPr i="1"/>
              <a:t>k</a:t>
            </a:r>
            <a:r>
              <a:rPr baseline="-25000"/>
              <a:t>cat</a:t>
            </a:r>
            <a:r>
              <a:rPr/>
              <a:t> and </a:t>
            </a:r>
            <a:r>
              <a:rPr i="1"/>
              <a:t>K</a:t>
            </a:r>
            <a:r>
              <a:rPr i="1" baseline="-25000"/>
              <a:t>M</a:t>
            </a:r>
            <a:r>
              <a:rPr/>
              <a:t> by Bayesian inference (Catalax)</a:t>
            </a:r>
          </a:p>
          <a:p>
            <a:r>
              <a:rPr/>
              <a:t>A live demo of each task first, then you work in pairs</a:t>
            </a:r>
          </a:p>
          <a:p>
            <a:r>
              <a:rPr/>
              <a:t>The checks in the task card say when you are done</a:t>
            </a:r>
          </a:p>
          <a:p>
            <a:r>
              <a:rPr/>
              <a:t>At the end we compare everybody's parameters and discuss</a:t>
            </a:r>
          </a:p>
        </p:txBody>
      </p:sp>
      <p:sp>
        <p:nvSpPr>
          <p:cNvPr id="4" name="Text Placeholder 3"/>
          <p:cNvSpPr>
            <a:spLocks noGrp="1"/>
          </p:cNvSpPr>
          <p:nvPr>
            <p:ph type="body" idx="13" sz="quarter"/>
          </p:nvPr>
        </p:nvSpPr>
        <p:spPr/>
        <p:txBody>
          <a:bodyPr/>
          <a:lstStyle/>
          <a:p>
            <a:r>
              <a:rPr/>
              <a:t>Today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One repository, two ways to work</a:t>
            </a:r>
          </a:p>
        </p:txBody>
      </p:sp>
      <p:sp>
        <p:nvSpPr>
          <p:cNvPr id="3" name="Content Placeholder 2"/>
          <p:cNvSpPr>
            <a:spLocks noGrp="1"/>
          </p:cNvSpPr>
          <p:nvPr>
            <p:ph idx="1" sz="half"/>
          </p:nvPr>
        </p:nvSpPr>
        <p:spPr/>
        <p:txBody>
          <a:bodyPr/>
          <a:lstStyle/>
          <a:p>
            <a:pPr marL="0" indent="0">
              <a:buNone/>
            </a:pPr>
            <a:r>
              <a:rPr b="1"/>
              <a:t>With a language model</a:t>
            </a:r>
          </a:p>
          <a:p>
            <a:r>
              <a:rPr b="1"/>
              <a:t>Any chat model, </a:t>
            </a:r>
            <a:r>
              <a:rPr/>
              <a:t>free or by subscription: ChatGPT, Claude, Gemini, …</a:t>
            </a:r>
          </a:p>
          <a:p>
            <a:r>
              <a:rPr b="1"/>
              <a:t>Paste </a:t>
            </a:r>
            <a:r>
              <a:rPr/>
              <a:t>the tool card and the task card; run the code, paste errors back</a:t>
            </a:r>
          </a:p>
          <a:p>
            <a:r>
              <a:rPr b="1"/>
              <a:t>The checks </a:t>
            </a:r>
            <a:r>
              <a:rPr/>
              <a:t>decide when you are done</a:t>
            </a:r>
          </a:p>
          <a:p>
            <a:r>
              <a:rPr b="1"/>
              <a:t>notebooks/ </a:t>
            </a:r>
            <a:r>
              <a:rPr/>
              <a:t>are the reference solutions, checkpoints/ the result of task 1</a:t>
            </a:r>
          </a:p>
        </p:txBody>
      </p:sp>
      <p:sp>
        <p:nvSpPr>
          <p:cNvPr id="4" name="Content Placeholder 3"/>
          <p:cNvSpPr>
            <a:spLocks noGrp="1"/>
          </p:cNvSpPr>
          <p:nvPr>
            <p:ph idx="2" sz="half"/>
          </p:nvPr>
        </p:nvSpPr>
        <p:spPr/>
        <p:txBody>
          <a:bodyPr/>
          <a:lstStyle/>
          <a:p>
            <a:pPr marL="0" indent="0">
              <a:buNone/>
            </a:pPr>
            <a:r>
              <a:rPr b="1"/>
              <a:t>Without writing code</a:t>
            </a:r>
          </a:p>
          <a:p>
            <a:r>
              <a:rPr b="1"/>
              <a:t>Open the Colab link: </a:t>
            </a:r>
            <a:r>
              <a:rPr/>
              <a:t>a prepared notebook, tools installed, data loaded</a:t>
            </a:r>
          </a:p>
          <a:p>
            <a:r>
              <a:rPr b="1"/>
              <a:t>Run it cell by cell; </a:t>
            </a:r>
            <a:r>
              <a:rPr/>
              <a:t>change a window, a prior, a series</a:t>
            </a:r>
          </a:p>
          <a:p>
            <a:r>
              <a:rPr b="1"/>
              <a:t>Ask the model in Colab </a:t>
            </a:r>
            <a:r>
              <a:rPr/>
              <a:t>to explain any cell</a:t>
            </a:r>
          </a:p>
        </p:txBody>
      </p:sp>
      <p:sp>
        <p:nvSpPr>
          <p:cNvPr id="5" name="Text Placeholder 4"/>
          <p:cNvSpPr>
            <a:spLocks noGrp="1"/>
          </p:cNvSpPr>
          <p:nvPr>
            <p:ph type="body" idx="13" sz="quarter"/>
          </p:nvPr>
        </p:nvSpPr>
        <p:spPr/>
        <p:txBody>
          <a:bodyPr/>
          <a:lstStyle/>
          <a:p>
            <a:r>
              <a:rPr/>
              <a:t>Toolkit</a:t>
            </a:r>
          </a:p>
        </p:txBody>
      </p:sp>
      <p:sp>
        <p:nvSpPr>
          <p:cNvPr id="6" name="Text Placeholder 5"/>
          <p:cNvSpPr>
            <a:spLocks noGrp="1"/>
          </p:cNvSpPr>
          <p:nvPr>
            <p:ph type="body" idx="15" sz="quarter"/>
          </p:nvPr>
        </p:nvSpPr>
        <p:spPr/>
        <p:txBody>
          <a:bodyPr/>
          <a:lstStyle/>
          <a:p>
            <a:r>
              <a:rPr/>
              <a:t>tinyurl.com/enzymeml2026 · start with the README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1: from chromatograms to EnzymeML</a:t>
            </a:r>
          </a:p>
        </p:txBody>
      </p:sp>
      <p:sp>
        <p:nvSpPr>
          <p:cNvPr id="3" name="Content Placeholder 2"/>
          <p:cNvSpPr>
            <a:spLocks noGrp="1"/>
          </p:cNvSpPr>
          <p:nvPr>
            <p:ph idx="1"/>
          </p:nvPr>
        </p:nvSpPr>
        <p:spPr/>
        <p:txBody>
          <a:bodyPr/>
          <a:lstStyle/>
          <a:p>
            <a:r>
              <a:rPr b="1"/>
              <a:t>Goal: </a:t>
            </a:r>
            <a:r>
              <a:rPr/>
              <a:t>an EnzymeML document with the calibrated Neu5Ac time course of every reaction</a:t>
            </a:r>
          </a:p>
          <a:p>
            <a:r>
              <a:rPr b="1"/>
              <a:t>Your decision: </a:t>
            </a:r>
            <a:r>
              <a:rPr/>
              <a:t>the Neu5Ac retention window, different in standards and reactions</a:t>
            </a:r>
          </a:p>
          <a:p>
            <a:pPr marL="0" indent="0">
              <a:buNone/>
            </a:pPr>
            <a:r>
              <a:rPr b="1"/>
              <a:t>Questions to answer</a:t>
            </a:r>
          </a:p>
          <a:p>
            <a:r>
              <a:rPr/>
              <a:t>How many reactions and standards are in the data, and what was varied?</a:t>
            </a:r>
          </a:p>
          <a:p>
            <a:r>
              <a:rPr/>
              <a:t>Where does Neu5Ac elute, in the standards and in the reactions?</a:t>
            </a:r>
          </a:p>
          <a:p>
            <a:r>
              <a:rPr/>
              <a:t>What is the calibration slope, and how well does the line fit?</a:t>
            </a:r>
          </a:p>
          <a:p>
            <a:r>
              <a:rPr/>
              <a:t>Does every reaction have all its time points, and which reactions form product?</a:t>
            </a:r>
          </a:p>
        </p:txBody>
      </p:sp>
      <p:sp>
        <p:nvSpPr>
          <p:cNvPr id="4" name="Text Placeholder 3"/>
          <p:cNvSpPr>
            <a:spLocks noGrp="1"/>
          </p:cNvSpPr>
          <p:nvPr>
            <p:ph type="body" idx="13" sz="quarter"/>
          </p:nvPr>
        </p:nvSpPr>
        <p:spPr/>
        <p:txBody>
          <a:bodyPr/>
          <a:lstStyle/>
          <a:p>
            <a:r>
              <a:rPr/>
              <a:t>Task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2: kinetic parameters by Bayesian inference</a:t>
            </a:r>
          </a:p>
        </p:txBody>
      </p:sp>
      <p:sp>
        <p:nvSpPr>
          <p:cNvPr id="3" name="Content Placeholder 2"/>
          <p:cNvSpPr>
            <a:spLocks noGrp="1"/>
          </p:cNvSpPr>
          <p:nvPr>
            <p:ph idx="1"/>
          </p:nvPr>
        </p:nvSpPr>
        <p:spPr/>
        <p:txBody>
          <a:bodyPr/>
          <a:lstStyle/>
          <a:p>
            <a:r>
              <a:rPr b="1"/>
              <a:t>Goal: </a:t>
            </a:r>
            <a:r>
              <a:rPr/>
              <a:t>posterior distributions of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with a fit plot</a:t>
            </a:r>
          </a:p>
          <a:p>
            <a:r>
              <a:rPr b="1"/>
              <a:t>Model: </a:t>
            </a:r>
            <a:r>
              <a:rPr/>
              <a:t>the enzyme is in the rate law, only Neu5Ac is measured, the metal cofactor is left out (a simplification)</a:t>
            </a:r>
          </a:p>
          <a:p>
            <a:r>
              <a:rPr b="1"/>
              <a:t>Your decisions: </a:t>
            </a:r>
            <a:r>
              <a:rPr/>
              <a:t>the priors, the assumed measurement noise, the sampler settings</a:t>
            </a:r>
          </a:p>
          <a:p>
            <a:pPr marL="0" indent="0">
              <a:buNone/>
            </a:pPr>
            <a:r>
              <a:rPr b="1"/>
              <a:t>Questions to answer</a:t>
            </a:r>
          </a:p>
          <a:p>
            <a:r>
              <a:rPr/>
              <a:t>What are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and how uncertain is each?</a:t>
            </a:r>
          </a:p>
          <a:p>
            <a:r>
              <a:rPr/>
              <a:t>Do the two chains agree, and were there divergences?</a:t>
            </a:r>
          </a:p>
          <a:p>
            <a:r>
              <a:rPr/>
              <a:t>Is the posterior clear of the prior bounds, or does a bound decide the answer?</a:t>
            </a:r>
          </a:p>
          <a:p>
            <a:r>
              <a:rPr/>
              <a:t>Does one model describe both series?</a:t>
            </a:r>
          </a:p>
        </p:txBody>
      </p:sp>
      <p:sp>
        <p:nvSpPr>
          <p:cNvPr id="4" name="Text Placeholder 3"/>
          <p:cNvSpPr>
            <a:spLocks noGrp="1"/>
          </p:cNvSpPr>
          <p:nvPr>
            <p:ph type="body" idx="13" sz="quarter"/>
          </p:nvPr>
        </p:nvSpPr>
        <p:spPr/>
        <p:txBody>
          <a:bodyPr/>
          <a:lstStyle/>
          <a:p>
            <a:r>
              <a:rPr/>
              <a:t>Task 2</a:t>
            </a:r>
          </a:p>
        </p:txBody>
      </p:sp>
      <p:sp>
        <p:nvSpPr>
          <p:cNvPr id="5" name="Text Placeholder 4"/>
          <p:cNvSpPr>
            <a:spLocks noGrp="1"/>
          </p:cNvSpPr>
          <p:nvPr>
            <p:ph type="body" idx="15" sz="quarter"/>
          </p:nvPr>
        </p:nvSpPr>
        <p:spPr/>
        <p:txBody>
          <a:bodyPr/>
          <a:lstStyle/>
          <a:p>
            <a:r>
              <a:rPr/>
              <a:t>v = </a:t>
            </a:r>
            <a:r>
              <a:rPr i="1"/>
              <a:t>k</a:t>
            </a:r>
            <a:r>
              <a:rPr baseline="-25000"/>
              <a:t>cat</a:t>
            </a:r>
            <a:r>
              <a:rPr/>
              <a:t> · [NeuS] · [ManNAc] · [PEP] / ((</a:t>
            </a:r>
            <a:r>
              <a:rPr i="1"/>
              <a:t>K</a:t>
            </a:r>
            <a:r>
              <a:rPr i="1" baseline="-25000"/>
              <a:t>M</a:t>
            </a:r>
            <a:r>
              <a:rPr baseline="30000"/>
              <a:t>ManNAc</a:t>
            </a:r>
            <a:r>
              <a:rPr/>
              <a:t> + [ManNAc]) (</a:t>
            </a:r>
            <a:r>
              <a:rPr i="1"/>
              <a:t>K</a:t>
            </a:r>
            <a:r>
              <a:rPr i="1" baseline="-25000"/>
              <a:t>M</a:t>
            </a:r>
            <a:r>
              <a:rPr baseline="30000"/>
              <a:t>PEP</a:t>
            </a:r>
            <a:r>
              <a:rPr/>
              <a:t> + [PEP]))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tinyurl.com/enzymeml2026</a:t>
            </a:r>
          </a:p>
          <a:p>
            <a:pPr lvl="1"/>
            <a:r>
              <a:t>Max Häußler · University of Freiburg</a:t>
            </a:r>
          </a:p>
        </p:txBody>
      </p:sp>
      <p:pic>
        <p:nvPicPr>
          <p:cNvPr id="4" name="Picture 3" descr="qr_repository.png"/>
          <p:cNvPicPr>
            <a:picLocks noChangeAspect="1"/>
          </p:cNvPicPr>
          <p:nvPr/>
        </p:nvPicPr>
        <p:blipFill>
          <a:blip r:embed="rId3"/>
          <a:stretch>
            <a:fillRect/>
          </a:stretch>
        </p:blipFill>
        <p:spPr>
          <a:xfrm>
            <a:off x="10058400" y="214884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
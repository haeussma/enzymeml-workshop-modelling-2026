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2 min, then this slide stays on the projector. Task 1 with Chromhandler, task 2 with Catalax; the README has the detailed tasks (what to look for in the data) and the three ways to work. Live demo of task 1 first (9:15), hands-on from 9:30, break 10:15, demo of task 2 10:30, hands-on 10:40, comparison of everybody's parameters at 11:25. Those without an assistant that runs code team up; those stuck in task 1 start task 2 from the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Open with the round: did it work, what did not, does anyone already work with their data like this for other biocatalysis problems? Then the cards: who read them, what would you add or remove? Documentation: where does the information in the cards live today, papers or lab notebooks, and how would experiment documentation have to change to yield files a model can act on? Access: which models can people use at their university or in their group? Close with the outlook: how are data managed and analysed in five years, and what does that imply for what we do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b="1"/>
              <a:t>Since then: </a:t>
            </a:r>
            <a:r>
              <a:rPr/>
              <a:t>the models got better!</a:t>
            </a:r>
          </a:p>
        </p:txBody>
      </p:sp>
      <p:sp>
        <p:nvSpPr>
          <p:cNvPr id="5" name="Text Placeholder 4"/>
          <p:cNvSpPr>
            <a:spLocks noGrp="1"/>
          </p:cNvSpPr>
          <p:nvPr>
            <p:ph type="body" idx="13" sz="quarter"/>
          </p:nvPr>
        </p:nvSpPr>
        <p:spPr/>
        <p:txBody>
          <a:bodyPr/>
          <a:lstStyle/>
          <a:p>
            <a:r>
              <a:rPr/>
              <a:t>Looking back</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More than doubled</a:t>
            </a:r>
          </a:p>
        </p:txBody>
      </p:sp>
      <p:sp>
        <p:nvSpPr>
          <p:cNvPr id="5" name="Text Placeholder 4"/>
          <p:cNvSpPr>
            <a:spLocks noGrp="1"/>
          </p:cNvSpPr>
          <p:nvPr>
            <p:ph type="body" idx="13" sz="quarter"/>
          </p:nvPr>
        </p:nvSpPr>
        <p:spPr/>
        <p:txBody>
          <a:bodyPr/>
          <a:lstStyle/>
          <a:p>
            <a:r>
              <a:rPr/>
              <a:t>LLM capabilities</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742389" y="1965960"/>
            <a:ext cx="1371600" cy="1371600"/>
          </a:xfrm>
          <a:prstGeom prst="rect">
            <a:avLst/>
          </a:prstGeom>
        </p:spPr>
      </p:pic>
      <p:sp>
        <p:nvSpPr>
          <p:cNvPr id="8" name="TextBox 7"/>
          <p:cNvSpPr txBox="1"/>
          <p:nvPr/>
        </p:nvSpPr>
        <p:spPr>
          <a:xfrm>
            <a:off x="822960" y="3611880"/>
            <a:ext cx="3210458"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3210458" cy="1280160"/>
          </a:xfrm>
          <a:prstGeom prst="rect">
            <a:avLst/>
          </a:prstGeom>
          <a:noFill/>
        </p:spPr>
        <p:txBody>
          <a:bodyPr wrap="square" lIns="0" rIns="0" tIns="0" bIns="0">
            <a:spAutoFit/>
          </a:bodyPr>
          <a:lstStyle/>
          <a:p>
            <a:pPr algn="ctr"/>
            <a:r>
              <a:rPr sz="1300">
                <a:solidFill>
                  <a:srgbClr val="6F6F6F"/>
                </a:solidFill>
              </a:rPr>
              <a:t>Instruct LLM where to find data and how to analyse it</a:t>
            </a:r>
          </a:p>
        </p:txBody>
      </p:sp>
      <p:pic>
        <p:nvPicPr>
          <p:cNvPr id="10" name="Picture 9" descr="icon_person_check.png"/>
          <p:cNvPicPr>
            <a:picLocks noChangeAspect="1"/>
          </p:cNvPicPr>
          <p:nvPr/>
        </p:nvPicPr>
        <p:blipFill>
          <a:blip r:embed="rId4"/>
          <a:stretch>
            <a:fillRect/>
          </a:stretch>
        </p:blipFill>
        <p:spPr>
          <a:xfrm>
            <a:off x="5410047" y="1965960"/>
            <a:ext cx="1371600" cy="1371600"/>
          </a:xfrm>
          <a:prstGeom prst="rect">
            <a:avLst/>
          </a:prstGeom>
        </p:spPr>
      </p:pic>
      <p:sp>
        <p:nvSpPr>
          <p:cNvPr id="11" name="TextBox 10"/>
          <p:cNvSpPr txBox="1"/>
          <p:nvPr/>
        </p:nvSpPr>
        <p:spPr>
          <a:xfrm>
            <a:off x="4490618" y="3611880"/>
            <a:ext cx="3210458"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2" name="TextBox 11"/>
          <p:cNvSpPr txBox="1"/>
          <p:nvPr/>
        </p:nvSpPr>
        <p:spPr>
          <a:xfrm>
            <a:off x="4490618" y="4160520"/>
            <a:ext cx="3210458"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3" name="Picture 12" descr="icon_document_arrows.png"/>
          <p:cNvPicPr>
            <a:picLocks noChangeAspect="1"/>
          </p:cNvPicPr>
          <p:nvPr/>
        </p:nvPicPr>
        <p:blipFill>
          <a:blip r:embed="rId5"/>
          <a:stretch>
            <a:fillRect/>
          </a:stretch>
        </p:blipFill>
        <p:spPr>
          <a:xfrm>
            <a:off x="9077705" y="1965960"/>
            <a:ext cx="1371600" cy="1371600"/>
          </a:xfrm>
          <a:prstGeom prst="rect">
            <a:avLst/>
          </a:prstGeom>
        </p:spPr>
      </p:pic>
      <p:sp>
        <p:nvSpPr>
          <p:cNvPr id="14" name="TextBox 13"/>
          <p:cNvSpPr txBox="1"/>
          <p:nvPr/>
        </p:nvSpPr>
        <p:spPr>
          <a:xfrm>
            <a:off x="8158276" y="3611880"/>
            <a:ext cx="3210458"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5" name="TextBox 14"/>
          <p:cNvSpPr txBox="1"/>
          <p:nvPr/>
        </p:nvSpPr>
        <p:spPr>
          <a:xfrm>
            <a:off x="8158276" y="4160520"/>
            <a:ext cx="3210458" cy="1280160"/>
          </a:xfrm>
          <a:prstGeom prst="rect">
            <a:avLst/>
          </a:prstGeom>
          <a:noFill/>
        </p:spPr>
        <p:txBody>
          <a:bodyPr wrap="square" lIns="0" rIns="0" tIns="0" bIns="0">
            <a:spAutoFit/>
          </a:bodyPr>
          <a:lstStyle/>
          <a:p>
            <a:pPr algn="ctr"/>
            <a:r>
              <a:rPr sz="1300">
                <a:solidFill>
                  <a:srgbClr val="6F6F6F"/>
                </a:solidFill>
              </a:rPr>
              <a:t>One document carries the data between the steps. LLM writes code to do data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822959"/>
          </a:xfrm>
        </p:spPr>
        <p:txBody>
          <a:bodyPr/>
          <a:lstStyle/>
          <a:p>
            <a:r>
              <a:rPr/>
              <a:t>HPLC-PDA time-course data</a:t>
            </a:r>
          </a:p>
          <a:p>
            <a:r>
              <a:rPr/>
              <a:t>Raw data: peak tables as instrument output</a:t>
            </a:r>
          </a:p>
          <a:p>
            <a:r>
              <a:rPr/>
              <a:t>Only the product Neu5Ac is quantified</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Get started: tinyurl.com/enzymeml2026</a:t>
            </a:r>
          </a:p>
        </p:txBody>
      </p:sp>
      <p:sp>
        <p:nvSpPr>
          <p:cNvPr id="5" name="Text Placeholder 4"/>
          <p:cNvSpPr>
            <a:spLocks noGrp="1"/>
          </p:cNvSpPr>
          <p:nvPr>
            <p:ph type="body" idx="13" sz="quarter"/>
          </p:nvPr>
        </p:nvSpPr>
        <p:spPr/>
        <p:txBody>
          <a:bodyPr/>
          <a:lstStyle/>
          <a:p>
            <a:r>
              <a:rPr/>
              <a:t>Hands-on</a:t>
            </a:r>
          </a:p>
        </p:txBody>
      </p:sp>
      <p:sp>
        <p:nvSpPr>
          <p:cNvPr id="6" name="Text Placeholder 5"/>
          <p:cNvSpPr>
            <a:spLocks noGrp="1"/>
          </p:cNvSpPr>
          <p:nvPr>
            <p:ph type="body" idx="15" sz="quarter"/>
          </p:nvPr>
        </p:nvSpPr>
        <p:spPr/>
        <p:txBody>
          <a:bodyPr/>
          <a:lstStyle/>
          <a:p>
            <a:r>
              <a:rPr/>
              <a:t>Everything is in the README</a:t>
            </a:r>
          </a:p>
        </p:txBody>
      </p:sp>
      <p:sp>
        <p:nvSpPr>
          <p:cNvPr id="8" name="TextBox 7"/>
          <p:cNvSpPr txBox="1"/>
          <p:nvPr/>
        </p:nvSpPr>
        <p:spPr>
          <a:xfrm>
            <a:off x="822960" y="2011680"/>
            <a:ext cx="5029200" cy="365760"/>
          </a:xfrm>
          <a:prstGeom prst="rect">
            <a:avLst/>
          </a:prstGeom>
          <a:noFill/>
        </p:spPr>
        <p:txBody>
          <a:bodyPr wrap="none" lIns="0" tIns="0" bIns="0">
            <a:spAutoFit/>
          </a:bodyPr>
          <a:lstStyle/>
          <a:p>
            <a:r>
              <a:rPr b="1" sz="1600"/>
              <a:t>Tasks</a:t>
            </a:r>
          </a:p>
        </p:txBody>
      </p:sp>
      <p:pic>
        <p:nvPicPr>
          <p:cNvPr id="9" name="Picture 8" descr="chart-area-line.png"/>
          <p:cNvPicPr>
            <a:picLocks noChangeAspect="1"/>
          </p:cNvPicPr>
          <p:nvPr/>
        </p:nvPicPr>
        <p:blipFill>
          <a:blip r:embed="rId3"/>
          <a:stretch>
            <a:fillRect/>
          </a:stretch>
        </p:blipFill>
        <p:spPr>
          <a:xfrm>
            <a:off x="822960" y="2487168"/>
            <a:ext cx="384048" cy="384048"/>
          </a:xfrm>
          <a:prstGeom prst="rect">
            <a:avLst/>
          </a:prstGeom>
        </p:spPr>
      </p:pic>
      <p:sp>
        <p:nvSpPr>
          <p:cNvPr id="10" name="TextBox 9"/>
          <p:cNvSpPr txBox="1"/>
          <p:nvPr/>
        </p:nvSpPr>
        <p:spPr>
          <a:xfrm>
            <a:off x="1389888" y="2468880"/>
            <a:ext cx="4462272" cy="960119"/>
          </a:xfrm>
          <a:prstGeom prst="rect">
            <a:avLst/>
          </a:prstGeom>
          <a:noFill/>
        </p:spPr>
        <p:txBody>
          <a:bodyPr wrap="square" lIns="0" tIns="0" bIns="0">
            <a:spAutoFit/>
          </a:bodyPr>
          <a:lstStyle/>
          <a:p>
            <a:r>
              <a:rPr b="1" sz="1600"/>
              <a:t>Task 1 · chromatograms to EnzymeML: </a:t>
            </a:r>
            <a:r>
              <a:rPr sz="1600"/>
              <a:t>plot the data, check the assay design, calibrate, export the document</a:t>
            </a:r>
          </a:p>
        </p:txBody>
      </p:sp>
      <p:pic>
        <p:nvPicPr>
          <p:cNvPr id="11" name="Picture 10" descr="chart-scatter.png"/>
          <p:cNvPicPr>
            <a:picLocks noChangeAspect="1"/>
          </p:cNvPicPr>
          <p:nvPr/>
        </p:nvPicPr>
        <p:blipFill>
          <a:blip r:embed="rId4"/>
          <a:stretch>
            <a:fillRect/>
          </a:stretch>
        </p:blipFill>
        <p:spPr>
          <a:xfrm>
            <a:off x="822960" y="3538728"/>
            <a:ext cx="384048" cy="384048"/>
          </a:xfrm>
          <a:prstGeom prst="rect">
            <a:avLst/>
          </a:prstGeom>
        </p:spPr>
      </p:pic>
      <p:sp>
        <p:nvSpPr>
          <p:cNvPr id="12" name="TextBox 11"/>
          <p:cNvSpPr txBox="1"/>
          <p:nvPr/>
        </p:nvSpPr>
        <p:spPr>
          <a:xfrm>
            <a:off x="1389888" y="3520440"/>
            <a:ext cx="4462272" cy="960119"/>
          </a:xfrm>
          <a:prstGeom prst="rect">
            <a:avLst/>
          </a:prstGeom>
          <a:noFill/>
        </p:spPr>
        <p:txBody>
          <a:bodyPr wrap="square" lIns="0" tIns="0" bIns="0">
            <a:spAutoFit/>
          </a:bodyPr>
          <a:lstStyle/>
          <a:p>
            <a:r>
              <a:rPr b="1" sz="1600"/>
              <a:t>Task 2 · kinetic parameters: </a:t>
            </a:r>
            <a:r>
              <a:rPr sz="1600"/>
              <a:t>infer </a:t>
            </a:r>
            <a:r>
              <a:rPr i="1" sz="1600"/>
              <a:t>k</a:t>
            </a:r>
            <a:r>
              <a:rPr sz="1600" baseline="-25000"/>
              <a:t>cat</a:t>
            </a:r>
            <a:r>
              <a:rPr sz="1600"/>
              <a:t> and </a:t>
            </a:r>
            <a:r>
              <a:rPr i="1" sz="1600"/>
              <a:t>K</a:t>
            </a:r>
            <a:r>
              <a:rPr i="1" sz="1600" baseline="-25000"/>
              <a:t>M</a:t>
            </a:r>
            <a:r>
              <a:rPr sz="1600"/>
              <a:t> with their uncertainty and correlation; does the model describe the data?</a:t>
            </a:r>
          </a:p>
        </p:txBody>
      </p:sp>
      <p:pic>
        <p:nvPicPr>
          <p:cNvPr id="13" name="Picture 12" descr="users-group.png"/>
          <p:cNvPicPr>
            <a:picLocks noChangeAspect="1"/>
          </p:cNvPicPr>
          <p:nvPr/>
        </p:nvPicPr>
        <p:blipFill>
          <a:blip r:embed="rId5"/>
          <a:stretch>
            <a:fillRect/>
          </a:stretch>
        </p:blipFill>
        <p:spPr>
          <a:xfrm>
            <a:off x="822960" y="4590288"/>
            <a:ext cx="384048" cy="384048"/>
          </a:xfrm>
          <a:prstGeom prst="rect">
            <a:avLst/>
          </a:prstGeom>
        </p:spPr>
      </p:pic>
      <p:sp>
        <p:nvSpPr>
          <p:cNvPr id="14" name="TextBox 13"/>
          <p:cNvSpPr txBox="1"/>
          <p:nvPr/>
        </p:nvSpPr>
        <p:spPr>
          <a:xfrm>
            <a:off x="1389888" y="4572000"/>
            <a:ext cx="4462272" cy="960119"/>
          </a:xfrm>
          <a:prstGeom prst="rect">
            <a:avLst/>
          </a:prstGeom>
          <a:noFill/>
        </p:spPr>
        <p:txBody>
          <a:bodyPr wrap="square" lIns="0" tIns="0" bIns="0">
            <a:spAutoFit/>
          </a:bodyPr>
          <a:lstStyle/>
          <a:p>
            <a:r>
              <a:rPr b="1" sz="1600"/>
              <a:t>At the end </a:t>
            </a:r>
            <a:r>
              <a:rPr sz="1600"/>
              <a:t>we discuss experiences</a:t>
            </a:r>
          </a:p>
        </p:txBody>
      </p:sp>
      <p:sp>
        <p:nvSpPr>
          <p:cNvPr id="15" name="TextBox 14"/>
          <p:cNvSpPr txBox="1"/>
          <p:nvPr/>
        </p:nvSpPr>
        <p:spPr>
          <a:xfrm>
            <a:off x="6339535" y="2011680"/>
            <a:ext cx="5029200" cy="365760"/>
          </a:xfrm>
          <a:prstGeom prst="rect">
            <a:avLst/>
          </a:prstGeom>
          <a:noFill/>
        </p:spPr>
        <p:txBody>
          <a:bodyPr wrap="none" lIns="0" tIns="0" bIns="0">
            <a:spAutoFit/>
          </a:bodyPr>
          <a:lstStyle/>
          <a:p>
            <a:r>
              <a:rPr b="1" sz="1600"/>
              <a:t>How to get started: </a:t>
            </a:r>
            <a:r>
              <a:rPr sz="1600"/>
              <a:t>choose your route</a:t>
            </a:r>
          </a:p>
        </p:txBody>
      </p:sp>
      <p:pic>
        <p:nvPicPr>
          <p:cNvPr id="16" name="Picture 15" descr="terminal-2.png"/>
          <p:cNvPicPr>
            <a:picLocks noChangeAspect="1"/>
          </p:cNvPicPr>
          <p:nvPr/>
        </p:nvPicPr>
        <p:blipFill>
          <a:blip r:embed="rId6"/>
          <a:stretch>
            <a:fillRect/>
          </a:stretch>
        </p:blipFill>
        <p:spPr>
          <a:xfrm>
            <a:off x="6339535" y="2487168"/>
            <a:ext cx="384048" cy="384048"/>
          </a:xfrm>
          <a:prstGeom prst="rect">
            <a:avLst/>
          </a:prstGeom>
        </p:spPr>
      </p:pic>
      <p:sp>
        <p:nvSpPr>
          <p:cNvPr id="17" name="TextBox 16"/>
          <p:cNvSpPr txBox="1"/>
          <p:nvPr/>
        </p:nvSpPr>
        <p:spPr>
          <a:xfrm>
            <a:off x="6906463" y="2468880"/>
            <a:ext cx="4462272" cy="685800"/>
          </a:xfrm>
          <a:prstGeom prst="rect">
            <a:avLst/>
          </a:prstGeom>
          <a:noFill/>
        </p:spPr>
        <p:txBody>
          <a:bodyPr wrap="square" lIns="0" tIns="0" bIns="0">
            <a:spAutoFit/>
          </a:bodyPr>
          <a:lstStyle/>
          <a:p>
            <a:r>
              <a:rPr b="1" sz="1600"/>
              <a:t>Route A · coding assistant on your computer: </a:t>
            </a:r>
            <a:r>
              <a:rPr sz="1600"/>
              <a:t>give it the cards in briefs/</a:t>
            </a:r>
          </a:p>
        </p:txBody>
      </p:sp>
      <p:pic>
        <p:nvPicPr>
          <p:cNvPr id="18" name="Picture 17" descr="message-chatbot.png"/>
          <p:cNvPicPr>
            <a:picLocks noChangeAspect="1"/>
          </p:cNvPicPr>
          <p:nvPr/>
        </p:nvPicPr>
        <p:blipFill>
          <a:blip r:embed="rId7"/>
          <a:stretch>
            <a:fillRect/>
          </a:stretch>
        </p:blipFill>
        <p:spPr>
          <a:xfrm>
            <a:off x="6339535" y="3264408"/>
            <a:ext cx="384048" cy="384048"/>
          </a:xfrm>
          <a:prstGeom prst="rect">
            <a:avLst/>
          </a:prstGeom>
        </p:spPr>
      </p:pic>
      <p:sp>
        <p:nvSpPr>
          <p:cNvPr id="19" name="TextBox 18"/>
          <p:cNvSpPr txBox="1"/>
          <p:nvPr/>
        </p:nvSpPr>
        <p:spPr>
          <a:xfrm>
            <a:off x="6906463" y="3246120"/>
            <a:ext cx="4462272" cy="685800"/>
          </a:xfrm>
          <a:prstGeom prst="rect">
            <a:avLst/>
          </a:prstGeom>
          <a:noFill/>
        </p:spPr>
        <p:txBody>
          <a:bodyPr wrap="square" lIns="0" tIns="0" bIns="0">
            <a:spAutoFit/>
          </a:bodyPr>
          <a:lstStyle/>
          <a:p>
            <a:r>
              <a:rPr b="1" sz="1600"/>
              <a:t>Route B · chat assistant only: </a:t>
            </a:r>
            <a:br/>
            <a:r>
              <a:rPr sz="1600"/>
              <a:t>the Colab starter notebook</a:t>
            </a:r>
          </a:p>
        </p:txBody>
      </p:sp>
      <p:pic>
        <p:nvPicPr>
          <p:cNvPr id="20" name="Picture 19" descr="users.png"/>
          <p:cNvPicPr>
            <a:picLocks noChangeAspect="1"/>
          </p:cNvPicPr>
          <p:nvPr/>
        </p:nvPicPr>
        <p:blipFill>
          <a:blip r:embed="rId8"/>
          <a:stretch>
            <a:fillRect/>
          </a:stretch>
        </p:blipFill>
        <p:spPr>
          <a:xfrm>
            <a:off x="6339535" y="4041648"/>
            <a:ext cx="384048" cy="384048"/>
          </a:xfrm>
          <a:prstGeom prst="rect">
            <a:avLst/>
          </a:prstGeom>
        </p:spPr>
      </p:pic>
      <p:sp>
        <p:nvSpPr>
          <p:cNvPr id="21" name="TextBox 20"/>
          <p:cNvSpPr txBox="1"/>
          <p:nvPr/>
        </p:nvSpPr>
        <p:spPr>
          <a:xfrm>
            <a:off x="6906463" y="4023360"/>
            <a:ext cx="4462272" cy="685800"/>
          </a:xfrm>
          <a:prstGeom prst="rect">
            <a:avLst/>
          </a:prstGeom>
          <a:noFill/>
        </p:spPr>
        <p:txBody>
          <a:bodyPr wrap="square" lIns="0" tIns="0" bIns="0">
            <a:spAutoFit/>
          </a:bodyPr>
          <a:lstStyle/>
          <a:p>
            <a:r>
              <a:rPr b="1" sz="1600"/>
              <a:t>Route C · no assistant that runs code: </a:t>
            </a:r>
            <a:br/>
            <a:r>
              <a:rPr sz="1600"/>
              <a:t>team up</a:t>
            </a:r>
          </a:p>
        </p:txBody>
      </p:sp>
      <p:pic>
        <p:nvPicPr>
          <p:cNvPr id="22" name="Picture 21" descr="book-2.png"/>
          <p:cNvPicPr>
            <a:picLocks noChangeAspect="1"/>
          </p:cNvPicPr>
          <p:nvPr/>
        </p:nvPicPr>
        <p:blipFill>
          <a:blip r:embed="rId9"/>
          <a:stretch>
            <a:fillRect/>
          </a:stretch>
        </p:blipFill>
        <p:spPr>
          <a:xfrm>
            <a:off x="6339535" y="4818888"/>
            <a:ext cx="384048" cy="384048"/>
          </a:xfrm>
          <a:prstGeom prst="rect">
            <a:avLst/>
          </a:prstGeom>
        </p:spPr>
      </p:pic>
      <p:sp>
        <p:nvSpPr>
          <p:cNvPr id="23" name="TextBox 22"/>
          <p:cNvSpPr txBox="1"/>
          <p:nvPr/>
        </p:nvSpPr>
        <p:spPr>
          <a:xfrm>
            <a:off x="6906463" y="4800600"/>
            <a:ext cx="4462272" cy="685800"/>
          </a:xfrm>
          <a:prstGeom prst="rect">
            <a:avLst/>
          </a:prstGeom>
          <a:noFill/>
        </p:spPr>
        <p:txBody>
          <a:bodyPr wrap="square" lIns="0" tIns="0" bIns="0">
            <a:spAutoFit/>
          </a:bodyPr>
          <a:lstStyle/>
          <a:p>
            <a:r>
              <a:rPr b="1" sz="1600"/>
              <a:t>Details: </a:t>
            </a:r>
            <a:r>
              <a:rPr sz="1600"/>
              <a:t>README.md
sections: How to do it, Task 1, Task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Did it work, and what would you change?</a:t>
            </a:r>
          </a:p>
        </p:txBody>
      </p:sp>
      <p:sp>
        <p:nvSpPr>
          <p:cNvPr id="5" name="Text Placeholder 4"/>
          <p:cNvSpPr>
            <a:spLocks noGrp="1"/>
          </p:cNvSpPr>
          <p:nvPr>
            <p:ph type="body" idx="13" sz="quarter"/>
          </p:nvPr>
        </p:nvSpPr>
        <p:spPr/>
        <p:txBody>
          <a:bodyPr/>
          <a:lstStyle/>
          <a:p>
            <a:r>
              <a:rPr/>
              <a:t>Discussion</a:t>
            </a:r>
          </a:p>
        </p:txBody>
      </p:sp>
      <p:pic>
        <p:nvPicPr>
          <p:cNvPr id="8" name="Picture 7" descr="list-check.png"/>
          <p:cNvPicPr>
            <a:picLocks noChangeAspect="1"/>
          </p:cNvPicPr>
          <p:nvPr/>
        </p:nvPicPr>
        <p:blipFill>
          <a:blip r:embed="rId3"/>
          <a:stretch>
            <a:fillRect/>
          </a:stretch>
        </p:blipFill>
        <p:spPr>
          <a:xfrm>
            <a:off x="822960" y="2029968"/>
            <a:ext cx="384048" cy="384048"/>
          </a:xfrm>
          <a:prstGeom prst="rect">
            <a:avLst/>
          </a:prstGeom>
        </p:spPr>
      </p:pic>
      <p:sp>
        <p:nvSpPr>
          <p:cNvPr id="9" name="TextBox 8"/>
          <p:cNvSpPr txBox="1"/>
          <p:nvPr/>
        </p:nvSpPr>
        <p:spPr>
          <a:xfrm>
            <a:off x="1389888" y="2011680"/>
            <a:ext cx="4462272" cy="1097280"/>
          </a:xfrm>
          <a:prstGeom prst="rect">
            <a:avLst/>
          </a:prstGeom>
          <a:noFill/>
        </p:spPr>
        <p:txBody>
          <a:bodyPr wrap="square" lIns="0" tIns="0" bIns="0">
            <a:spAutoFit/>
          </a:bodyPr>
          <a:lstStyle/>
          <a:p>
            <a:r>
              <a:rPr b="1" sz="1500"/>
              <a:t>Today: </a:t>
            </a:r>
            <a:r>
              <a:rPr sz="1500"/>
              <a:t>did it work? What did not? Do you already work with your data like this, for other biocatalysis problems?</a:t>
            </a:r>
          </a:p>
        </p:txBody>
      </p:sp>
      <p:pic>
        <p:nvPicPr>
          <p:cNvPr id="10" name="Picture 9" descr="file-text.png"/>
          <p:cNvPicPr>
            <a:picLocks noChangeAspect="1"/>
          </p:cNvPicPr>
          <p:nvPr/>
        </p:nvPicPr>
        <p:blipFill>
          <a:blip r:embed="rId4"/>
          <a:stretch>
            <a:fillRect/>
          </a:stretch>
        </p:blipFill>
        <p:spPr>
          <a:xfrm>
            <a:off x="822960" y="3218688"/>
            <a:ext cx="384048" cy="384048"/>
          </a:xfrm>
          <a:prstGeom prst="rect">
            <a:avLst/>
          </a:prstGeom>
        </p:spPr>
      </p:pic>
      <p:sp>
        <p:nvSpPr>
          <p:cNvPr id="11" name="TextBox 10"/>
          <p:cNvSpPr txBox="1"/>
          <p:nvPr/>
        </p:nvSpPr>
        <p:spPr>
          <a:xfrm>
            <a:off x="1389888" y="3200400"/>
            <a:ext cx="4462272" cy="1097280"/>
          </a:xfrm>
          <a:prstGeom prst="rect">
            <a:avLst/>
          </a:prstGeom>
          <a:noFill/>
        </p:spPr>
        <p:txBody>
          <a:bodyPr wrap="square" lIns="0" tIns="0" bIns="0">
            <a:spAutoFit/>
          </a:bodyPr>
          <a:lstStyle/>
          <a:p>
            <a:r>
              <a:rPr b="1" sz="1500"/>
              <a:t>The cards: </a:t>
            </a:r>
            <a:r>
              <a:rPr sz="1500"/>
              <a:t>did anyone read the instructions given to the language model? What would you add or remove?</a:t>
            </a:r>
          </a:p>
        </p:txBody>
      </p:sp>
      <p:pic>
        <p:nvPicPr>
          <p:cNvPr id="12" name="Picture 11" descr="notebook.png"/>
          <p:cNvPicPr>
            <a:picLocks noChangeAspect="1"/>
          </p:cNvPicPr>
          <p:nvPr/>
        </p:nvPicPr>
        <p:blipFill>
          <a:blip r:embed="rId5"/>
          <a:stretch>
            <a:fillRect/>
          </a:stretch>
        </p:blipFill>
        <p:spPr>
          <a:xfrm>
            <a:off x="822960" y="4407407"/>
            <a:ext cx="384048" cy="384048"/>
          </a:xfrm>
          <a:prstGeom prst="rect">
            <a:avLst/>
          </a:prstGeom>
        </p:spPr>
      </p:pic>
      <p:sp>
        <p:nvSpPr>
          <p:cNvPr id="13" name="TextBox 12"/>
          <p:cNvSpPr txBox="1"/>
          <p:nvPr/>
        </p:nvSpPr>
        <p:spPr>
          <a:xfrm>
            <a:off x="1389888" y="4389120"/>
            <a:ext cx="4462272" cy="1097280"/>
          </a:xfrm>
          <a:prstGeom prst="rect">
            <a:avLst/>
          </a:prstGeom>
          <a:noFill/>
        </p:spPr>
        <p:txBody>
          <a:bodyPr wrap="square" lIns="0" tIns="0" bIns="0">
            <a:spAutoFit/>
          </a:bodyPr>
          <a:lstStyle/>
          <a:p>
            <a:r>
              <a:rPr b="1" sz="1500"/>
              <a:t>Documentation: </a:t>
            </a:r>
            <a:r>
              <a:rPr sz="1500"/>
              <a:t>is this information in publications, in lab notebooks? How would we document experiments so that a model can act on them?</a:t>
            </a:r>
          </a:p>
        </p:txBody>
      </p:sp>
      <p:pic>
        <p:nvPicPr>
          <p:cNvPr id="14" name="Picture 13" descr="key.png"/>
          <p:cNvPicPr>
            <a:picLocks noChangeAspect="1"/>
          </p:cNvPicPr>
          <p:nvPr/>
        </p:nvPicPr>
        <p:blipFill>
          <a:blip r:embed="rId6"/>
          <a:stretch>
            <a:fillRect/>
          </a:stretch>
        </p:blipFill>
        <p:spPr>
          <a:xfrm>
            <a:off x="6339535" y="2029968"/>
            <a:ext cx="384048" cy="384048"/>
          </a:xfrm>
          <a:prstGeom prst="rect">
            <a:avLst/>
          </a:prstGeom>
        </p:spPr>
      </p:pic>
      <p:sp>
        <p:nvSpPr>
          <p:cNvPr id="15" name="TextBox 14"/>
          <p:cNvSpPr txBox="1"/>
          <p:nvPr/>
        </p:nvSpPr>
        <p:spPr>
          <a:xfrm>
            <a:off x="6906463" y="2011680"/>
            <a:ext cx="4462272" cy="1097280"/>
          </a:xfrm>
          <a:prstGeom prst="rect">
            <a:avLst/>
          </a:prstGeom>
          <a:noFill/>
        </p:spPr>
        <p:txBody>
          <a:bodyPr wrap="square" lIns="0" tIns="0" bIns="0">
            <a:spAutoFit/>
          </a:bodyPr>
          <a:lstStyle/>
          <a:p>
            <a:r>
              <a:rPr b="1" sz="1500"/>
              <a:t>Access: </a:t>
            </a:r>
            <a:r>
              <a:rPr sz="1500"/>
              <a:t>which language models can you use at your university, in your group?</a:t>
            </a:r>
          </a:p>
        </p:txBody>
      </p:sp>
      <p:pic>
        <p:nvPicPr>
          <p:cNvPr id="16" name="Picture 15" descr="telescope.png"/>
          <p:cNvPicPr>
            <a:picLocks noChangeAspect="1"/>
          </p:cNvPicPr>
          <p:nvPr/>
        </p:nvPicPr>
        <p:blipFill>
          <a:blip r:embed="rId7"/>
          <a:stretch>
            <a:fillRect/>
          </a:stretch>
        </p:blipFill>
        <p:spPr>
          <a:xfrm>
            <a:off x="6339535" y="3218688"/>
            <a:ext cx="384048" cy="384048"/>
          </a:xfrm>
          <a:prstGeom prst="rect">
            <a:avLst/>
          </a:prstGeom>
        </p:spPr>
      </p:pic>
      <p:sp>
        <p:nvSpPr>
          <p:cNvPr id="17" name="TextBox 16"/>
          <p:cNvSpPr txBox="1"/>
          <p:nvPr/>
        </p:nvSpPr>
        <p:spPr>
          <a:xfrm>
            <a:off x="6906463" y="3200400"/>
            <a:ext cx="4462272" cy="1097280"/>
          </a:xfrm>
          <a:prstGeom prst="rect">
            <a:avLst/>
          </a:prstGeom>
          <a:noFill/>
        </p:spPr>
        <p:txBody>
          <a:bodyPr wrap="square" lIns="0" tIns="0" bIns="0">
            <a:spAutoFit/>
          </a:bodyPr>
          <a:lstStyle/>
          <a:p>
            <a:r>
              <a:rPr b="1" sz="1500"/>
              <a:t>In five years: </a:t>
            </a:r>
            <a:r>
              <a:rPr sz="1500"/>
              <a:t>how are data managed and analysed? What does that imply for 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
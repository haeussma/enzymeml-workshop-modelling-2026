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9D7B26C5-4107-4FEC-AEDC-1716B250EE53}"/>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9:00 · 1 min. Welcome to hands-on session 2 (9:00–12:00). The session is shared with Sascha Gabriel (Stuttgart); this deck is my part. Plan: 15 min of introduction, a live demo, two hands-on tasks with a break in between, comparison of results at 11:25, wrap-up at 11:50.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9:01 · 2 min. Recap of the earlier sessions: we, as humans, wrote the code. Before the first plot everyone had to set up a computing environment, read the documentation of the tools for extracting and modelling data, and write Python. Installations failed, the code was unfamiliar, and for people who do not work with code every day this was a burden. That kept many from structuring their data at all, and so from using contemporary data-science methods on it. Bridge: since then a lot has happened with language models and AI agents; the models got better, and the harnesses that let a model execute tools got much better. Next slide shows the models.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9:03 · 2 min. Dashed line: the 6th workshop, 29 Sep – 2 Oct 2025. Since then the flagship models went from about 23 to 53 on the index. The index is an independent benchmark, every model tested the same way. The point is that the tool changed a lot in one year, not which lab leads. Keep it short.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9:05 · 2 min. What this enables for us: from a one-page description a model writes correct code against Chromhandler and Catalax. What it does not do: know where the peak is, which model is right, whether a result is wrong. So today the assistant executes, you decide and check. EnzymeML is the document that travels between the steps and the tools.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9:07 · 2 min. A language model on its own only writes text. Tools are functions it can call and whose output it sees: read a file, run Python, make a plot; that is how it reads the peak tables and runs Chromhandler and Catalax. Skills are instructions in plain text: our two tool cards, chromhandler.md and catalax.md, tell it how each library turns data into insight, peak tables into an EnzymeML document, the document into kcat and Km by Bayesian inference. You give the task, take the decisions and check the results; the model executes.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9:09 · 1 min. Walk through the five boxes left to right. Task 1 covers the first three, task 2 the last three; the EnzymeML document is the handover, which is why anyone stuck in task 1 can start task 2 from the checkpoint. Timing: task 1 9:15–10:15, task 2 10:30–11:25.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9:10 · 1 min. Left: what goes in, the peak tables the instrument software exported (one per injection, the reaction time in the file name), the standards with known concentrations, and the initial concentrations. Middle: the steps in order; two of them are the scientist's decisions, the retention window per session and accepting the calibration. Right: the EnzymeML document and the checks the task card asks for.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9:11 · 1 min. Left: the EnzymeML document, the rate law, and the assumptions, priors and noise. Middle: load, define the model, set the priors, sample with Hamiltonian Monte Carlo, then check and plot. The model, the priors and the noise are the scientist's decisions; the checks say whether the posterior can be trusted. Right: posterior distributions, not point estimates, and the plots.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9:12 · 2 min. Neu5Ac synthase condenses ManNAc and PEP to Neu5Ac and phosphate (metal cofactor, water). HPLC-PDA at 215 nm. Two series: ManNAc varied at fixed PEP (13 reactions), PEP varied at fixed ManNAc (11 reactions); six injections each; five standards with 1–5 mM. Only the product is quantified; the substrates enter the model as their known initial values.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9:14 · 1 min. Two series: ManNAc varied at fixed PEP (13 reactions), PEP varied at fixed ManNAc (11 reactions); six injections each, 144 chromatograms; five standards with 1–5 mM Neu5Ac that also contain the substrates, no enzyme. Participants do not get the raw traces: the instrument software exported a peak table per injection, and that is the input of task 1. Initial concentrations are in conditions.csv. Where Neu5Ac elutes is in the task card and comes up in the demo.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9:15 · 1 min. Task 1 with Chromhandler, task 2 with Catalax. Live demo first, then you work in pairs; the checks in the task card decide when you are done. Timing: demo 9:15, hands-on 9:30, break 10:15–10:30, demo 10:30, hands-on 10:40. At 11:25 we collect everybody's kcat and Km on one slide or the whiteboard, wrap-up 11:50.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9:16 · 3 min. README first. Two ways. With a language model: any chat model, free or by subscription (ChatGPT, Claude, Gemini, …); paste the tool card, then the task card; run the code it writes; paste errors back; the checks decide. Without writing code: the Colab link opens a prepared notebook with the tools installed and the data loaded; run it cell by cell, change a window, a prior, a series; ask the model inside Colab to explain any cell. notebooks/ are the reference solutions, open to everyone; checkpoints/ holds the result of task 1. Locally: uv sync.</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9:15 · Live demo 15 min, then hands-on 9:30–10:15. Demo: paste chromhandler.md, then the task card, then 'Let's start with task 1'. Show the count (24 reactions, 5 standards) and the peak plot. Accept the calibration explicitly ('my decision, not the assistant's'). Deliberate mistake: when asked for the reaction window, say 'the same as the standards, 11.41 ± 0.05'; chromhandler warns 'No peaks found for Neu5Ac in 6 measurement(s)' per reaction, the document has 0 Neu5Ac values, the check '6 values per reaction' fails. Say why (the shift on the peak plot), correct to 10.05 ± 0.20, continue. Export, run the checks, show this plot.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10:30 · Live demo 10 min, then hands-on 10:40–11:25. Paste catalax.md, then the task card. enable_x64 first. Only Neu5Ac has data; in Catalax 0.5.5 every state stays observable and the unmeasured ones get NaN arrays (observable=False breaks the sampler in this version). The priors and the sampler settings are in the card; they are decisions, say so. Show the posterior table, the trace and the fit plot. Those who did not finish task 1 start from checkpoints/neus_enzymeml.json.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11:25 · 25 min. First collect everybody's kcat, Km_ManNAc, Km_PEP: how much do they differ and why (windows, priors, reactions used)? Then the misfit: one shared kcat over-predicts the ManNAc series and under-predicts the PEP series; the series were measured on different days and differ by roughly 25 % in activity. Ask: a per-day activity factor, a new experiment, both? Which decisions did the assistant try to make for you, and which did you take back?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11:50 · 10 min. Take-home and feedback round. Ask explicitly what did not work: that is what we need to improve the cards. The cards are reusable as SKILL.md / AGENTS.md for coding agents.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11:58 · Close. The repository stays up: tinyurl.com/enzymeml2026, or the QR code. Questions in the break or by mail.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Cover">
    <p:spTree>
      <p:nvGrpSpPr>
        <p:cNvPr id="1" name=""/>
        <p:cNvGrpSpPr/>
        <p:nvPr/>
      </p:nvGrpSpPr>
      <p:grpSpPr>
        <a:xfrm>
          <a:off x="0" y="0"/>
          <a:ext cx="0" cy="0"/>
          <a:chOff x="0" y="0"/>
          <a:chExt cx="0" cy="0"/>
        </a:xfrm>
      </p:grpSpPr>
      <p:sp>
        <p:nvSpPr>
          <p:cNvPr id="2" name="Title 1"/>
          <p:cNvSpPr>
            <a:spLocks noGrp="1"/>
          </p:cNvSpPr>
          <p:nvPr>
            <p:ph type="ctrTitle"/>
          </p:nvPr>
        </p:nvSpPr>
        <p:spPr>
          <a:xfrm>
            <a:off x="822960" y="2514600"/>
            <a:ext cx="9280282" cy="2103120"/>
          </a:xfrm>
        </p:spPr>
        <p:txBody>
          <a:bodyPr lIns="0" tIns="0" rIns="0" bIns="0" anchor="t"/>
          <a:lstStyle>
            <a:lvl1pPr marL="0" indent="0" algn="l">
              <a:lnSpc>
                <a:spcPct val="92000"/>
              </a:lnSpc>
              <a:spcBef>
                <a:spcPts val="0"/>
              </a:spcBef>
              <a:buNone/>
              <a:defRPr sz="4600" b="1" spc="-80">
                <a:solidFill>
                  <a:srgbClr val="0A0A0A"/>
                </a:solidFill>
                <a:latin typeface="Arial"/>
              </a:defRPr>
            </a:lvl1pPr>
          </a:lstStyle>
          <a:p>
            <a:r>
              <a:rPr lang="en-US" smtClean="0"/>
              <a:t>Click to edit Master title style</a:t>
            </a:r>
            <a:endParaRPr lang="en-US"/>
          </a:p>
        </p:txBody>
      </p:sp>
      <p:sp>
        <p:nvSpPr>
          <p:cNvPr id="3" name="Subtitle 2"/>
          <p:cNvSpPr>
            <a:spLocks noGrp="1"/>
          </p:cNvSpPr>
          <p:nvPr>
            <p:ph type="subTitle" idx="1"/>
          </p:nvPr>
        </p:nvSpPr>
        <p:spPr>
          <a:xfrm>
            <a:off x="822960" y="4754880"/>
            <a:ext cx="10545775" cy="1188720"/>
          </a:xfrm>
        </p:spPr>
        <p:txBody>
          <a:bodyPr lIns="0" tIns="0" rIns="0" bIns="0" anchor="t"/>
          <a:lstStyle>
            <a:lvl1pPr marL="0" indent="0" algn="l">
              <a:lnSpc>
                <a:spcPct val="110000"/>
              </a:lnSpc>
              <a:spcBef>
                <a:spcPts val="0"/>
              </a:spcBef>
              <a:buNone/>
              <a:defRPr sz="2000" b="0" spc="0">
                <a:solidFill>
                  <a:srgbClr val="0A0A0A"/>
                </a:solidFill>
                <a:latin typeface="Arial"/>
              </a:defRPr>
            </a:lvl1pPr>
            <a:lvl2pPr marL="0" indent="0" algn="l">
              <a:spcBef>
                <a:spcPts val="600"/>
              </a:spcBef>
              <a:buNone/>
              <a:defRPr sz="1200" b="0" spc="0">
                <a:solidFill>
                  <a:srgbClr val="6F6F6F"/>
                </a:solidFill>
                <a:latin typeface="Arial"/>
              </a:defRPr>
            </a:lvl2pPr>
          </a:lstStyle>
          <a:p>
            <a:r>
              <a:rPr lang="en-US" smtClean="0"/>
              <a:t>Click to edit Master subtitle style</a:t>
            </a:r>
            <a:endParaRPr lang="en-US"/>
          </a:p>
        </p:txBody>
      </p:sp>
      <p:sp>
        <p:nvSpPr>
          <p:cNvPr id="4" name="Kicker"/>
          <p:cNvSpPr>
            <a:spLocks noGrp="1"/>
          </p:cNvSpPr>
          <p:nvPr>
            <p:ph type="body" sz="quarter" idx="13"/>
          </p:nvPr>
        </p:nvSpPr>
        <p:spPr>
          <a:xfrm>
            <a:off x="822960" y="2103120"/>
            <a:ext cx="10545775" cy="274320"/>
          </a:xfrm>
        </p:spPr>
        <p:txBody>
          <a:bodyPr lIns="0" tIns="0" rIns="0" bIns="0" anchor="b"/>
          <a:lstStyle>
            <a:lvl1pPr marL="0" indent="0" algn="l">
              <a:spcBef>
                <a:spcPts val="0"/>
              </a:spcBef>
              <a:buNone/>
              <a:defRPr sz="1100" b="1" spc="300" cap="all">
                <a:solidFill>
                  <a:srgbClr val="6F6F6F"/>
                </a:solidFill>
                <a:latin typeface="Arial"/>
              </a:defRPr>
            </a:lvl1pPr>
          </a:lstStyle>
          <a:p>
            <a:r>
              <a:rPr lang="en-GB"/>
              <a:t>Kicker</a:t>
            </a:r>
          </a:p>
        </p:txBody>
      </p:sp>
      <p:pic>
        <p:nvPicPr>
          <p:cNvPr id="5" name="Logo uni-freiburg-wordmark" descr="Logo uni-freiburg-wordmark"/>
          <p:cNvPicPr>
            <a:picLocks noChangeAspect="1"/>
          </p:cNvPicPr>
          <p:nvPr/>
        </p:nvPicPr>
        <p:blipFill>
          <a:blip r:embed="rId2"/>
          <a:stretch>
            <a:fillRect/>
          </a:stretch>
        </p:blipFill>
        <p:spPr>
          <a:xfrm>
            <a:off x="822960" y="932230"/>
            <a:ext cx="2694316" cy="330098"/>
          </a:xfrm>
          <a:prstGeom prst="rect">
            <a:avLst/>
          </a:prstGeom>
        </p:spPr>
      </p:pic>
      <p:pic>
        <p:nvPicPr>
          <p:cNvPr id="6" name="Logo enzymeml-logo" descr="Logo enzymeml-logo"/>
          <p:cNvPicPr>
            <a:picLocks noChangeAspect="1"/>
          </p:cNvPicPr>
          <p:nvPr/>
        </p:nvPicPr>
        <p:blipFill>
          <a:blip r:embed="rId3"/>
          <a:stretch>
            <a:fillRect/>
          </a:stretch>
        </p:blipFill>
        <p:spPr>
          <a:xfrm>
            <a:off x="3995050" y="662940"/>
            <a:ext cx="1041336" cy="868680"/>
          </a:xfrm>
          <a:prstGeom prst="rect">
            <a:avLst/>
          </a:prstGeom>
        </p:spPr>
      </p:pic>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p:cNvSpPr>
            <a:spLocks noGrp="1"/>
          </p:cNvSpPr>
          <p:nvPr>
            <p:ph type="title"/>
          </p:nvPr>
        </p:nvSpPr>
        <p:spPr>
          <a:xfrm>
            <a:off x="822960" y="822960"/>
            <a:ext cx="10545775" cy="548640"/>
          </a:xfrm>
        </p:spPr>
        <p:txBody>
          <a:bodyPr lIns="0" tIns="0" rIns="0" bIns="0" anchor="t"/>
          <a:lstStyle/>
          <a:p>
            <a:r>
              <a:rPr lang="en-US" smtClean="0"/>
              <a:t>Click to edit Master title style</a:t>
            </a:r>
            <a:endParaRPr lang="en-US"/>
          </a:p>
        </p:txBody>
      </p:sp>
      <p:sp>
        <p:nvSpPr>
          <p:cNvPr id="3" name="Content Placeholder 2"/>
          <p:cNvSpPr>
            <a:spLocks noGrp="1"/>
          </p:cNvSpPr>
          <p:nvPr>
            <p:ph idx="1"/>
          </p:nvPr>
        </p:nvSpPr>
        <p:spPr>
          <a:xfrm>
            <a:off x="822960" y="2011680"/>
            <a:ext cx="10545775" cy="3749039"/>
          </a:xfrm>
        </p:spPr>
        <p:txBody>
          <a:bodyPr lIns="0" tIns="0" rIns="0" bIns="0"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Kicker"/>
          <p:cNvSpPr>
            <a:spLocks noGrp="1"/>
          </p:cNvSpPr>
          <p:nvPr>
            <p:ph type="body" sz="quarter" idx="13"/>
          </p:nvPr>
        </p:nvSpPr>
        <p:spPr>
          <a:xfrm>
            <a:off x="822960" y="502920"/>
            <a:ext cx="10545775" cy="274320"/>
          </a:xfrm>
        </p:spPr>
        <p:txBody>
          <a:bodyPr lIns="0" tIns="0" rIns="0" bIns="0" anchor="b"/>
          <a:lstStyle>
            <a:lvl1pPr marL="0" indent="0" algn="l">
              <a:spcBef>
                <a:spcPts val="0"/>
              </a:spcBef>
              <a:buNone/>
              <a:defRPr sz="1100" b="1" spc="300" cap="all">
                <a:solidFill>
                  <a:srgbClr val="6F6F6F"/>
                </a:solidFill>
                <a:latin typeface="Arial"/>
              </a:defRPr>
            </a:lvl1pPr>
          </a:lstStyle>
          <a:p>
            <a:r>
              <a:rPr lang="en-GB"/>
              <a:t>Kicker</a:t>
            </a:r>
          </a:p>
        </p:txBody>
      </p:sp>
      <p:sp>
        <p:nvSpPr>
          <p:cNvPr id="5" name="Subtitle"/>
          <p:cNvSpPr>
            <a:spLocks noGrp="1"/>
          </p:cNvSpPr>
          <p:nvPr>
            <p:ph type="body" sz="quarter" idx="15"/>
          </p:nvPr>
        </p:nvSpPr>
        <p:spPr>
          <a:xfrm>
            <a:off x="822960" y="1371600"/>
            <a:ext cx="10545775" cy="548640"/>
          </a:xfrm>
        </p:spPr>
        <p:txBody>
          <a:bodyPr lIns="0" tIns="0" rIns="0" bIns="0" anchor="t"/>
          <a:lstStyle>
            <a:lvl1pPr marL="0" indent="0" algn="l">
              <a:lnSpc>
                <a:spcPct val="100000"/>
              </a:lnSpc>
              <a:spcBef>
                <a:spcPts val="0"/>
              </a:spcBef>
              <a:buNone/>
              <a:defRPr sz="1800" b="0" spc="0">
                <a:solidFill>
                  <a:srgbClr val="6F6F6F"/>
                </a:solidFill>
                <a:latin typeface="Arial"/>
              </a:defRPr>
            </a:lvl1pPr>
          </a:lstStyle>
          <a:p>
            <a:r>
              <a:rPr lang="en-GB"/>
              <a:t>Subtitle</a:t>
            </a:r>
          </a:p>
        </p:txBody>
      </p:sp>
      <p:sp>
        <p:nvSpPr>
          <p:cNvPr id="6" name="Citation"/>
          <p:cNvSpPr>
            <a:spLocks noGrp="1"/>
          </p:cNvSpPr>
          <p:nvPr>
            <p:ph type="body" sz="quarter" idx="16"/>
          </p:nvPr>
        </p:nvSpPr>
        <p:spPr>
          <a:xfrm>
            <a:off x="822960" y="5806440"/>
            <a:ext cx="10545775" cy="384048"/>
          </a:xfrm>
        </p:spPr>
        <p:txBody>
          <a:bodyPr lIns="0" tIns="0" rIns="0" bIns="0" anchor="b"/>
          <a:lstStyle>
            <a:lvl1pPr marL="0" indent="0" algn="l">
              <a:lnSpc>
                <a:spcPct val="100000"/>
              </a:lnSpc>
              <a:spcBef>
                <a:spcPts val="0"/>
              </a:spcBef>
              <a:buNone/>
              <a:defRPr sz="900" b="0" spc="0">
                <a:solidFill>
                  <a:srgbClr val="6F6F6F"/>
                </a:solidFill>
                <a:latin typeface="Arial"/>
              </a:defRPr>
            </a:lvl1pPr>
          </a:lstStyle>
          <a:p>
            <a:r>
              <a:rPr lang="en-GB"/>
              <a:t>Citation</a:t>
            </a: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p:spTree>
      <p:nvGrpSpPr>
        <p:cNvPr id="1" name=""/>
        <p:cNvGrpSpPr/>
        <p:nvPr/>
      </p:nvGrpSpPr>
      <p:grpSpPr>
        <a:xfrm>
          <a:off x="0" y="0"/>
          <a:ext cx="0" cy="0"/>
          <a:chOff x="0" y="0"/>
          <a:chExt cx="0" cy="0"/>
        </a:xfrm>
      </p:grpSpPr>
      <p:sp>
        <p:nvSpPr>
          <p:cNvPr id="2" name="Title 1"/>
          <p:cNvSpPr>
            <a:spLocks noGrp="1"/>
          </p:cNvSpPr>
          <p:nvPr>
            <p:ph type="title"/>
          </p:nvPr>
        </p:nvSpPr>
        <p:spPr>
          <a:xfrm>
            <a:off x="822960" y="2560320"/>
            <a:ext cx="10545775" cy="1463040"/>
          </a:xfrm>
        </p:spPr>
        <p:txBody>
          <a:bodyPr anchor="t" lIns="0" tIns="0" rIns="0" bIns="0"/>
          <a:lstStyle>
            <a:lvl1pPr marL="0" indent="0" algn="l">
              <a:lnSpc>
                <a:spcPct val="90000"/>
              </a:lnSpc>
              <a:spcBef>
                <a:spcPts val="0"/>
              </a:spcBef>
              <a:buNone/>
              <a:defRPr sz="6000" b="1" spc="-100">
                <a:solidFill>
                  <a:srgbClr val="0A0A0A"/>
                </a:solidFill>
                <a:latin typeface="Arial"/>
              </a:defRPr>
            </a:lvl1pPr>
          </a:lstStyle>
          <a:p>
            <a:r>
              <a:rPr lang="en-US" smtClean="0"/>
              <a:t>Click to edit Master title style</a:t>
            </a:r>
            <a:endParaRPr lang="en-US"/>
          </a:p>
        </p:txBody>
      </p:sp>
      <p:sp>
        <p:nvSpPr>
          <p:cNvPr id="3" name="Text Placeholder 2"/>
          <p:cNvSpPr>
            <a:spLocks noGrp="1"/>
          </p:cNvSpPr>
          <p:nvPr>
            <p:ph type="body" idx="1"/>
          </p:nvPr>
        </p:nvSpPr>
        <p:spPr>
          <a:xfrm>
            <a:off x="822960" y="3657600"/>
            <a:ext cx="10545775" cy="914400"/>
          </a:xfrm>
        </p:spPr>
        <p:txBody>
          <a:bodyPr anchor="t" lIns="0" tIns="0" rIns="0" bIns="0"/>
          <a:lstStyle>
            <a:lvl1pPr marL="0" indent="0" algn="l">
              <a:spcBef>
                <a:spcPts val="0"/>
              </a:spcBef>
              <a:buNone/>
              <a:defRPr sz="2200" b="0" spc="0">
                <a:solidFill>
                  <a:srgbClr val="6F6F6F"/>
                </a:solidFill>
                <a:latin typeface="Arial"/>
              </a:defRPr>
            </a:lvl1pPr>
          </a:lstStyle>
          <a:p>
            <a:pPr lvl="0"/>
            <a:r>
              <a:rPr lang="en-US" smtClean="0"/>
              <a:t>Click to edit Master text styles</a:t>
            </a:r>
          </a:p>
        </p:txBody>
      </p:sp>
      <p:sp>
        <p:nvSpPr>
          <p:cNvPr id="4" name="Kicker"/>
          <p:cNvSpPr>
            <a:spLocks noGrp="1"/>
          </p:cNvSpPr>
          <p:nvPr>
            <p:ph type="body" sz="quarter" idx="13"/>
          </p:nvPr>
        </p:nvSpPr>
        <p:spPr>
          <a:xfrm>
            <a:off x="822960" y="2240280"/>
            <a:ext cx="10545775" cy="274320"/>
          </a:xfrm>
        </p:spPr>
        <p:txBody>
          <a:bodyPr lIns="0" tIns="0" rIns="0" bIns="0" anchor="b"/>
          <a:lstStyle>
            <a:lvl1pPr marL="0" indent="0" algn="l">
              <a:spcBef>
                <a:spcPts val="0"/>
              </a:spcBef>
              <a:buNone/>
              <a:defRPr sz="1100" b="1" spc="300" cap="all">
                <a:solidFill>
                  <a:srgbClr val="6F6F6F"/>
                </a:solidFill>
                <a:latin typeface="Arial"/>
              </a:defRPr>
            </a:lvl1pPr>
          </a:lstStyle>
          <a:p>
            <a:r>
              <a:rPr lang="en-GB"/>
              <a:t>Kicker</a:t>
            </a: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lumns">
    <p:spTree>
      <p:nvGrpSpPr>
        <p:cNvPr id="1" name=""/>
        <p:cNvGrpSpPr/>
        <p:nvPr/>
      </p:nvGrpSpPr>
      <p:grpSpPr>
        <a:xfrm>
          <a:off x="0" y="0"/>
          <a:ext cx="0" cy="0"/>
          <a:chOff x="0" y="0"/>
          <a:chExt cx="0" cy="0"/>
        </a:xfrm>
      </p:grpSpPr>
      <p:sp>
        <p:nvSpPr>
          <p:cNvPr id="2" name="Title 1"/>
          <p:cNvSpPr>
            <a:spLocks noGrp="1"/>
          </p:cNvSpPr>
          <p:nvPr>
            <p:ph type="title"/>
          </p:nvPr>
        </p:nvSpPr>
        <p:spPr>
          <a:xfrm>
            <a:off x="822960" y="822960"/>
            <a:ext cx="10545775" cy="548640"/>
          </a:xfrm>
        </p:spPr>
        <p:txBody>
          <a:bodyPr lIns="0" tIns="0" rIns="0" bIns="0" anchor="t"/>
          <a:lstStyle/>
          <a:p>
            <a:r>
              <a:rPr lang="en-US" smtClean="0"/>
              <a:t>Click to edit Master title style</a:t>
            </a:r>
            <a:endParaRPr lang="en-US"/>
          </a:p>
        </p:txBody>
      </p:sp>
      <p:sp>
        <p:nvSpPr>
          <p:cNvPr id="3" name="Content Placeholder 2"/>
          <p:cNvSpPr>
            <a:spLocks noGrp="1"/>
          </p:cNvSpPr>
          <p:nvPr>
            <p:ph sz="half" idx="1"/>
          </p:nvPr>
        </p:nvSpPr>
        <p:spPr>
          <a:xfrm>
            <a:off x="822960" y="2011680"/>
            <a:ext cx="5029200" cy="3749039"/>
          </a:xfrm>
        </p:spPr>
        <p:txBody>
          <a:bodyPr lIns="0" tIns="0" rIns="0" bIns="0"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339535" y="2011680"/>
            <a:ext cx="5029200" cy="3749039"/>
          </a:xfrm>
        </p:spPr>
        <p:txBody>
          <a:bodyPr lIns="0" tIns="0" rIns="0" bIns="0"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Kicker"/>
          <p:cNvSpPr>
            <a:spLocks noGrp="1"/>
          </p:cNvSpPr>
          <p:nvPr>
            <p:ph type="body" sz="quarter" idx="13"/>
          </p:nvPr>
        </p:nvSpPr>
        <p:spPr>
          <a:xfrm>
            <a:off x="822960" y="502920"/>
            <a:ext cx="10545775" cy="274320"/>
          </a:xfrm>
        </p:spPr>
        <p:txBody>
          <a:bodyPr lIns="0" tIns="0" rIns="0" bIns="0" anchor="b"/>
          <a:lstStyle>
            <a:lvl1pPr marL="0" indent="0" algn="l">
              <a:spcBef>
                <a:spcPts val="0"/>
              </a:spcBef>
              <a:buNone/>
              <a:defRPr sz="1100" b="1" spc="300" cap="all">
                <a:solidFill>
                  <a:srgbClr val="6F6F6F"/>
                </a:solidFill>
                <a:latin typeface="Arial"/>
              </a:defRPr>
            </a:lvl1pPr>
          </a:lstStyle>
          <a:p>
            <a:r>
              <a:rPr lang="en-GB"/>
              <a:t>Kicker</a:t>
            </a:r>
          </a:p>
        </p:txBody>
      </p:sp>
      <p:sp>
        <p:nvSpPr>
          <p:cNvPr id="6" name="Subtitle"/>
          <p:cNvSpPr>
            <a:spLocks noGrp="1"/>
          </p:cNvSpPr>
          <p:nvPr>
            <p:ph type="body" sz="quarter" idx="15"/>
          </p:nvPr>
        </p:nvSpPr>
        <p:spPr>
          <a:xfrm>
            <a:off x="822960" y="1371600"/>
            <a:ext cx="10545775" cy="548640"/>
          </a:xfrm>
        </p:spPr>
        <p:txBody>
          <a:bodyPr lIns="0" tIns="0" rIns="0" bIns="0" anchor="t"/>
          <a:lstStyle>
            <a:lvl1pPr marL="0" indent="0" algn="l">
              <a:lnSpc>
                <a:spcPct val="100000"/>
              </a:lnSpc>
              <a:spcBef>
                <a:spcPts val="0"/>
              </a:spcBef>
              <a:buNone/>
              <a:defRPr sz="1800" b="0" spc="0">
                <a:solidFill>
                  <a:srgbClr val="6F6F6F"/>
                </a:solidFill>
                <a:latin typeface="Arial"/>
              </a:defRPr>
            </a:lvl1pPr>
          </a:lstStyle>
          <a:p>
            <a:r>
              <a:rPr lang="en-GB"/>
              <a:t>Subtitle</a:t>
            </a:r>
          </a:p>
        </p:txBody>
      </p:sp>
      <p:sp>
        <p:nvSpPr>
          <p:cNvPr id="7" name="Citation"/>
          <p:cNvSpPr>
            <a:spLocks noGrp="1"/>
          </p:cNvSpPr>
          <p:nvPr>
            <p:ph type="body" sz="quarter" idx="16"/>
          </p:nvPr>
        </p:nvSpPr>
        <p:spPr>
          <a:xfrm>
            <a:off x="822960" y="5806440"/>
            <a:ext cx="10545775" cy="384048"/>
          </a:xfrm>
        </p:spPr>
        <p:txBody>
          <a:bodyPr lIns="0" tIns="0" rIns="0" bIns="0" anchor="b"/>
          <a:lstStyle>
            <a:lvl1pPr marL="0" indent="0" algn="l">
              <a:lnSpc>
                <a:spcPct val="100000"/>
              </a:lnSpc>
              <a:spcBef>
                <a:spcPts val="0"/>
              </a:spcBef>
              <a:buNone/>
              <a:defRPr sz="900" b="0" spc="0">
                <a:solidFill>
                  <a:srgbClr val="6F6F6F"/>
                </a:solidFill>
                <a:latin typeface="Arial"/>
              </a:defRPr>
            </a:lvl1pPr>
          </a:lstStyle>
          <a:p>
            <a:r>
              <a:rPr lang="en-GB"/>
              <a:t>Citation</a:t>
            </a: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End">
    <p:spTree>
      <p:nvGrpSpPr>
        <p:cNvPr id="1" name=""/>
        <p:cNvGrpSpPr/>
        <p:nvPr/>
      </p:nvGrpSpPr>
      <p:grpSpPr>
        <a:xfrm>
          <a:off x="0" y="0"/>
          <a:ext cx="0" cy="0"/>
          <a:chOff x="0" y="0"/>
          <a:chExt cx="0" cy="0"/>
        </a:xfrm>
      </p:grpSpPr>
      <p:sp>
        <p:nvSpPr>
          <p:cNvPr id="2" name="Title 1"/>
          <p:cNvSpPr>
            <a:spLocks noGrp="1"/>
          </p:cNvSpPr>
          <p:nvPr>
            <p:ph type="title"/>
          </p:nvPr>
        </p:nvSpPr>
        <p:spPr>
          <a:xfrm>
            <a:off x="822960" y="2011680"/>
            <a:ext cx="10545775" cy="1188720"/>
          </a:xfrm>
        </p:spPr>
        <p:txBody>
          <a:bodyPr lIns="0" tIns="0" rIns="0" bIns="0" anchor="b"/>
          <a:lstStyle>
            <a:lvl1pPr marL="0" indent="0" algn="ctr">
              <a:spcBef>
                <a:spcPts val="0"/>
              </a:spcBef>
              <a:buNone/>
              <a:defRPr sz="6000" b="1" spc="-100">
                <a:solidFill>
                  <a:srgbClr val="0A0A0A"/>
                </a:solidFill>
                <a:latin typeface="Arial"/>
              </a:defRPr>
            </a:lvl1pPr>
          </a:lstStyle>
          <a:p>
            <a:r>
              <a:rPr lang="en-US" smtClean="0"/>
              <a:t>Click to edit Master title style</a:t>
            </a:r>
            <a:endParaRPr lang="en-US"/>
          </a:p>
        </p:txBody>
      </p:sp>
      <p:sp>
        <p:nvSpPr>
          <p:cNvPr id="3" name="Text Placeholder 2"/>
          <p:cNvSpPr>
            <a:spLocks noGrp="1"/>
          </p:cNvSpPr>
          <p:nvPr>
            <p:ph type="body" idx="1"/>
          </p:nvPr>
        </p:nvSpPr>
        <p:spPr>
          <a:xfrm>
            <a:off x="822960" y="3383280"/>
            <a:ext cx="10545775" cy="1097280"/>
          </a:xfrm>
        </p:spPr>
        <p:txBody>
          <a:bodyPr anchor="t" lIns="0" tIns="0" rIns="0" bIns="0"/>
          <a:lstStyle>
            <a:lvl1pPr marL="0" indent="0" algn="ctr">
              <a:spcBef>
                <a:spcPts val="0"/>
              </a:spcBef>
              <a:buNone/>
              <a:defRPr sz="2200" b="0" spc="0">
                <a:solidFill>
                  <a:srgbClr val="6F6F6F"/>
                </a:solidFill>
                <a:latin typeface="Arial"/>
              </a:defRPr>
            </a:lvl1pPr>
            <a:lvl2pPr marL="0" indent="0" algn="ctr">
              <a:spcBef>
                <a:spcPts val="1400"/>
              </a:spcBef>
              <a:buNone/>
              <a:defRPr sz="1100" b="1" spc="300" cap="all">
                <a:solidFill>
                  <a:srgbClr val="0A0A0A"/>
                </a:solidFill>
                <a:latin typeface="Arial"/>
              </a:defRPr>
            </a:lvl2pPr>
          </a:lstStyle>
          <a:p>
            <a:pPr lvl="0"/>
            <a:r>
              <a:rPr lang="en-US" smtClean="0"/>
              <a:t>Click to edit Master text styles</a:t>
            </a:r>
          </a:p>
        </p:txBody>
      </p:sp>
      <p:pic>
        <p:nvPicPr>
          <p:cNvPr id="4" name="Logo uni-freiburg-wordmark" descr="Logo uni-freiburg-wordmark"/>
          <p:cNvPicPr>
            <a:picLocks noChangeAspect="1"/>
          </p:cNvPicPr>
          <p:nvPr/>
        </p:nvPicPr>
        <p:blipFill>
          <a:blip r:embed="rId2"/>
          <a:stretch>
            <a:fillRect/>
          </a:stretch>
        </p:blipFill>
        <p:spPr>
          <a:xfrm>
            <a:off x="4543532" y="5319064"/>
            <a:ext cx="1985285" cy="243230"/>
          </a:xfrm>
          <a:prstGeom prst="rect">
            <a:avLst/>
          </a:prstGeom>
        </p:spPr>
      </p:pic>
      <p:pic>
        <p:nvPicPr>
          <p:cNvPr id="5" name="Logo enzymeml-logo" descr="Logo enzymeml-logo"/>
          <p:cNvPicPr>
            <a:picLocks noChangeAspect="1"/>
          </p:cNvPicPr>
          <p:nvPr/>
        </p:nvPicPr>
        <p:blipFill>
          <a:blip r:embed="rId3"/>
          <a:stretch>
            <a:fillRect/>
          </a:stretch>
        </p:blipFill>
        <p:spPr>
          <a:xfrm>
            <a:off x="6880862" y="5120640"/>
            <a:ext cx="767300" cy="640080"/>
          </a:xfrm>
          <a:prstGeom prst="rect">
            <a:avLst/>
          </a:prstGeom>
        </p:spPr>
      </p:pic>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22960" y="822960"/>
            <a:ext cx="10545775" cy="548640"/>
          </a:xfrm>
        </p:spPr>
        <p:txBody>
          <a:bodyPr lIns="0" tIns="0" rIns="0" bIns="0" anchor="t"/>
          <a:lstStyle/>
          <a:p>
            <a:r>
              <a:rPr lang="en-US" smtClean="0"/>
              <a:t>Click to edit Master title style</a:t>
            </a:r>
            <a:endParaRPr lang="en-US"/>
          </a:p>
        </p:txBody>
      </p:sp>
      <p:sp>
        <p:nvSpPr>
          <p:cNvPr id="3" name="Kicker"/>
          <p:cNvSpPr>
            <a:spLocks noGrp="1"/>
          </p:cNvSpPr>
          <p:nvPr>
            <p:ph type="body" sz="quarter" idx="13"/>
          </p:nvPr>
        </p:nvSpPr>
        <p:spPr>
          <a:xfrm>
            <a:off x="822960" y="502920"/>
            <a:ext cx="10545775" cy="274320"/>
          </a:xfrm>
        </p:spPr>
        <p:txBody>
          <a:bodyPr lIns="0" tIns="0" rIns="0" bIns="0" anchor="b"/>
          <a:lstStyle>
            <a:lvl1pPr marL="0" indent="0" algn="l">
              <a:spcBef>
                <a:spcPts val="0"/>
              </a:spcBef>
              <a:buNone/>
              <a:defRPr sz="1100" b="1" spc="300" cap="all">
                <a:solidFill>
                  <a:srgbClr val="6F6F6F"/>
                </a:solidFill>
                <a:latin typeface="Arial"/>
              </a:defRPr>
            </a:lvl1pPr>
          </a:lstStyle>
          <a:p>
            <a:r>
              <a:rPr lang="en-GB"/>
              <a:t>Kicker</a:t>
            </a:r>
          </a:p>
        </p:txBody>
      </p:sp>
      <p:sp>
        <p:nvSpPr>
          <p:cNvPr id="4" name="Subtitle"/>
          <p:cNvSpPr>
            <a:spLocks noGrp="1"/>
          </p:cNvSpPr>
          <p:nvPr>
            <p:ph type="body" sz="quarter" idx="15"/>
          </p:nvPr>
        </p:nvSpPr>
        <p:spPr>
          <a:xfrm>
            <a:off x="822960" y="1371600"/>
            <a:ext cx="10545775" cy="548640"/>
          </a:xfrm>
        </p:spPr>
        <p:txBody>
          <a:bodyPr lIns="0" tIns="0" rIns="0" bIns="0" anchor="t"/>
          <a:lstStyle>
            <a:lvl1pPr marL="0" indent="0" algn="l">
              <a:lnSpc>
                <a:spcPct val="100000"/>
              </a:lnSpc>
              <a:spcBef>
                <a:spcPts val="0"/>
              </a:spcBef>
              <a:buNone/>
              <a:defRPr sz="1800" b="0" spc="0">
                <a:solidFill>
                  <a:srgbClr val="6F6F6F"/>
                </a:solidFill>
                <a:latin typeface="Arial"/>
              </a:defRPr>
            </a:lvl1pPr>
          </a:lstStyle>
          <a:p>
            <a:r>
              <a:rPr lang="en-GB"/>
              <a:t>Subtitle</a:t>
            </a:r>
          </a:p>
        </p:txBody>
      </p:sp>
      <p:sp>
        <p:nvSpPr>
          <p:cNvPr id="5" name="Citation"/>
          <p:cNvSpPr>
            <a:spLocks noGrp="1"/>
          </p:cNvSpPr>
          <p:nvPr>
            <p:ph type="body" sz="quarter" idx="16"/>
          </p:nvPr>
        </p:nvSpPr>
        <p:spPr>
          <a:xfrm>
            <a:off x="822960" y="5806440"/>
            <a:ext cx="10545775" cy="384048"/>
          </a:xfrm>
        </p:spPr>
        <p:txBody>
          <a:bodyPr lIns="0" tIns="0" rIns="0" bIns="0" anchor="b"/>
          <a:lstStyle>
            <a:lvl1pPr marL="0" indent="0" algn="l">
              <a:lnSpc>
                <a:spcPct val="100000"/>
              </a:lnSpc>
              <a:spcBef>
                <a:spcPts val="0"/>
              </a:spcBef>
              <a:buNone/>
              <a:defRPr sz="900" b="0" spc="0">
                <a:solidFill>
                  <a:srgbClr val="6F6F6F"/>
                </a:solidFill>
                <a:latin typeface="Arial"/>
              </a:defRPr>
            </a:lvl1pPr>
          </a:lstStyle>
          <a:p>
            <a:r>
              <a:rPr lang="en-GB"/>
              <a:t>Citation</a:t>
            </a: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Citation"/>
          <p:cNvSpPr>
            <a:spLocks noGrp="1"/>
          </p:cNvSpPr>
          <p:nvPr>
            <p:ph type="body" sz="quarter" idx="16"/>
          </p:nvPr>
        </p:nvSpPr>
        <p:spPr>
          <a:xfrm>
            <a:off x="822960" y="5806440"/>
            <a:ext cx="10545775" cy="384048"/>
          </a:xfrm>
        </p:spPr>
        <p:txBody>
          <a:bodyPr lIns="0" tIns="0" rIns="0" bIns="0" anchor="b"/>
          <a:lstStyle>
            <a:lvl1pPr marL="0" indent="0" algn="l">
              <a:lnSpc>
                <a:spcPct val="100000"/>
              </a:lnSpc>
              <a:spcBef>
                <a:spcPts val="0"/>
              </a:spcBef>
              <a:buNone/>
              <a:defRPr sz="900" b="0" spc="0">
                <a:solidFill>
                  <a:srgbClr val="6F6F6F"/>
                </a:solidFill>
                <a:latin typeface="Arial"/>
              </a:defRPr>
            </a:lvl1pPr>
          </a:lstStyle>
          <a:p>
            <a:r>
              <a:rPr lang="en-GB"/>
              <a:t>Citation</a:t>
            </a:r>
          </a:p>
        </p:txBody>
      </p:sp>
    </p:spTree>
    <p:extLst>
      <p:ext uri="{BB962C8B-B14F-4D97-AF65-F5344CB8AC3E}">
        <p14:creationId xmlns:p14="http://schemas.microsoft.com/office/powerpoint/2010/main" val="12129998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Figure">
    <p:spTree>
      <p:nvGrpSpPr>
        <p:cNvPr id="1" name=""/>
        <p:cNvGrpSpPr/>
        <p:nvPr/>
      </p:nvGrpSpPr>
      <p:grpSpPr>
        <a:xfrm>
          <a:off x="0" y="0"/>
          <a:ext cx="0" cy="0"/>
          <a:chOff x="0" y="0"/>
          <a:chExt cx="0" cy="0"/>
        </a:xfrm>
      </p:grpSpPr>
      <p:sp>
        <p:nvSpPr>
          <p:cNvPr id="2" name="Title 1"/>
          <p:cNvSpPr>
            <a:spLocks noGrp="1"/>
          </p:cNvSpPr>
          <p:nvPr>
            <p:ph type="title"/>
          </p:nvPr>
        </p:nvSpPr>
        <p:spPr>
          <a:xfrm>
            <a:off x="822960" y="822960"/>
            <a:ext cx="10545775" cy="548640"/>
          </a:xfrm>
        </p:spPr>
        <p:txBody>
          <a:bodyPr anchor="t" lIns="0" tIns="0" rIns="0" bIns="0"/>
          <a:lstStyle/>
          <a:p>
            <a:r>
              <a:rPr lang="en-US" smtClean="0"/>
              <a:t>Click to edit Master title style</a:t>
            </a:r>
            <a:endParaRPr lang="en-US"/>
          </a:p>
        </p:txBody>
      </p:sp>
      <p:sp>
        <p:nvSpPr>
          <p:cNvPr id="3" name="Picture Placeholder 2"/>
          <p:cNvSpPr>
            <a:spLocks noGrp="1"/>
          </p:cNvSpPr>
          <p:nvPr>
            <p:ph type="pic" idx="1"/>
          </p:nvPr>
        </p:nvSpPr>
        <p:spPr>
          <a:xfrm>
            <a:off x="822960" y="2011680"/>
            <a:ext cx="10545775" cy="3200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22960" y="5303520"/>
            <a:ext cx="10545775" cy="457200"/>
          </a:xfrm>
        </p:spPr>
        <p:txBody>
          <a:bodyPr lIns="0" tIns="0" rIns="0" bIns="0" anchor="t"/>
          <a:lstStyle>
            <a:lvl1pPr marL="274320" indent="-274320" algn="l">
              <a:spcBef>
                <a:spcPts val="200"/>
              </a:spcBef>
              <a:buFont typeface="Arial"/>
              <a:buChar char="•"/>
              <a:defRPr sz="1400" b="0" spc="0">
                <a:solidFill>
                  <a:srgbClr val="0A0A0A"/>
                </a:solidFill>
                <a:latin typeface="Arial"/>
              </a:defRPr>
            </a:lvl1pPr>
          </a:lstStyle>
          <a:p>
            <a:pPr lvl="0"/>
            <a:r>
              <a:rPr lang="en-US" smtClean="0"/>
              <a:t>Click to edit Master text styles</a:t>
            </a:r>
          </a:p>
        </p:txBody>
      </p:sp>
      <p:sp>
        <p:nvSpPr>
          <p:cNvPr id="5" name="Kicker"/>
          <p:cNvSpPr>
            <a:spLocks noGrp="1"/>
          </p:cNvSpPr>
          <p:nvPr>
            <p:ph type="body" sz="quarter" idx="13"/>
          </p:nvPr>
        </p:nvSpPr>
        <p:spPr>
          <a:xfrm>
            <a:off x="822960" y="502920"/>
            <a:ext cx="10545775" cy="274320"/>
          </a:xfrm>
        </p:spPr>
        <p:txBody>
          <a:bodyPr lIns="0" tIns="0" rIns="0" bIns="0" anchor="b"/>
          <a:lstStyle>
            <a:lvl1pPr marL="0" indent="0" algn="l">
              <a:spcBef>
                <a:spcPts val="0"/>
              </a:spcBef>
              <a:buNone/>
              <a:defRPr sz="1100" b="1" spc="300" cap="all">
                <a:solidFill>
                  <a:srgbClr val="6F6F6F"/>
                </a:solidFill>
                <a:latin typeface="Arial"/>
              </a:defRPr>
            </a:lvl1pPr>
          </a:lstStyle>
          <a:p>
            <a:r>
              <a:rPr lang="en-GB"/>
              <a:t>Kicker</a:t>
            </a:r>
          </a:p>
        </p:txBody>
      </p:sp>
      <p:sp>
        <p:nvSpPr>
          <p:cNvPr id="6" name="Subtitle"/>
          <p:cNvSpPr>
            <a:spLocks noGrp="1"/>
          </p:cNvSpPr>
          <p:nvPr>
            <p:ph type="body" sz="quarter" idx="15"/>
          </p:nvPr>
        </p:nvSpPr>
        <p:spPr>
          <a:xfrm>
            <a:off x="822960" y="1371600"/>
            <a:ext cx="10545775" cy="548640"/>
          </a:xfrm>
        </p:spPr>
        <p:txBody>
          <a:bodyPr lIns="0" tIns="0" rIns="0" bIns="0" anchor="t"/>
          <a:lstStyle>
            <a:lvl1pPr marL="0" indent="0" algn="l">
              <a:lnSpc>
                <a:spcPct val="100000"/>
              </a:lnSpc>
              <a:spcBef>
                <a:spcPts val="0"/>
              </a:spcBef>
              <a:buNone/>
              <a:defRPr sz="1800" b="0" spc="0">
                <a:solidFill>
                  <a:srgbClr val="6F6F6F"/>
                </a:solidFill>
                <a:latin typeface="Arial"/>
              </a:defRPr>
            </a:lvl1pPr>
          </a:lstStyle>
          <a:p>
            <a:r>
              <a:rPr lang="en-GB"/>
              <a:t>Subtitle</a:t>
            </a:r>
          </a:p>
        </p:txBody>
      </p:sp>
      <p:sp>
        <p:nvSpPr>
          <p:cNvPr id="7" name="Citation"/>
          <p:cNvSpPr>
            <a:spLocks noGrp="1"/>
          </p:cNvSpPr>
          <p:nvPr>
            <p:ph type="body" sz="quarter" idx="16"/>
          </p:nvPr>
        </p:nvSpPr>
        <p:spPr>
          <a:xfrm>
            <a:off x="822960" y="5806440"/>
            <a:ext cx="10545775" cy="384048"/>
          </a:xfrm>
        </p:spPr>
        <p:txBody>
          <a:bodyPr lIns="0" tIns="0" rIns="0" bIns="0" anchor="b"/>
          <a:lstStyle>
            <a:lvl1pPr marL="0" indent="0" algn="l">
              <a:lnSpc>
                <a:spcPct val="100000"/>
              </a:lnSpc>
              <a:spcBef>
                <a:spcPts val="0"/>
              </a:spcBef>
              <a:buNone/>
              <a:defRPr sz="900" b="0" spc="0">
                <a:solidFill>
                  <a:srgbClr val="6F6F6F"/>
                </a:solidFill>
                <a:latin typeface="Arial"/>
              </a:defRPr>
            </a:lvl1pPr>
          </a:lstStyle>
          <a:p>
            <a:r>
              <a:rPr lang="en-GB"/>
              <a:t>Citation</a:t>
            </a:r>
          </a:p>
        </p:txBody>
      </p:sp>
    </p:spTree>
    <p:extLst>
      <p:ext uri="{BB962C8B-B14F-4D97-AF65-F5344CB8AC3E}">
        <p14:creationId xmlns:p14="http://schemas.microsoft.com/office/powerpoint/2010/main" val="388923693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9" Type="http://schemas.openxmlformats.org/officeDocument/2006/relationships/slideLayout" Target="../slideLayouts/slideLayout9.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22960" y="822960"/>
            <a:ext cx="10545775" cy="822960"/>
          </a:xfrm>
          <a:prstGeom prst="rect">
            <a:avLst/>
          </a:prstGeom>
        </p:spPr>
        <p:txBody>
          <a:bodyPr vert="horz" lIns="0" tIns="0" rIns="0" bIns="0" rtlCol="0" anchor="t">
            <a:normAutofit/>
          </a:bodyPr>
          <a:lstStyle/>
          <a:p>
            <a:r>
              <a:rPr lang="en-US" smtClean="0"/>
              <a:t>Click to edit Master title style</a:t>
            </a:r>
            <a:endParaRPr lang="en-US"/>
          </a:p>
        </p:txBody>
      </p:sp>
      <p:sp>
        <p:nvSpPr>
          <p:cNvPr id="3" name="Text Placeholder 2"/>
          <p:cNvSpPr>
            <a:spLocks noGrp="1"/>
          </p:cNvSpPr>
          <p:nvPr>
            <p:ph type="body" idx="1"/>
          </p:nvPr>
        </p:nvSpPr>
        <p:spPr>
          <a:xfrm>
            <a:off x="822960" y="2011680"/>
            <a:ext cx="10545775" cy="3749039"/>
          </a:xfrm>
          <a:prstGeom prst="rect">
            <a:avLst/>
          </a:prstGeom>
        </p:spPr>
        <p:txBody>
          <a:bodyPr vert="horz" lIns="0" tIns="0" rIns="0" bIns="0" rtlCol="0"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pic>
        <p:nvPicPr>
          <p:cNvPr id="4" name="Logo uni-freiburg-wordmark" descr="Logo uni-freiburg-wordmark"/>
          <p:cNvPicPr>
            <a:picLocks noChangeAspect="1"/>
          </p:cNvPicPr>
          <p:nvPr/>
        </p:nvPicPr>
        <p:blipFill>
          <a:blip r:embed="rId13"/>
          <a:stretch>
            <a:fillRect/>
          </a:stretch>
        </p:blipFill>
        <p:spPr>
          <a:xfrm>
            <a:off x="822960" y="6397873"/>
            <a:ext cx="794114" cy="97292"/>
          </a:xfrm>
          <a:prstGeom prst="rect">
            <a:avLst/>
          </a:prstGeom>
        </p:spPr>
      </p:pic>
      <p:pic>
        <p:nvPicPr>
          <p:cNvPr id="5" name="Logo enzymeml-logo" descr="Logo enzymeml-logo"/>
          <p:cNvPicPr>
            <a:picLocks noChangeAspect="1"/>
          </p:cNvPicPr>
          <p:nvPr/>
        </p:nvPicPr>
        <p:blipFill>
          <a:blip r:embed="rId14"/>
          <a:stretch>
            <a:fillRect/>
          </a:stretch>
        </p:blipFill>
        <p:spPr>
          <a:xfrm>
            <a:off x="1757891" y="6318504"/>
            <a:ext cx="306920" cy="256032"/>
          </a:xfrm>
          <a:prstGeom prst="rect">
            <a:avLst/>
          </a:prstGeom>
        </p:spPr>
      </p:pic>
      <p:sp>
        <p:nvSpPr>
          <p:cNvPr id="6" name="Footer text"/>
          <p:cNvSpPr txBox="1"/>
          <p:nvPr userDrawn="1"/>
        </p:nvSpPr>
        <p:spPr>
          <a:xfrm>
            <a:off x="2339132" y="6309360"/>
            <a:ext cx="4572000" cy="274320"/>
          </a:xfrm>
          <a:prstGeom prst="rect">
            <a:avLst/>
          </a:prstGeom>
          <a:noFill/>
        </p:spPr>
        <p:txBody>
          <a:bodyPr wrap="none" lIns="0" tIns="0" rIns="0" bIns="0" anchor="ctr"/>
          <a:lstStyle/>
          <a:p>
            <a:pPr algn="l"/>
            <a:r>
              <a:rPr lang="en-GB" sz="900" b="0" spc="40">
                <a:solidFill>
                  <a:srgbClr val="6F6F6F"/>
                </a:solidFill>
                <a:latin typeface="Arial"/>
              </a:rPr>
              <a:t>7th EnzymeML Workshop · Rüdesheim 2026</a:t>
            </a:r>
          </a:p>
        </p:txBody>
      </p:sp>
      <p:sp>
        <p:nvSpPr>
          <p:cNvPr id="7" name="Slide number"/>
          <p:cNvSpPr txBox="1"/>
          <p:nvPr userDrawn="1"/>
        </p:nvSpPr>
        <p:spPr>
          <a:xfrm>
            <a:off x="10454335" y="6309360"/>
            <a:ext cx="914400" cy="274320"/>
          </a:xfrm>
          <a:prstGeom prst="rect">
            <a:avLst/>
          </a:prstGeom>
          <a:noFill/>
        </p:spPr>
        <p:txBody>
          <a:bodyPr wrap="none" lIns="0" tIns="0" rIns="0" bIns="0" anchor="ctr"/>
          <a:lstStyle/>
          <a:p>
            <a:pPr algn="r"/>
            <a:fld id="{B6F15528-21DE-4FAA-801E-634DDDAF4B2B}" type="slidenum">
              <a:rPr lang="en-GB" sz="900" b="1" spc="0">
                <a:solidFill>
                  <a:srgbClr val="0A0A0A"/>
                </a:solidFill>
                <a:latin typeface="Arial"/>
              </a:rPr>
              <a:t>‹#›</a:t>
            </a:fld>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1" r:id="rId3"/>
    <p:sldLayoutId id="2147483650" r:id="rId2"/>
    <p:sldLayoutId id="2147483657" r:id="rId9"/>
    <p:sldLayoutId id="2147483652" r:id="rId4"/>
    <p:sldLayoutId id="2147483654" r:id="rId6"/>
    <p:sldLayoutId id="2147483655" r:id="rId7"/>
    <p:sldLayoutId id="2147483653" r:id="rId5"/>
  </p:sldLayoutIdLst>
  <p:txStyles>
    <p:titleStyle>
      <a:lvl1pPr marL="0" indent="0" algn="l">
        <a:lnSpc>
          <a:spcPct val="92000"/>
        </a:lnSpc>
        <a:spcBef>
          <a:spcPts val="0"/>
        </a:spcBef>
        <a:buNone/>
        <a:defRPr sz="3400" b="1" spc="-60">
          <a:solidFill>
            <a:srgbClr val="0A0A0A"/>
          </a:solidFill>
          <a:latin typeface="Arial"/>
        </a:defRPr>
      </a:lvl1pPr>
    </p:titleStyle>
    <p:bodyStyle>
      <a:lvl1pPr marL="274320" indent="-274320" algn="l">
        <a:lnSpc>
          <a:spcPct val="105000"/>
        </a:lnSpc>
        <a:spcBef>
          <a:spcPts val="1000"/>
        </a:spcBef>
        <a:buFont typeface="Arial"/>
        <a:buChar char="•"/>
        <a:defRPr sz="2000" b="0" spc="0">
          <a:solidFill>
            <a:srgbClr val="0A0A0A"/>
          </a:solidFill>
          <a:latin typeface="Arial"/>
        </a:defRPr>
      </a:lvl1pPr>
      <a:lvl2pPr marL="548640" indent="-274320" algn="l">
        <a:spcBef>
          <a:spcPts val="600"/>
        </a:spcBef>
        <a:buFont typeface="Arial"/>
        <a:buChar char="•"/>
        <a:defRPr sz="1600" b="0" spc="0">
          <a:solidFill>
            <a:srgbClr val="6F6F6F"/>
          </a:solidFill>
          <a:latin typeface="Arial"/>
        </a:defRPr>
      </a:lvl2pPr>
      <a:lvl3pPr marL="822959" indent="-274320" algn="l">
        <a:spcBef>
          <a:spcPts val="400"/>
        </a:spcBef>
        <a:buFont typeface="Arial"/>
        <a:buChar char="•"/>
        <a:defRPr sz="1400" b="0" spc="0">
          <a:solidFill>
            <a:srgbClr val="6F6F6F"/>
          </a:solidFill>
          <a:latin typeface="Arial"/>
        </a:defRPr>
      </a:lvl3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7.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a:t>From measurement to kinetic modelling</a:t>
            </a:r>
          </a:p>
        </p:txBody>
      </p:sp>
      <p:sp>
        <p:nvSpPr>
          <p:cNvPr id="3" name="Subtitle 2"/>
          <p:cNvSpPr>
            <a:spLocks noGrp="1"/>
          </p:cNvSpPr>
          <p:nvPr>
            <p:ph type="subTitle" idx="1"/>
          </p:nvPr>
        </p:nvSpPr>
        <p:spPr/>
        <p:txBody>
          <a:bodyPr/>
          <a:lstStyle/>
          <a:p>
            <a:r>
              <a:t>Max Häußler</a:t>
            </a:r>
          </a:p>
          <a:p>
            <a:pPr lvl="1"/>
            <a:r>
              <a:t>University of Freiburg</a:t>
            </a:r>
          </a:p>
        </p:txBody>
      </p:sp>
      <p:sp>
        <p:nvSpPr>
          <p:cNvPr id="4" name="Text Placeholder 3"/>
          <p:cNvSpPr>
            <a:spLocks noGrp="1"/>
          </p:cNvSpPr>
          <p:nvPr>
            <p:ph type="body" idx="13" sz="quarter"/>
          </p:nvPr>
        </p:nvSpPr>
        <p:spPr/>
        <p:txBody>
          <a:bodyPr/>
          <a:lstStyle/>
          <a:p>
            <a:r>
              <a:rPr/>
              <a:t>7th EnzymeML Workshop · Rüdesheim · Hands-on session 2 · 16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Last year the code was the hurdle</a:t>
            </a:r>
          </a:p>
        </p:txBody>
      </p:sp>
      <p:sp>
        <p:nvSpPr>
          <p:cNvPr id="4" name="Text Placeholder 3"/>
          <p:cNvSpPr>
            <a:spLocks noGrp="1"/>
          </p:cNvSpPr>
          <p:nvPr>
            <p:ph type="body" idx="2" sz="half"/>
          </p:nvPr>
        </p:nvSpPr>
        <p:spPr>
          <a:xfrm>
            <a:off x="822960" y="4114800"/>
            <a:ext cx="10545775" cy="1188720"/>
          </a:xfrm>
        </p:spPr>
        <p:txBody>
          <a:bodyPr/>
          <a:lstStyle/>
          <a:p>
            <a:r>
              <a:rPr/>
              <a:t>Failing installs and unfamiliar code: a hurdle for everyone who does not code daily</a:t>
            </a:r>
          </a:p>
          <a:p>
            <a:r>
              <a:rPr/>
              <a:t>So the data stayed unstructured, and the contemporary methods out of reach</a:t>
            </a:r>
          </a:p>
          <a:p>
            <a:r>
              <a:rPr b="1"/>
              <a:t>Since then: </a:t>
            </a:r>
            <a:r>
              <a:rPr/>
              <a:t>the models got better, and so did the harnesses that let them run tools</a:t>
            </a:r>
          </a:p>
        </p:txBody>
      </p:sp>
      <p:sp>
        <p:nvSpPr>
          <p:cNvPr id="5" name="Text Placeholder 4"/>
          <p:cNvSpPr>
            <a:spLocks noGrp="1"/>
          </p:cNvSpPr>
          <p:nvPr>
            <p:ph type="body" idx="13" sz="quarter"/>
          </p:nvPr>
        </p:nvSpPr>
        <p:spPr/>
        <p:txBody>
          <a:bodyPr/>
          <a:lstStyle/>
          <a:p>
            <a:r>
              <a:rPr/>
              <a:t>Looking back</a:t>
            </a:r>
          </a:p>
        </p:txBody>
      </p:sp>
      <p:sp>
        <p:nvSpPr>
          <p:cNvPr id="6" name="Text Placeholder 5"/>
          <p:cNvSpPr>
            <a:spLocks noGrp="1"/>
          </p:cNvSpPr>
          <p:nvPr>
            <p:ph type="body" idx="15" sz="quarter"/>
          </p:nvPr>
        </p:nvSpPr>
        <p:spPr/>
        <p:txBody>
          <a:bodyPr/>
          <a:lstStyle/>
          <a:p>
            <a:r>
              <a:rPr/>
              <a:t>Previous hands-on sessions: we installed, read the docs and wrote the analysis code ourselves</a:t>
            </a:r>
          </a:p>
        </p:txBody>
      </p:sp>
      <p:sp>
        <p:nvSpPr>
          <p:cNvPr id="8" name="Rounded Rectangle 7"/>
          <p:cNvSpPr/>
          <p:nvPr/>
        </p:nvSpPr>
        <p:spPr>
          <a:xfrm>
            <a:off x="822960" y="2377440"/>
            <a:ext cx="1691640" cy="1051560"/>
          </a:xfrm>
          <a:prstGeom prst="roundRect">
            <a:avLst>
              <a:gd name="adj" fmla="val 12000"/>
            </a:avLst>
          </a:prstGeom>
          <a:no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0A0A0A"/>
                </a:solidFill>
              </a:rPr>
              <a:t>Install</a:t>
            </a:r>
          </a:p>
          <a:p>
            <a:pPr algn="ctr"/>
            <a:r>
              <a:rPr sz="1100">
                <a:solidFill>
                  <a:srgbClr val="6F6F6F"/>
                </a:solidFill>
              </a:rPr>
              <a:t>Python, packages, a working environment</a:t>
            </a:r>
          </a:p>
        </p:txBody>
      </p:sp>
      <p:sp>
        <p:nvSpPr>
          <p:cNvPr id="9" name="Rounded Rectangle 8"/>
          <p:cNvSpPr/>
          <p:nvPr/>
        </p:nvSpPr>
        <p:spPr>
          <a:xfrm>
            <a:off x="3035808" y="2377440"/>
            <a:ext cx="1691640" cy="1051560"/>
          </a:xfrm>
          <a:prstGeom prst="roundRect">
            <a:avLst>
              <a:gd name="adj" fmla="val 12000"/>
            </a:avLst>
          </a:prstGeom>
          <a:no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0A0A0A"/>
                </a:solidFill>
              </a:rPr>
              <a:t>Read the docs</a:t>
            </a:r>
          </a:p>
          <a:p>
            <a:pPr algn="ctr"/>
            <a:r>
              <a:rPr sz="1100">
                <a:solidFill>
                  <a:srgbClr val="6F6F6F"/>
                </a:solidFill>
              </a:rPr>
              <a:t>how the tools are used</a:t>
            </a:r>
          </a:p>
        </p:txBody>
      </p:sp>
      <p:sp>
        <p:nvSpPr>
          <p:cNvPr id="10" name="Rounded Rectangle 9"/>
          <p:cNvSpPr/>
          <p:nvPr/>
        </p:nvSpPr>
        <p:spPr>
          <a:xfrm>
            <a:off x="5248656" y="2377440"/>
            <a:ext cx="1691640" cy="1051560"/>
          </a:xfrm>
          <a:prstGeom prst="roundRect">
            <a:avLst>
              <a:gd name="adj" fmla="val 12000"/>
            </a:avLst>
          </a:prstGeom>
          <a:no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0A0A0A"/>
                </a:solidFill>
              </a:rPr>
              <a:t>Write the code</a:t>
            </a:r>
          </a:p>
          <a:p>
            <a:pPr algn="ctr"/>
            <a:r>
              <a:rPr sz="1100">
                <a:solidFill>
                  <a:srgbClr val="6F6F6F"/>
                </a:solidFill>
              </a:rPr>
              <a:t>Python, by hand, for your data</a:t>
            </a:r>
          </a:p>
        </p:txBody>
      </p:sp>
      <p:sp>
        <p:nvSpPr>
          <p:cNvPr id="11" name="Rounded Rectangle 10"/>
          <p:cNvSpPr/>
          <p:nvPr/>
        </p:nvSpPr>
        <p:spPr>
          <a:xfrm>
            <a:off x="7461504" y="2377440"/>
            <a:ext cx="1691640" cy="1051560"/>
          </a:xfrm>
          <a:prstGeom prst="roundRect">
            <a:avLst>
              <a:gd name="adj" fmla="val 12000"/>
            </a:avLst>
          </a:prstGeom>
          <a:no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0A0A0A"/>
                </a:solidFill>
              </a:rPr>
              <a:t>Debug, repeat</a:t>
            </a:r>
          </a:p>
          <a:p>
            <a:pPr algn="ctr"/>
            <a:r>
              <a:rPr sz="1100">
                <a:solidFill>
                  <a:srgbClr val="6F6F6F"/>
                </a:solidFill>
              </a:rPr>
              <a:t>errors, versions, time</a:t>
            </a:r>
          </a:p>
        </p:txBody>
      </p:sp>
      <p:sp>
        <p:nvSpPr>
          <p:cNvPr id="12" name="Rounded Rectangle 11"/>
          <p:cNvSpPr/>
          <p:nvPr/>
        </p:nvSpPr>
        <p:spPr>
          <a:xfrm>
            <a:off x="9674352" y="2377440"/>
            <a:ext cx="1691640" cy="1051560"/>
          </a:xfrm>
          <a:prstGeom prst="roundRect">
            <a:avLst>
              <a:gd name="adj" fmla="val 12000"/>
            </a:avLst>
          </a:prstGeom>
          <a:no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0A0A0A"/>
                </a:solidFill>
              </a:rPr>
              <a:t>Your analysis</a:t>
            </a:r>
          </a:p>
          <a:p>
            <a:pPr algn="ctr"/>
            <a:r>
              <a:rPr sz="1100">
                <a:solidFill>
                  <a:srgbClr val="6F6F6F"/>
                </a:solidFill>
              </a:rPr>
              <a:t>structured data, a kinetic model</a:t>
            </a:r>
          </a:p>
        </p:txBody>
      </p:sp>
      <p:cxnSp>
        <p:nvCxnSpPr>
          <p:cNvPr id="13" name="Connector 12"/>
          <p:cNvCxnSpPr/>
          <p:nvPr/>
        </p:nvCxnSpPr>
        <p:spPr>
          <a:xfrm>
            <a:off x="2569464" y="2903220"/>
            <a:ext cx="411480" cy="0"/>
          </a:xfrm>
          <a:prstGeom prst="line">
            <a:avLst/>
          </a:prstGeom>
          <a:ln w="15875">
            <a:solidFill>
              <a:srgbClr val="0A0A0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782312" y="2903220"/>
            <a:ext cx="411480" cy="0"/>
          </a:xfrm>
          <a:prstGeom prst="line">
            <a:avLst/>
          </a:prstGeom>
          <a:ln w="15875">
            <a:solidFill>
              <a:srgbClr val="0A0A0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995159" y="2903220"/>
            <a:ext cx="411481" cy="0"/>
          </a:xfrm>
          <a:prstGeom prst="line">
            <a:avLst/>
          </a:prstGeom>
          <a:ln w="15875">
            <a:solidFill>
              <a:srgbClr val="0A0A0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208008" y="2903220"/>
            <a:ext cx="411480" cy="0"/>
          </a:xfrm>
          <a:prstGeom prst="line">
            <a:avLst/>
          </a:prstGeom>
          <a:ln w="15875">
            <a:solidFill>
              <a:srgbClr val="0A0A0A"/>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From 23 to 53 in one year</a:t>
            </a:r>
          </a:p>
        </p:txBody>
      </p:sp>
      <p:sp>
        <p:nvSpPr>
          <p:cNvPr id="4" name="Text Placeholder 3"/>
          <p:cNvSpPr>
            <a:spLocks noGrp="1"/>
          </p:cNvSpPr>
          <p:nvPr>
            <p:ph type="body" idx="2" sz="half"/>
          </p:nvPr>
        </p:nvSpPr>
        <p:spPr>
          <a:xfrm>
            <a:off x="7302137" y="2103120"/>
            <a:ext cx="4066598" cy="3657599"/>
          </a:xfrm>
        </p:spPr>
        <p:txBody>
          <a:bodyPr/>
          <a:lstStyle/>
          <a:p>
            <a:r>
              <a:rPr sz="1600"/>
              <a:t>The Intelligence Index is an independent score from 0 to 100 that combines many tests of knowledge, reasoning, coding and agentic work, with every model tested the same way.</a:t>
            </a:r>
          </a:p>
          <a:p>
            <a:r>
              <a:rPr sz="1600"/>
              <a:t>Shown are the flagship models of Anthropic and OpenAI that anyone can use, each at its strongest public setting.</a:t>
            </a:r>
          </a:p>
        </p:txBody>
      </p:sp>
      <p:sp>
        <p:nvSpPr>
          <p:cNvPr id="5" name="Text Placeholder 4"/>
          <p:cNvSpPr>
            <a:spLocks noGrp="1"/>
          </p:cNvSpPr>
          <p:nvPr>
            <p:ph type="body" idx="13" sz="quarter"/>
          </p:nvPr>
        </p:nvSpPr>
        <p:spPr/>
        <p:txBody>
          <a:bodyPr/>
          <a:lstStyle/>
          <a:p>
            <a:r>
              <a:rPr/>
              <a:t>Language models since the last workshop</a:t>
            </a:r>
          </a:p>
        </p:txBody>
      </p:sp>
      <p:sp>
        <p:nvSpPr>
          <p:cNvPr id="6" name="Text Placeholder 5"/>
          <p:cNvSpPr>
            <a:spLocks noGrp="1"/>
          </p:cNvSpPr>
          <p:nvPr>
            <p:ph type="body" idx="15" sz="quarter"/>
          </p:nvPr>
        </p:nvSpPr>
        <p:spPr/>
        <p:txBody>
          <a:bodyPr/>
          <a:lstStyle/>
          <a:p>
            <a:r>
              <a:rPr/>
              <a:t>The two labs traded the lead several times; the biggest single step was Fable 5 in June 2026</a:t>
            </a:r>
          </a:p>
        </p:txBody>
      </p:sp>
      <p:sp>
        <p:nvSpPr>
          <p:cNvPr id="7" name="Text Placeholder 6"/>
          <p:cNvSpPr>
            <a:spLocks noGrp="1"/>
          </p:cNvSpPr>
          <p:nvPr>
            <p:ph type="body" idx="16" sz="quarter"/>
          </p:nvPr>
        </p:nvSpPr>
        <p:spPr/>
        <p:txBody>
          <a:bodyPr/>
          <a:lstStyle/>
          <a:p>
            <a:r>
              <a:rPr/>
              <a:t>Artificial Analysis Intelligence Index v4.3, artificialanalysis.ai; release dates from the vendors</a:t>
            </a:r>
          </a:p>
        </p:txBody>
      </p:sp>
      <p:pic>
        <p:nvPicPr>
          <p:cNvPr id="8" name="Picture 7" descr="llm_timeline.png"/>
          <p:cNvPicPr>
            <a:picLocks noChangeAspect="1"/>
          </p:cNvPicPr>
          <p:nvPr/>
        </p:nvPicPr>
        <p:blipFill>
          <a:blip r:embed="rId3"/>
          <a:stretch>
            <a:fillRect/>
          </a:stretch>
        </p:blipFill>
        <p:spPr>
          <a:xfrm>
            <a:off x="822960" y="2011680"/>
            <a:ext cx="6159137" cy="374903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The assistant types, you decide</a:t>
            </a:r>
          </a:p>
        </p:txBody>
      </p:sp>
      <p:sp>
        <p:nvSpPr>
          <p:cNvPr id="3" name="Content Placeholder 2"/>
          <p:cNvSpPr>
            <a:spLocks noGrp="1"/>
          </p:cNvSpPr>
          <p:nvPr>
            <p:ph idx="1"/>
          </p:nvPr>
        </p:nvSpPr>
        <p:spPr/>
        <p:txBody>
          <a:bodyPr/>
          <a:lstStyle/>
          <a:p>
            <a:r>
              <a:rPr/>
              <a:t>Today's models write correct code against our Python APIs from a one-page card</a:t>
            </a:r>
          </a:p>
          <a:p>
            <a:r>
              <a:rPr/>
              <a:t>They do not know where the peak is, which model is right, when a result is wrong</a:t>
            </a:r>
          </a:p>
          <a:p>
            <a:r>
              <a:rPr/>
              <a:t>So the scientist decides and checks; the assistant executes</a:t>
            </a:r>
          </a:p>
          <a:p>
            <a:r>
              <a:rPr/>
              <a:t>EnzymeML is the document that travels between the steps and the tools</a:t>
            </a:r>
          </a:p>
        </p:txBody>
      </p:sp>
      <p:sp>
        <p:nvSpPr>
          <p:cNvPr id="4" name="Text Placeholder 3"/>
          <p:cNvSpPr>
            <a:spLocks noGrp="1"/>
          </p:cNvSpPr>
          <p:nvPr>
            <p:ph type="body" idx="13" sz="quarter"/>
          </p:nvPr>
        </p:nvSpPr>
        <p:spPr/>
        <p:txBody>
          <a:bodyPr/>
          <a:lstStyle/>
          <a:p>
            <a:r>
              <a:rPr/>
              <a:t>Motivation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Tools act, skills instruct, you decide</a:t>
            </a:r>
          </a:p>
        </p:txBody>
      </p:sp>
      <p:sp>
        <p:nvSpPr>
          <p:cNvPr id="4" name="Text Placeholder 3"/>
          <p:cNvSpPr>
            <a:spLocks noGrp="1"/>
          </p:cNvSpPr>
          <p:nvPr>
            <p:ph type="body" idx="2" sz="half"/>
          </p:nvPr>
        </p:nvSpPr>
        <p:spPr>
          <a:xfrm>
            <a:off x="822960" y="5166360"/>
            <a:ext cx="10545775" cy="365760"/>
          </a:xfrm>
        </p:spPr>
        <p:txBody>
          <a:bodyPr/>
          <a:lstStyle/>
          <a:p>
            <a:r>
              <a:rPr/>
              <a:t>Tools let the model read the data and run code; skills tell it how our libraries turn data into insight</a:t>
            </a:r>
          </a:p>
        </p:txBody>
      </p:sp>
      <p:sp>
        <p:nvSpPr>
          <p:cNvPr id="5" name="Text Placeholder 4"/>
          <p:cNvSpPr>
            <a:spLocks noGrp="1"/>
          </p:cNvSpPr>
          <p:nvPr>
            <p:ph type="body" idx="13" sz="quarter"/>
          </p:nvPr>
        </p:nvSpPr>
        <p:spPr/>
        <p:txBody>
          <a:bodyPr/>
          <a:lstStyle/>
          <a:p>
            <a:r>
              <a:rPr/>
              <a:t>Concept</a:t>
            </a:r>
          </a:p>
        </p:txBody>
      </p:sp>
      <p:sp>
        <p:nvSpPr>
          <p:cNvPr id="8" name="Rounded Rectangle 7"/>
          <p:cNvSpPr/>
          <p:nvPr/>
        </p:nvSpPr>
        <p:spPr>
          <a:xfrm>
            <a:off x="4572000" y="3246120"/>
            <a:ext cx="2743200" cy="1005840"/>
          </a:xfrm>
          <a:prstGeom prst="roundRect">
            <a:avLst>
              <a:gd name="adj" fmla="val 12000"/>
            </a:avLst>
          </a:prstGeom>
          <a:no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0A0A0A"/>
                </a:solidFill>
              </a:rPr>
              <a:t>Language model</a:t>
            </a:r>
          </a:p>
          <a:p>
            <a:pPr algn="ctr"/>
            <a:r>
              <a:rPr sz="1100">
                <a:solidFill>
                  <a:srgbClr val="6F6F6F"/>
                </a:solidFill>
              </a:rPr>
              <a:t>ChatGPT, Claude, Gemini, …</a:t>
            </a:r>
          </a:p>
        </p:txBody>
      </p:sp>
      <p:sp>
        <p:nvSpPr>
          <p:cNvPr id="9" name="Rounded Rectangle 8"/>
          <p:cNvSpPr/>
          <p:nvPr/>
        </p:nvSpPr>
        <p:spPr>
          <a:xfrm>
            <a:off x="4084624" y="1691640"/>
            <a:ext cx="4023360" cy="731520"/>
          </a:xfrm>
          <a:prstGeom prst="roundRect">
            <a:avLst>
              <a:gd name="adj" fmla="val 12000"/>
            </a:avLst>
          </a:prstGeom>
          <a:no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0A0A0A"/>
                </a:solidFill>
              </a:rPr>
              <a:t>You</a:t>
            </a:r>
          </a:p>
          <a:p>
            <a:pPr algn="ctr"/>
            <a:r>
              <a:rPr sz="1100">
                <a:solidFill>
                  <a:srgbClr val="6F6F6F"/>
                </a:solidFill>
              </a:rPr>
              <a:t>the task, the decisions, the checks</a:t>
            </a:r>
          </a:p>
        </p:txBody>
      </p:sp>
      <p:cxnSp>
        <p:nvCxnSpPr>
          <p:cNvPr id="10" name="Connector 9"/>
          <p:cNvCxnSpPr/>
          <p:nvPr/>
        </p:nvCxnSpPr>
        <p:spPr>
          <a:xfrm>
            <a:off x="5639104" y="2478024"/>
            <a:ext cx="0" cy="713232"/>
          </a:xfrm>
          <a:prstGeom prst="line">
            <a:avLst/>
          </a:prstGeom>
          <a:ln w="15875">
            <a:solidFill>
              <a:srgbClr val="0A0A0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892040" y="2697480"/>
            <a:ext cx="685800" cy="228600"/>
          </a:xfrm>
          <a:prstGeom prst="rect">
            <a:avLst/>
          </a:prstGeom>
          <a:noFill/>
        </p:spPr>
        <p:txBody>
          <a:bodyPr wrap="square" lIns="0" rIns="0" tIns="0" bIns="0">
            <a:spAutoFit/>
          </a:bodyPr>
          <a:lstStyle/>
          <a:p>
            <a:pPr algn="ctr"/>
            <a:r>
              <a:rPr sz="1200">
                <a:solidFill>
                  <a:srgbClr val="6F6F6F"/>
                </a:solidFill>
              </a:rPr>
              <a:t>task</a:t>
            </a:r>
          </a:p>
        </p:txBody>
      </p:sp>
      <p:cxnSp>
        <p:nvCxnSpPr>
          <p:cNvPr id="12" name="Connector 11"/>
          <p:cNvCxnSpPr/>
          <p:nvPr/>
        </p:nvCxnSpPr>
        <p:spPr>
          <a:xfrm flipV="1">
            <a:off x="6553504" y="2478024"/>
            <a:ext cx="0" cy="713232"/>
          </a:xfrm>
          <a:prstGeom prst="line">
            <a:avLst/>
          </a:prstGeom>
          <a:ln w="15875">
            <a:solidFill>
              <a:srgbClr val="0A0A0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629400" y="2697480"/>
            <a:ext cx="822960" cy="228600"/>
          </a:xfrm>
          <a:prstGeom prst="rect">
            <a:avLst/>
          </a:prstGeom>
          <a:noFill/>
        </p:spPr>
        <p:txBody>
          <a:bodyPr wrap="square" lIns="0" rIns="0" tIns="0" bIns="0">
            <a:spAutoFit/>
          </a:bodyPr>
          <a:lstStyle/>
          <a:p>
            <a:pPr algn="ctr"/>
            <a:r>
              <a:rPr sz="1200">
                <a:solidFill>
                  <a:srgbClr val="6F6F6F"/>
                </a:solidFill>
              </a:rPr>
              <a:t>results</a:t>
            </a:r>
          </a:p>
        </p:txBody>
      </p:sp>
      <p:sp>
        <p:nvSpPr>
          <p:cNvPr id="14" name="TextBox 13"/>
          <p:cNvSpPr txBox="1"/>
          <p:nvPr/>
        </p:nvSpPr>
        <p:spPr>
          <a:xfrm>
            <a:off x="822960" y="2331720"/>
            <a:ext cx="2103120" cy="274320"/>
          </a:xfrm>
          <a:prstGeom prst="rect">
            <a:avLst/>
          </a:prstGeom>
          <a:noFill/>
        </p:spPr>
        <p:txBody>
          <a:bodyPr wrap="square" lIns="0" rIns="0" tIns="0" bIns="0">
            <a:spAutoFit/>
          </a:bodyPr>
          <a:lstStyle/>
          <a:p>
            <a:pPr algn="ctr"/>
            <a:r>
              <a:rPr sz="1200">
                <a:solidFill>
                  <a:srgbClr val="6F6F6F"/>
                </a:solidFill>
              </a:rPr>
              <a:t>Tools</a:t>
            </a:r>
          </a:p>
        </p:txBody>
      </p:sp>
      <p:sp>
        <p:nvSpPr>
          <p:cNvPr id="15" name="Rounded Rectangle 14"/>
          <p:cNvSpPr/>
          <p:nvPr/>
        </p:nvSpPr>
        <p:spPr>
          <a:xfrm>
            <a:off x="822960" y="2651760"/>
            <a:ext cx="2103120" cy="640080"/>
          </a:xfrm>
          <a:prstGeom prst="roundRect">
            <a:avLst>
              <a:gd name="adj" fmla="val 12000"/>
            </a:avLst>
          </a:prstGeom>
          <a:no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0A0A0A"/>
                </a:solidFill>
              </a:rPr>
              <a:t>read files</a:t>
            </a:r>
          </a:p>
        </p:txBody>
      </p:sp>
      <p:cxnSp>
        <p:nvCxnSpPr>
          <p:cNvPr id="16" name="Connector 15"/>
          <p:cNvCxnSpPr/>
          <p:nvPr/>
        </p:nvCxnSpPr>
        <p:spPr>
          <a:xfrm>
            <a:off x="2926079" y="2971800"/>
            <a:ext cx="365761" cy="0"/>
          </a:xfrm>
          <a:prstGeom prst="line">
            <a:avLst/>
          </a:prstGeom>
          <a:ln w="15875">
            <a:solidFill>
              <a:srgbClr val="0A0A0A"/>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22960" y="3429000"/>
            <a:ext cx="2103120" cy="640080"/>
          </a:xfrm>
          <a:prstGeom prst="roundRect">
            <a:avLst>
              <a:gd name="adj" fmla="val 12000"/>
            </a:avLst>
          </a:prstGeom>
          <a:no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0A0A0A"/>
                </a:solidFill>
              </a:rPr>
              <a:t>run Python</a:t>
            </a:r>
          </a:p>
        </p:txBody>
      </p:sp>
      <p:cxnSp>
        <p:nvCxnSpPr>
          <p:cNvPr id="18" name="Connector 17"/>
          <p:cNvCxnSpPr/>
          <p:nvPr/>
        </p:nvCxnSpPr>
        <p:spPr>
          <a:xfrm>
            <a:off x="2926079" y="3749039"/>
            <a:ext cx="365761" cy="0"/>
          </a:xfrm>
          <a:prstGeom prst="line">
            <a:avLst/>
          </a:prstGeom>
          <a:ln w="15875">
            <a:solidFill>
              <a:srgbClr val="0A0A0A"/>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22960" y="4206240"/>
            <a:ext cx="2103120" cy="640080"/>
          </a:xfrm>
          <a:prstGeom prst="roundRect">
            <a:avLst>
              <a:gd name="adj" fmla="val 12000"/>
            </a:avLst>
          </a:prstGeom>
          <a:no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0A0A0A"/>
                </a:solidFill>
              </a:rPr>
              <a:t>make plots</a:t>
            </a:r>
          </a:p>
        </p:txBody>
      </p:sp>
      <p:cxnSp>
        <p:nvCxnSpPr>
          <p:cNvPr id="20" name="Connector 19"/>
          <p:cNvCxnSpPr/>
          <p:nvPr/>
        </p:nvCxnSpPr>
        <p:spPr>
          <a:xfrm>
            <a:off x="2926079" y="4526279"/>
            <a:ext cx="365761" cy="0"/>
          </a:xfrm>
          <a:prstGeom prst="line">
            <a:avLst/>
          </a:prstGeom>
          <a:ln w="15875">
            <a:solidFill>
              <a:srgbClr val="0A0A0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291840" y="2971800"/>
            <a:ext cx="0" cy="1554479"/>
          </a:xfrm>
          <a:prstGeom prst="line">
            <a:avLst/>
          </a:prstGeom>
          <a:ln w="15875">
            <a:solidFill>
              <a:srgbClr val="0A0A0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3346704" y="3566160"/>
            <a:ext cx="1170432" cy="0"/>
          </a:xfrm>
          <a:prstGeom prst="line">
            <a:avLst/>
          </a:prstGeom>
          <a:ln w="15875">
            <a:solidFill>
              <a:srgbClr val="0A0A0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383280" y="3291840"/>
            <a:ext cx="1097280" cy="228600"/>
          </a:xfrm>
          <a:prstGeom prst="rect">
            <a:avLst/>
          </a:prstGeom>
          <a:noFill/>
        </p:spPr>
        <p:txBody>
          <a:bodyPr wrap="square" lIns="0" rIns="0" tIns="0" bIns="0">
            <a:spAutoFit/>
          </a:bodyPr>
          <a:lstStyle/>
          <a:p>
            <a:pPr algn="ctr"/>
            <a:r>
              <a:rPr sz="1200">
                <a:solidFill>
                  <a:srgbClr val="6F6F6F"/>
                </a:solidFill>
              </a:rPr>
              <a:t>actions</a:t>
            </a:r>
          </a:p>
        </p:txBody>
      </p:sp>
      <p:cxnSp>
        <p:nvCxnSpPr>
          <p:cNvPr id="24" name="Connector 23"/>
          <p:cNvCxnSpPr/>
          <p:nvPr/>
        </p:nvCxnSpPr>
        <p:spPr>
          <a:xfrm>
            <a:off x="3346704" y="3931920"/>
            <a:ext cx="1170432" cy="0"/>
          </a:xfrm>
          <a:prstGeom prst="line">
            <a:avLst/>
          </a:prstGeom>
          <a:ln w="15875">
            <a:solidFill>
              <a:srgbClr val="0A0A0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383280" y="3986784"/>
            <a:ext cx="1097280" cy="228600"/>
          </a:xfrm>
          <a:prstGeom prst="rect">
            <a:avLst/>
          </a:prstGeom>
          <a:noFill/>
        </p:spPr>
        <p:txBody>
          <a:bodyPr wrap="square" lIns="0" rIns="0" tIns="0" bIns="0">
            <a:spAutoFit/>
          </a:bodyPr>
          <a:lstStyle/>
          <a:p>
            <a:pPr algn="ctr"/>
            <a:r>
              <a:rPr sz="1200">
                <a:solidFill>
                  <a:srgbClr val="6F6F6F"/>
                </a:solidFill>
              </a:rPr>
              <a:t>results</a:t>
            </a:r>
          </a:p>
        </p:txBody>
      </p:sp>
      <p:sp>
        <p:nvSpPr>
          <p:cNvPr id="26" name="TextBox 25"/>
          <p:cNvSpPr txBox="1"/>
          <p:nvPr/>
        </p:nvSpPr>
        <p:spPr>
          <a:xfrm>
            <a:off x="8808415" y="2423160"/>
            <a:ext cx="2560320" cy="274320"/>
          </a:xfrm>
          <a:prstGeom prst="rect">
            <a:avLst/>
          </a:prstGeom>
          <a:noFill/>
        </p:spPr>
        <p:txBody>
          <a:bodyPr wrap="square" lIns="0" rIns="0" tIns="0" bIns="0">
            <a:spAutoFit/>
          </a:bodyPr>
          <a:lstStyle/>
          <a:p>
            <a:pPr algn="ctr"/>
            <a:r>
              <a:rPr sz="1200">
                <a:solidFill>
                  <a:srgbClr val="6F6F6F"/>
                </a:solidFill>
              </a:rPr>
              <a:t>Skills</a:t>
            </a:r>
          </a:p>
        </p:txBody>
      </p:sp>
      <p:sp>
        <p:nvSpPr>
          <p:cNvPr id="27" name="Rounded Rectangle 26"/>
          <p:cNvSpPr/>
          <p:nvPr/>
        </p:nvSpPr>
        <p:spPr>
          <a:xfrm>
            <a:off x="8808415" y="2743200"/>
            <a:ext cx="2560320" cy="914400"/>
          </a:xfrm>
          <a:prstGeom prst="roundRect">
            <a:avLst>
              <a:gd name="adj" fmla="val 12000"/>
            </a:avLst>
          </a:prstGeom>
          <a:no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0A0A0A"/>
                </a:solidFill>
              </a:rPr>
              <a:t>chromhandler.md</a:t>
            </a:r>
          </a:p>
          <a:p>
            <a:pPr algn="ctr"/>
            <a:r>
              <a:rPr sz="1100">
                <a:solidFill>
                  <a:srgbClr val="6F6F6F"/>
                </a:solidFill>
              </a:rPr>
              <a:t>peak tables → EnzymeML</a:t>
            </a:r>
          </a:p>
        </p:txBody>
      </p:sp>
      <p:cxnSp>
        <p:nvCxnSpPr>
          <p:cNvPr id="28" name="Connector 27"/>
          <p:cNvCxnSpPr/>
          <p:nvPr/>
        </p:nvCxnSpPr>
        <p:spPr>
          <a:xfrm flipH="1">
            <a:off x="8412480" y="3200400"/>
            <a:ext cx="395935" cy="0"/>
          </a:xfrm>
          <a:prstGeom prst="line">
            <a:avLst/>
          </a:prstGeom>
          <a:ln w="15875">
            <a:solidFill>
              <a:srgbClr val="0A0A0A"/>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808415" y="3840480"/>
            <a:ext cx="2560320" cy="914400"/>
          </a:xfrm>
          <a:prstGeom prst="roundRect">
            <a:avLst>
              <a:gd name="adj" fmla="val 12000"/>
            </a:avLst>
          </a:prstGeom>
          <a:no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0A0A0A"/>
                </a:solidFill>
              </a:rPr>
              <a:t>catalax.md</a:t>
            </a:r>
          </a:p>
          <a:p>
            <a:pPr algn="ctr"/>
            <a:r>
              <a:rPr sz="1100">
                <a:solidFill>
                  <a:srgbClr val="6F6F6F"/>
                </a:solidFill>
              </a:rPr>
              <a:t>EnzymeML → </a:t>
            </a:r>
            <a:r>
              <a:rPr i="1" sz="1100">
                <a:solidFill>
                  <a:srgbClr val="6F6F6F"/>
                </a:solidFill>
              </a:rPr>
              <a:t>k</a:t>
            </a:r>
            <a:r>
              <a:rPr sz="1100" baseline="-25000">
                <a:solidFill>
                  <a:srgbClr val="6F6F6F"/>
                </a:solidFill>
              </a:rPr>
              <a:t>cat</a:t>
            </a:r>
            <a:r>
              <a:rPr sz="1100">
                <a:solidFill>
                  <a:srgbClr val="6F6F6F"/>
                </a:solidFill>
              </a:rPr>
              <a:t>, </a:t>
            </a:r>
            <a:r>
              <a:rPr i="1" sz="1100">
                <a:solidFill>
                  <a:srgbClr val="6F6F6F"/>
                </a:solidFill>
              </a:rPr>
              <a:t>K</a:t>
            </a:r>
            <a:r>
              <a:rPr i="1" sz="1100" baseline="-25000">
                <a:solidFill>
                  <a:srgbClr val="6F6F6F"/>
                </a:solidFill>
              </a:rPr>
              <a:t>M</a:t>
            </a:r>
            <a:r>
              <a:rPr sz="1100">
                <a:solidFill>
                  <a:srgbClr val="6F6F6F"/>
                </a:solidFill>
              </a:rPr>
              <a:t> by Bayesian inference</a:t>
            </a:r>
          </a:p>
        </p:txBody>
      </p:sp>
      <p:cxnSp>
        <p:nvCxnSpPr>
          <p:cNvPr id="30" name="Connector 29"/>
          <p:cNvCxnSpPr/>
          <p:nvPr/>
        </p:nvCxnSpPr>
        <p:spPr>
          <a:xfrm flipH="1">
            <a:off x="8412480" y="4297680"/>
            <a:ext cx="395935" cy="0"/>
          </a:xfrm>
          <a:prstGeom prst="line">
            <a:avLst/>
          </a:prstGeom>
          <a:ln w="15875">
            <a:solidFill>
              <a:srgbClr val="0A0A0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12480" y="3200400"/>
            <a:ext cx="0" cy="1097280"/>
          </a:xfrm>
          <a:prstGeom prst="line">
            <a:avLst/>
          </a:prstGeom>
          <a:ln w="15875">
            <a:solidFill>
              <a:srgbClr val="0A0A0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7370064" y="3749039"/>
            <a:ext cx="987552" cy="0"/>
          </a:xfrm>
          <a:prstGeom prst="line">
            <a:avLst/>
          </a:prstGeom>
          <a:ln w="15875">
            <a:solidFill>
              <a:srgbClr val="0A0A0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60920" y="3474720"/>
            <a:ext cx="1005840" cy="228600"/>
          </a:xfrm>
          <a:prstGeom prst="rect">
            <a:avLst/>
          </a:prstGeom>
          <a:noFill/>
        </p:spPr>
        <p:txBody>
          <a:bodyPr wrap="square" lIns="0" rIns="0" tIns="0" bIns="0">
            <a:spAutoFit/>
          </a:bodyPr>
          <a:lstStyle/>
          <a:p>
            <a:pPr algn="ctr"/>
            <a:r>
              <a:rPr sz="1200">
                <a:solidFill>
                  <a:srgbClr val="6F6F6F"/>
                </a:solidFill>
              </a:rPr>
              <a:t>instructions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Two tasks, one document in between</a:t>
            </a:r>
          </a:p>
        </p:txBody>
      </p:sp>
      <p:sp>
        <p:nvSpPr>
          <p:cNvPr id="3" name="Text Placeholder 2"/>
          <p:cNvSpPr>
            <a:spLocks noGrp="1"/>
          </p:cNvSpPr>
          <p:nvPr>
            <p:ph type="body" idx="13" sz="quarter"/>
          </p:nvPr>
        </p:nvSpPr>
        <p:spPr/>
        <p:txBody>
          <a:bodyPr/>
          <a:lstStyle/>
          <a:p>
            <a:r>
              <a:rPr/>
              <a:t>Workflow</a:t>
            </a:r>
          </a:p>
        </p:txBody>
      </p:sp>
      <p:sp>
        <p:nvSpPr>
          <p:cNvPr id="4" name="Text Placeholder 3"/>
          <p:cNvSpPr>
            <a:spLocks noGrp="1"/>
          </p:cNvSpPr>
          <p:nvPr>
            <p:ph type="body" idx="15" sz="quarter"/>
          </p:nvPr>
        </p:nvSpPr>
        <p:spPr/>
        <p:txBody>
          <a:bodyPr/>
          <a:lstStyle/>
          <a:p>
            <a:r>
              <a:rPr/>
              <a:t>Task 1 ends with the EnzymeML document; task 2 starts from it</a:t>
            </a:r>
          </a:p>
        </p:txBody>
      </p:sp>
      <p:sp>
        <p:nvSpPr>
          <p:cNvPr id="6" name="Rounded Rectangle 5"/>
          <p:cNvSpPr/>
          <p:nvPr/>
        </p:nvSpPr>
        <p:spPr>
          <a:xfrm>
            <a:off x="822960" y="2468880"/>
            <a:ext cx="1691640" cy="1143000"/>
          </a:xfrm>
          <a:prstGeom prst="roundRect">
            <a:avLst>
              <a:gd name="adj" fmla="val 12000"/>
            </a:avLst>
          </a:prstGeom>
          <a:no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0A0A0A"/>
                </a:solidFill>
              </a:rPr>
              <a:t>Raw HPLC chromatograms</a:t>
            </a:r>
          </a:p>
          <a:p>
            <a:pPr algn="ctr"/>
            <a:r>
              <a:rPr sz="1100">
                <a:solidFill>
                  <a:srgbClr val="6F6F6F"/>
                </a:solidFill>
              </a:rPr>
              <a:t>24 reactions × 6 injections, 5 standards</a:t>
            </a:r>
          </a:p>
        </p:txBody>
      </p:sp>
      <p:sp>
        <p:nvSpPr>
          <p:cNvPr id="7" name="Rounded Rectangle 6"/>
          <p:cNvSpPr/>
          <p:nvPr/>
        </p:nvSpPr>
        <p:spPr>
          <a:xfrm>
            <a:off x="3035808" y="2468880"/>
            <a:ext cx="1691640" cy="1143000"/>
          </a:xfrm>
          <a:prstGeom prst="roundRect">
            <a:avLst>
              <a:gd name="adj" fmla="val 12000"/>
            </a:avLst>
          </a:prstGeom>
          <a:no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0A0A0A"/>
                </a:solidFill>
              </a:rPr>
              <a:t>Chromhandler</a:t>
            </a:r>
          </a:p>
          <a:p>
            <a:pPr algn="ctr"/>
            <a:r>
              <a:rPr sz="1100">
                <a:solidFill>
                  <a:srgbClr val="6F6F6F"/>
                </a:solidFill>
              </a:rPr>
              <a:t>peaks, calibration</a:t>
            </a:r>
          </a:p>
        </p:txBody>
      </p:sp>
      <p:sp>
        <p:nvSpPr>
          <p:cNvPr id="8" name="Rounded Rectangle 7"/>
          <p:cNvSpPr/>
          <p:nvPr/>
        </p:nvSpPr>
        <p:spPr>
          <a:xfrm>
            <a:off x="5248656" y="2468880"/>
            <a:ext cx="1691640" cy="1143000"/>
          </a:xfrm>
          <a:prstGeom prst="roundRect">
            <a:avLst>
              <a:gd name="adj" fmla="val 12000"/>
            </a:avLst>
          </a:prstGeom>
          <a:no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0A0A0A"/>
                </a:solidFill>
              </a:rPr>
              <a:t>EnzymeML document</a:t>
            </a:r>
          </a:p>
          <a:p>
            <a:pPr algn="ctr"/>
            <a:r>
              <a:rPr sz="1100">
                <a:solidFill>
                  <a:srgbClr val="6F6F6F"/>
                </a:solidFill>
              </a:rPr>
              <a:t>24 Neu5Ac time courses</a:t>
            </a:r>
          </a:p>
        </p:txBody>
      </p:sp>
      <p:sp>
        <p:nvSpPr>
          <p:cNvPr id="9" name="Rounded Rectangle 8"/>
          <p:cNvSpPr/>
          <p:nvPr/>
        </p:nvSpPr>
        <p:spPr>
          <a:xfrm>
            <a:off x="7461504" y="2468880"/>
            <a:ext cx="1691640" cy="1143000"/>
          </a:xfrm>
          <a:prstGeom prst="roundRect">
            <a:avLst>
              <a:gd name="adj" fmla="val 12000"/>
            </a:avLst>
          </a:prstGeom>
          <a:no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0A0A0A"/>
                </a:solidFill>
              </a:rPr>
              <a:t>Catalax</a:t>
            </a:r>
          </a:p>
          <a:p>
            <a:pPr algn="ctr"/>
            <a:r>
              <a:rPr sz="1100">
                <a:solidFill>
                  <a:srgbClr val="6F6F6F"/>
                </a:solidFill>
              </a:rPr>
              <a:t>ODE model, Bayesian inference</a:t>
            </a:r>
          </a:p>
        </p:txBody>
      </p:sp>
      <p:sp>
        <p:nvSpPr>
          <p:cNvPr id="10" name="Rounded Rectangle 9"/>
          <p:cNvSpPr/>
          <p:nvPr/>
        </p:nvSpPr>
        <p:spPr>
          <a:xfrm>
            <a:off x="9674352" y="2468880"/>
            <a:ext cx="1691640" cy="1143000"/>
          </a:xfrm>
          <a:prstGeom prst="roundRect">
            <a:avLst>
              <a:gd name="adj" fmla="val 12000"/>
            </a:avLst>
          </a:prstGeom>
          <a:no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i="1" sz="1400">
                <a:solidFill>
                  <a:srgbClr val="0A0A0A"/>
                </a:solidFill>
              </a:rPr>
              <a:t>k</a:t>
            </a:r>
            <a:r>
              <a:rPr b="1" sz="1400" baseline="-25000">
                <a:solidFill>
                  <a:srgbClr val="0A0A0A"/>
                </a:solidFill>
              </a:rPr>
              <a:t>cat</a:t>
            </a:r>
            <a:r>
              <a:rPr b="1" sz="1400">
                <a:solidFill>
                  <a:srgbClr val="0A0A0A"/>
                </a:solidFill>
              </a:rPr>
              <a:t>, </a:t>
            </a:r>
            <a:r>
              <a:rPr b="1" i="1" sz="1400">
                <a:solidFill>
                  <a:srgbClr val="0A0A0A"/>
                </a:solidFill>
              </a:rPr>
              <a:t>K</a:t>
            </a:r>
            <a:r>
              <a:rPr b="1" i="1" sz="1400" baseline="-25000">
                <a:solidFill>
                  <a:srgbClr val="0A0A0A"/>
                </a:solidFill>
              </a:rPr>
              <a:t>M</a:t>
            </a:r>
            <a:r>
              <a:rPr b="1" sz="1400" baseline="30000">
                <a:solidFill>
                  <a:srgbClr val="0A0A0A"/>
                </a:solidFill>
              </a:rPr>
              <a:t>ManNAc</a:t>
            </a:r>
            <a:r>
              <a:rPr b="1" sz="1400">
                <a:solidFill>
                  <a:srgbClr val="0A0A0A"/>
                </a:solidFill>
              </a:rPr>
              <a:t>, </a:t>
            </a:r>
            <a:r>
              <a:rPr b="1" i="1" sz="1400">
                <a:solidFill>
                  <a:srgbClr val="0A0A0A"/>
                </a:solidFill>
              </a:rPr>
              <a:t>K</a:t>
            </a:r>
            <a:r>
              <a:rPr b="1" i="1" sz="1400" baseline="-25000">
                <a:solidFill>
                  <a:srgbClr val="0A0A0A"/>
                </a:solidFill>
              </a:rPr>
              <a:t>M</a:t>
            </a:r>
            <a:r>
              <a:rPr b="1" sz="1400" baseline="30000">
                <a:solidFill>
                  <a:srgbClr val="0A0A0A"/>
                </a:solidFill>
              </a:rPr>
              <a:t>PEP</a:t>
            </a:r>
          </a:p>
          <a:p>
            <a:pPr algn="ctr"/>
            <a:r>
              <a:rPr sz="1100">
                <a:solidFill>
                  <a:srgbClr val="6F6F6F"/>
                </a:solidFill>
              </a:rPr>
              <a:t>posterior distributions</a:t>
            </a:r>
          </a:p>
        </p:txBody>
      </p:sp>
      <p:cxnSp>
        <p:nvCxnSpPr>
          <p:cNvPr id="11" name="Connector 10"/>
          <p:cNvCxnSpPr/>
          <p:nvPr/>
        </p:nvCxnSpPr>
        <p:spPr>
          <a:xfrm>
            <a:off x="2569464" y="3040380"/>
            <a:ext cx="411480" cy="0"/>
          </a:xfrm>
          <a:prstGeom prst="line">
            <a:avLst/>
          </a:prstGeom>
          <a:ln w="15875">
            <a:solidFill>
              <a:srgbClr val="0A0A0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782312" y="3040380"/>
            <a:ext cx="411480" cy="0"/>
          </a:xfrm>
          <a:prstGeom prst="line">
            <a:avLst/>
          </a:prstGeom>
          <a:ln w="15875">
            <a:solidFill>
              <a:srgbClr val="0A0A0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995159" y="3040380"/>
            <a:ext cx="411481" cy="0"/>
          </a:xfrm>
          <a:prstGeom prst="line">
            <a:avLst/>
          </a:prstGeom>
          <a:ln w="15875">
            <a:solidFill>
              <a:srgbClr val="0A0A0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208008" y="3040380"/>
            <a:ext cx="411480" cy="0"/>
          </a:xfrm>
          <a:prstGeom prst="line">
            <a:avLst/>
          </a:prstGeom>
          <a:ln w="15875">
            <a:solidFill>
              <a:srgbClr val="0A0A0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22960" y="4023360"/>
            <a:ext cx="6117336" cy="0"/>
          </a:xfrm>
          <a:prstGeom prst="line">
            <a:avLst/>
          </a:prstGeom>
          <a:ln w="15875">
            <a:solidFill>
              <a:srgbClr val="0A0A0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22960" y="3913632"/>
            <a:ext cx="0" cy="109728"/>
          </a:xfrm>
          <a:prstGeom prst="line">
            <a:avLst/>
          </a:prstGeom>
          <a:ln w="15875">
            <a:solidFill>
              <a:srgbClr val="0A0A0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940296" y="3913632"/>
            <a:ext cx="0" cy="109728"/>
          </a:xfrm>
          <a:prstGeom prst="line">
            <a:avLst/>
          </a:prstGeom>
          <a:ln w="15875">
            <a:solidFill>
              <a:srgbClr val="0A0A0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22960" y="4096512"/>
            <a:ext cx="6117336" cy="274320"/>
          </a:xfrm>
          <a:prstGeom prst="rect">
            <a:avLst/>
          </a:prstGeom>
          <a:noFill/>
        </p:spPr>
        <p:txBody>
          <a:bodyPr wrap="square" lIns="0" rIns="0" tIns="0" bIns="0">
            <a:spAutoFit/>
          </a:bodyPr>
          <a:lstStyle/>
          <a:p>
            <a:pPr algn="ctr"/>
            <a:r>
              <a:rPr sz="1200">
                <a:solidFill>
                  <a:srgbClr val="0A0A0A"/>
                </a:solidFill>
              </a:rPr>
              <a:t>Task 1 · chromatograms to EnzymeML</a:t>
            </a:r>
          </a:p>
        </p:txBody>
      </p:sp>
      <p:cxnSp>
        <p:nvCxnSpPr>
          <p:cNvPr id="19" name="Connector 18"/>
          <p:cNvCxnSpPr/>
          <p:nvPr/>
        </p:nvCxnSpPr>
        <p:spPr>
          <a:xfrm>
            <a:off x="5248656" y="4709160"/>
            <a:ext cx="6117336" cy="0"/>
          </a:xfrm>
          <a:prstGeom prst="line">
            <a:avLst/>
          </a:prstGeom>
          <a:ln w="15875">
            <a:solidFill>
              <a:srgbClr val="0A0A0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248656" y="4599432"/>
            <a:ext cx="0" cy="109728"/>
          </a:xfrm>
          <a:prstGeom prst="line">
            <a:avLst/>
          </a:prstGeom>
          <a:ln w="15875">
            <a:solidFill>
              <a:srgbClr val="0A0A0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1365992" y="4599432"/>
            <a:ext cx="0" cy="109728"/>
          </a:xfrm>
          <a:prstGeom prst="line">
            <a:avLst/>
          </a:prstGeom>
          <a:ln w="15875">
            <a:solidFill>
              <a:srgbClr val="0A0A0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248656" y="4782312"/>
            <a:ext cx="6117336" cy="274320"/>
          </a:xfrm>
          <a:prstGeom prst="rect">
            <a:avLst/>
          </a:prstGeom>
          <a:noFill/>
        </p:spPr>
        <p:txBody>
          <a:bodyPr wrap="square" lIns="0" rIns="0" tIns="0" bIns="0">
            <a:spAutoFit/>
          </a:bodyPr>
          <a:lstStyle/>
          <a:p>
            <a:pPr algn="ctr"/>
            <a:r>
              <a:rPr sz="1200">
                <a:solidFill>
                  <a:srgbClr val="0A0A0A"/>
                </a:solidFill>
              </a:rPr>
              <a:t>Task 2 · EnzymeML to </a:t>
            </a:r>
            <a:r>
              <a:rPr i="1" sz="1200">
                <a:solidFill>
                  <a:srgbClr val="0A0A0A"/>
                </a:solidFill>
              </a:rPr>
              <a:t>k</a:t>
            </a:r>
            <a:r>
              <a:rPr sz="1200" baseline="-25000">
                <a:solidFill>
                  <a:srgbClr val="0A0A0A"/>
                </a:solidFill>
              </a:rPr>
              <a:t>cat</a:t>
            </a:r>
            <a:r>
              <a:rPr sz="1200">
                <a:solidFill>
                  <a:srgbClr val="0A0A0A"/>
                </a:solidFill>
              </a:rPr>
              <a:t> and </a:t>
            </a:r>
            <a:r>
              <a:rPr i="1" sz="1200">
                <a:solidFill>
                  <a:srgbClr val="0A0A0A"/>
                </a:solidFill>
              </a:rPr>
              <a:t>K</a:t>
            </a:r>
            <a:r>
              <a:rPr i="1" sz="1200" baseline="-25000">
                <a:solidFill>
                  <a:srgbClr val="0A0A0A"/>
                </a:solidFill>
              </a:rPr>
              <a:t>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Chromhandler: from peak tables to concentrations</a:t>
            </a:r>
          </a:p>
        </p:txBody>
      </p:sp>
      <p:sp>
        <p:nvSpPr>
          <p:cNvPr id="3" name="Text Placeholder 2"/>
          <p:cNvSpPr>
            <a:spLocks noGrp="1"/>
          </p:cNvSpPr>
          <p:nvPr>
            <p:ph type="body" idx="13" sz="quarter"/>
          </p:nvPr>
        </p:nvSpPr>
        <p:spPr/>
        <p:txBody>
          <a:bodyPr/>
          <a:lstStyle/>
          <a:p>
            <a:r>
              <a:rPr/>
              <a:t>Tool 1 · Chromhandler</a:t>
            </a:r>
          </a:p>
        </p:txBody>
      </p:sp>
      <p:sp>
        <p:nvSpPr>
          <p:cNvPr id="4" name="Text Placeholder 3"/>
          <p:cNvSpPr>
            <a:spLocks noGrp="1"/>
          </p:cNvSpPr>
          <p:nvPr>
            <p:ph type="body" idx="15" sz="quarter"/>
          </p:nvPr>
        </p:nvSpPr>
        <p:spPr/>
        <p:txBody>
          <a:bodyPr/>
          <a:lstStyle/>
          <a:p>
            <a:r>
              <a:rPr/>
              <a:t>Reads the instrument's exports, assigns and calibrates one peak per compound, writes EnzymeML</a:t>
            </a:r>
          </a:p>
        </p:txBody>
      </p:sp>
      <p:sp>
        <p:nvSpPr>
          <p:cNvPr id="6" name="TextBox 5"/>
          <p:cNvSpPr txBox="1"/>
          <p:nvPr/>
        </p:nvSpPr>
        <p:spPr>
          <a:xfrm>
            <a:off x="822960" y="2057400"/>
            <a:ext cx="2743200" cy="274320"/>
          </a:xfrm>
          <a:prstGeom prst="rect">
            <a:avLst/>
          </a:prstGeom>
          <a:noFill/>
        </p:spPr>
        <p:txBody>
          <a:bodyPr wrap="square" lIns="0" rIns="0" tIns="0" bIns="0">
            <a:spAutoFit/>
          </a:bodyPr>
          <a:lstStyle/>
          <a:p>
            <a:pPr algn="ctr"/>
            <a:r>
              <a:rPr sz="1200">
                <a:solidFill>
                  <a:srgbClr val="6F6F6F"/>
                </a:solidFill>
              </a:rPr>
              <a:t>Input</a:t>
            </a:r>
          </a:p>
        </p:txBody>
      </p:sp>
      <p:sp>
        <p:nvSpPr>
          <p:cNvPr id="7" name="TextBox 6"/>
          <p:cNvSpPr txBox="1"/>
          <p:nvPr/>
        </p:nvSpPr>
        <p:spPr>
          <a:xfrm>
            <a:off x="4087368" y="2057400"/>
            <a:ext cx="4023360" cy="274320"/>
          </a:xfrm>
          <a:prstGeom prst="rect">
            <a:avLst/>
          </a:prstGeom>
          <a:noFill/>
        </p:spPr>
        <p:txBody>
          <a:bodyPr wrap="square" lIns="0" rIns="0" tIns="0" bIns="0">
            <a:spAutoFit/>
          </a:bodyPr>
          <a:lstStyle/>
          <a:p>
            <a:pPr algn="ctr"/>
            <a:r>
              <a:rPr sz="1200">
                <a:solidFill>
                  <a:srgbClr val="6F6F6F"/>
                </a:solidFill>
              </a:rPr>
              <a:t>Steps</a:t>
            </a:r>
          </a:p>
        </p:txBody>
      </p:sp>
      <p:sp>
        <p:nvSpPr>
          <p:cNvPr id="8" name="TextBox 7"/>
          <p:cNvSpPr txBox="1"/>
          <p:nvPr/>
        </p:nvSpPr>
        <p:spPr>
          <a:xfrm>
            <a:off x="8622792" y="2057400"/>
            <a:ext cx="2743200" cy="274320"/>
          </a:xfrm>
          <a:prstGeom prst="rect">
            <a:avLst/>
          </a:prstGeom>
          <a:noFill/>
        </p:spPr>
        <p:txBody>
          <a:bodyPr wrap="square" lIns="0" rIns="0" tIns="0" bIns="0">
            <a:spAutoFit/>
          </a:bodyPr>
          <a:lstStyle/>
          <a:p>
            <a:pPr algn="ctr"/>
            <a:r>
              <a:rPr sz="1200">
                <a:solidFill>
                  <a:srgbClr val="6F6F6F"/>
                </a:solidFill>
              </a:rPr>
              <a:t>Output</a:t>
            </a:r>
          </a:p>
        </p:txBody>
      </p:sp>
      <p:sp>
        <p:nvSpPr>
          <p:cNvPr id="9" name="Rounded Rectangle 8"/>
          <p:cNvSpPr/>
          <p:nvPr/>
        </p:nvSpPr>
        <p:spPr>
          <a:xfrm>
            <a:off x="822960" y="2377440"/>
            <a:ext cx="2743200" cy="685800"/>
          </a:xfrm>
          <a:prstGeom prst="roundRect">
            <a:avLst>
              <a:gd name="adj" fmla="val 12000"/>
            </a:avLst>
          </a:prstGeom>
          <a:no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0A0A0A"/>
                </a:solidFill>
              </a:rPr>
              <a:t>Peak tables</a:t>
            </a:r>
          </a:p>
          <a:p>
            <a:pPr algn="ctr"/>
            <a:r>
              <a:rPr sz="1100">
                <a:solidFill>
                  <a:srgbClr val="6F6F6F"/>
                </a:solidFill>
              </a:rPr>
              <a:t>one export per injection, the time in the file name</a:t>
            </a:r>
          </a:p>
        </p:txBody>
      </p:sp>
      <p:cxnSp>
        <p:nvCxnSpPr>
          <p:cNvPr id="10" name="Connector 9"/>
          <p:cNvCxnSpPr/>
          <p:nvPr/>
        </p:nvCxnSpPr>
        <p:spPr>
          <a:xfrm>
            <a:off x="3566160" y="2720340"/>
            <a:ext cx="228600" cy="0"/>
          </a:xfrm>
          <a:prstGeom prst="line">
            <a:avLst/>
          </a:prstGeom>
          <a:ln w="15875">
            <a:solidFill>
              <a:srgbClr val="0A0A0A"/>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22960" y="3291840"/>
            <a:ext cx="2743200" cy="685800"/>
          </a:xfrm>
          <a:prstGeom prst="roundRect">
            <a:avLst>
              <a:gd name="adj" fmla="val 12000"/>
            </a:avLst>
          </a:prstGeom>
          <a:no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0A0A0A"/>
                </a:solidFill>
              </a:rPr>
              <a:t>Calibration standards</a:t>
            </a:r>
          </a:p>
          <a:p>
            <a:pPr algn="ctr"/>
            <a:r>
              <a:rPr sz="1100">
                <a:solidFill>
                  <a:srgbClr val="6F6F6F"/>
                </a:solidFill>
              </a:rPr>
              <a:t>exports with known concentrations</a:t>
            </a:r>
          </a:p>
        </p:txBody>
      </p:sp>
      <p:cxnSp>
        <p:nvCxnSpPr>
          <p:cNvPr id="12" name="Connector 11"/>
          <p:cNvCxnSpPr/>
          <p:nvPr/>
        </p:nvCxnSpPr>
        <p:spPr>
          <a:xfrm>
            <a:off x="3566160" y="3634740"/>
            <a:ext cx="228600" cy="0"/>
          </a:xfrm>
          <a:prstGeom prst="line">
            <a:avLst/>
          </a:prstGeom>
          <a:ln w="15875">
            <a:solidFill>
              <a:srgbClr val="0A0A0A"/>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22960" y="4206240"/>
            <a:ext cx="2743200" cy="685800"/>
          </a:xfrm>
          <a:prstGeom prst="roundRect">
            <a:avLst>
              <a:gd name="adj" fmla="val 12000"/>
            </a:avLst>
          </a:prstGeom>
          <a:no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0A0A0A"/>
                </a:solidFill>
              </a:rPr>
              <a:t>Initial concentrations</a:t>
            </a:r>
          </a:p>
          <a:p>
            <a:pPr algn="ctr"/>
            <a:r>
              <a:rPr sz="1100">
                <a:solidFill>
                  <a:srgbClr val="6F6F6F"/>
                </a:solidFill>
              </a:rPr>
              <a:t>what was in each reaction at t = 0</a:t>
            </a:r>
          </a:p>
        </p:txBody>
      </p:sp>
      <p:cxnSp>
        <p:nvCxnSpPr>
          <p:cNvPr id="14" name="Connector 13"/>
          <p:cNvCxnSpPr/>
          <p:nvPr/>
        </p:nvCxnSpPr>
        <p:spPr>
          <a:xfrm>
            <a:off x="3566160" y="4549140"/>
            <a:ext cx="228600" cy="0"/>
          </a:xfrm>
          <a:prstGeom prst="line">
            <a:avLst/>
          </a:prstGeom>
          <a:ln w="15875">
            <a:solidFill>
              <a:srgbClr val="0A0A0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794760" y="2642616"/>
            <a:ext cx="0" cy="1906524"/>
          </a:xfrm>
          <a:prstGeom prst="line">
            <a:avLst/>
          </a:prstGeom>
          <a:ln w="15875">
            <a:solidFill>
              <a:srgbClr val="0A0A0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794760" y="2642616"/>
            <a:ext cx="237744" cy="0"/>
          </a:xfrm>
          <a:prstGeom prst="line">
            <a:avLst/>
          </a:prstGeom>
          <a:ln w="15875">
            <a:solidFill>
              <a:srgbClr val="0A0A0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087368" y="2377440"/>
            <a:ext cx="4023360" cy="530352"/>
          </a:xfrm>
          <a:prstGeom prst="roundRect">
            <a:avLst>
              <a:gd name="adj" fmla="val 12000"/>
            </a:avLst>
          </a:prstGeom>
          <a:no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0A0A0A"/>
                </a:solidFill>
              </a:rPr>
              <a:t>Read the exports</a:t>
            </a:r>
          </a:p>
          <a:p>
            <a:pPr algn="ctr"/>
            <a:r>
              <a:rPr sz="1100">
                <a:solidFill>
                  <a:srgbClr val="6F6F6F"/>
                </a:solidFill>
              </a:rPr>
              <a:t>read_shimadzu, reaction or calibration mode</a:t>
            </a:r>
          </a:p>
        </p:txBody>
      </p:sp>
      <p:sp>
        <p:nvSpPr>
          <p:cNvPr id="18" name="Rounded Rectangle 17"/>
          <p:cNvSpPr/>
          <p:nvPr/>
        </p:nvSpPr>
        <p:spPr>
          <a:xfrm>
            <a:off x="4087368" y="3054096"/>
            <a:ext cx="4023360" cy="530352"/>
          </a:xfrm>
          <a:prstGeom prst="roundRect">
            <a:avLst>
              <a:gd name="adj" fmla="val 12000"/>
            </a:avLst>
          </a:prstGeom>
          <a:no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0A0A0A"/>
                </a:solidFill>
              </a:rPr>
              <a:t>Set the retention window</a:t>
            </a:r>
          </a:p>
          <a:p>
            <a:pPr algn="ctr"/>
            <a:r>
              <a:rPr sz="1100">
                <a:solidFill>
                  <a:srgbClr val="6F6F6F"/>
                </a:solidFill>
              </a:rPr>
              <a:t>your decision, per measurement session</a:t>
            </a:r>
          </a:p>
        </p:txBody>
      </p:sp>
      <p:sp>
        <p:nvSpPr>
          <p:cNvPr id="19" name="Rounded Rectangle 18"/>
          <p:cNvSpPr/>
          <p:nvPr/>
        </p:nvSpPr>
        <p:spPr>
          <a:xfrm>
            <a:off x="4087368" y="3730752"/>
            <a:ext cx="4023360" cy="530352"/>
          </a:xfrm>
          <a:prstGeom prst="roundRect">
            <a:avLst>
              <a:gd name="adj" fmla="val 12000"/>
            </a:avLst>
          </a:prstGeom>
          <a:no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0A0A0A"/>
                </a:solidFill>
              </a:rPr>
              <a:t>Assign the peak</a:t>
            </a:r>
          </a:p>
          <a:p>
            <a:pPr algn="ctr"/>
            <a:r>
              <a:rPr sz="1100">
                <a:solidFill>
                  <a:srgbClr val="6F6F6F"/>
                </a:solidFill>
              </a:rPr>
              <a:t>auto_assign: the peak inside the window</a:t>
            </a:r>
          </a:p>
        </p:txBody>
      </p:sp>
      <p:sp>
        <p:nvSpPr>
          <p:cNvPr id="20" name="Rounded Rectangle 19"/>
          <p:cNvSpPr/>
          <p:nvPr/>
        </p:nvSpPr>
        <p:spPr>
          <a:xfrm>
            <a:off x="4087368" y="4407408"/>
            <a:ext cx="4023360" cy="530352"/>
          </a:xfrm>
          <a:prstGeom prst="roundRect">
            <a:avLst>
              <a:gd name="adj" fmla="val 12000"/>
            </a:avLst>
          </a:prstGeom>
          <a:no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0A0A0A"/>
                </a:solidFill>
              </a:rPr>
              <a:t>Calibrate</a:t>
            </a:r>
          </a:p>
          <a:p>
            <a:pPr algn="ctr"/>
            <a:r>
              <a:rPr sz="1100">
                <a:solidFill>
                  <a:srgbClr val="6F6F6F"/>
                </a:solidFill>
              </a:rPr>
              <a:t>add_standard, area against concentration; you accept R²</a:t>
            </a:r>
          </a:p>
        </p:txBody>
      </p:sp>
      <p:sp>
        <p:nvSpPr>
          <p:cNvPr id="21" name="Rounded Rectangle 20"/>
          <p:cNvSpPr/>
          <p:nvPr/>
        </p:nvSpPr>
        <p:spPr>
          <a:xfrm>
            <a:off x="4087368" y="5084064"/>
            <a:ext cx="4023360" cy="530352"/>
          </a:xfrm>
          <a:prstGeom prst="roundRect">
            <a:avLst>
              <a:gd name="adj" fmla="val 12000"/>
            </a:avLst>
          </a:prstGeom>
          <a:no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0A0A0A"/>
                </a:solidFill>
              </a:rPr>
              <a:t>Export</a:t>
            </a:r>
          </a:p>
          <a:p>
            <a:pPr algn="ctr"/>
            <a:r>
              <a:rPr sz="1100">
                <a:solidFill>
                  <a:srgbClr val="6F6F6F"/>
                </a:solidFill>
              </a:rPr>
              <a:t>to_enzymeml: areas become concentrations</a:t>
            </a:r>
          </a:p>
        </p:txBody>
      </p:sp>
      <p:cxnSp>
        <p:nvCxnSpPr>
          <p:cNvPr id="22" name="Connector 21"/>
          <p:cNvCxnSpPr/>
          <p:nvPr/>
        </p:nvCxnSpPr>
        <p:spPr>
          <a:xfrm>
            <a:off x="6099048" y="2926080"/>
            <a:ext cx="0" cy="109728"/>
          </a:xfrm>
          <a:prstGeom prst="line">
            <a:avLst/>
          </a:prstGeom>
          <a:ln w="15875">
            <a:solidFill>
              <a:srgbClr val="0A0A0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099048" y="3602736"/>
            <a:ext cx="0" cy="109728"/>
          </a:xfrm>
          <a:prstGeom prst="line">
            <a:avLst/>
          </a:prstGeom>
          <a:ln w="15875">
            <a:solidFill>
              <a:srgbClr val="0A0A0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099048" y="4279392"/>
            <a:ext cx="0" cy="109728"/>
          </a:xfrm>
          <a:prstGeom prst="line">
            <a:avLst/>
          </a:prstGeom>
          <a:ln w="15875">
            <a:solidFill>
              <a:srgbClr val="0A0A0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099048" y="4956048"/>
            <a:ext cx="0" cy="109728"/>
          </a:xfrm>
          <a:prstGeom prst="line">
            <a:avLst/>
          </a:prstGeom>
          <a:ln w="15875">
            <a:solidFill>
              <a:srgbClr val="0A0A0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110728" y="5349240"/>
            <a:ext cx="283464" cy="0"/>
          </a:xfrm>
          <a:prstGeom prst="line">
            <a:avLst/>
          </a:prstGeom>
          <a:ln w="15875">
            <a:solidFill>
              <a:srgbClr val="0A0A0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394192" y="2720340"/>
            <a:ext cx="0" cy="2628900"/>
          </a:xfrm>
          <a:prstGeom prst="line">
            <a:avLst/>
          </a:prstGeom>
          <a:ln w="15875">
            <a:solidFill>
              <a:srgbClr val="0A0A0A"/>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8622792" y="2377440"/>
            <a:ext cx="2743200" cy="685800"/>
          </a:xfrm>
          <a:prstGeom prst="roundRect">
            <a:avLst>
              <a:gd name="adj" fmla="val 12000"/>
            </a:avLst>
          </a:prstGeom>
          <a:no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0A0A0A"/>
                </a:solidFill>
              </a:rPr>
              <a:t>EnzymeML document</a:t>
            </a:r>
          </a:p>
          <a:p>
            <a:pPr algn="ctr"/>
            <a:r>
              <a:rPr sz="1100">
                <a:solidFill>
                  <a:srgbClr val="6F6F6F"/>
                </a:solidFill>
              </a:rPr>
              <a:t>time courses with their initial conditions</a:t>
            </a:r>
          </a:p>
        </p:txBody>
      </p:sp>
      <p:cxnSp>
        <p:nvCxnSpPr>
          <p:cNvPr id="29" name="Connector 28"/>
          <p:cNvCxnSpPr/>
          <p:nvPr/>
        </p:nvCxnSpPr>
        <p:spPr>
          <a:xfrm>
            <a:off x="8394192" y="2720340"/>
            <a:ext cx="173736" cy="0"/>
          </a:xfrm>
          <a:prstGeom prst="line">
            <a:avLst/>
          </a:prstGeom>
          <a:ln w="15875">
            <a:solidFill>
              <a:srgbClr val="0A0A0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8622792" y="3291840"/>
            <a:ext cx="2743200" cy="685800"/>
          </a:xfrm>
          <a:prstGeom prst="roundRect">
            <a:avLst>
              <a:gd name="adj" fmla="val 12000"/>
            </a:avLst>
          </a:prstGeom>
          <a:no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0A0A0A"/>
                </a:solidFill>
              </a:rPr>
              <a:t>Checks</a:t>
            </a:r>
          </a:p>
          <a:p>
            <a:pPr algn="ctr"/>
            <a:r>
              <a:rPr sz="1100">
                <a:solidFill>
                  <a:srgbClr val="6F6F6F"/>
                </a:solidFill>
              </a:rPr>
              <a:t>one peak per chromatogram, R², values per reaction</a:t>
            </a:r>
          </a:p>
        </p:txBody>
      </p:sp>
      <p:cxnSp>
        <p:nvCxnSpPr>
          <p:cNvPr id="31" name="Connector 30"/>
          <p:cNvCxnSpPr/>
          <p:nvPr/>
        </p:nvCxnSpPr>
        <p:spPr>
          <a:xfrm>
            <a:off x="8394192" y="3634740"/>
            <a:ext cx="173736" cy="0"/>
          </a:xfrm>
          <a:prstGeom prst="line">
            <a:avLst/>
          </a:prstGeom>
          <a:ln w="15875">
            <a:solidFill>
              <a:srgbClr val="0A0A0A"/>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Catalax: from time courses to kinetic parameters</a:t>
            </a:r>
          </a:p>
        </p:txBody>
      </p:sp>
      <p:sp>
        <p:nvSpPr>
          <p:cNvPr id="3" name="Text Placeholder 2"/>
          <p:cNvSpPr>
            <a:spLocks noGrp="1"/>
          </p:cNvSpPr>
          <p:nvPr>
            <p:ph type="body" idx="13" sz="quarter"/>
          </p:nvPr>
        </p:nvSpPr>
        <p:spPr/>
        <p:txBody>
          <a:bodyPr/>
          <a:lstStyle/>
          <a:p>
            <a:r>
              <a:rPr/>
              <a:t>Tool 2 · Catalax</a:t>
            </a:r>
          </a:p>
        </p:txBody>
      </p:sp>
      <p:sp>
        <p:nvSpPr>
          <p:cNvPr id="4" name="Text Placeholder 3"/>
          <p:cNvSpPr>
            <a:spLocks noGrp="1"/>
          </p:cNvSpPr>
          <p:nvPr>
            <p:ph type="body" idx="15" sz="quarter"/>
          </p:nvPr>
        </p:nvSpPr>
        <p:spPr/>
        <p:txBody>
          <a:bodyPr/>
          <a:lstStyle/>
          <a:p>
            <a:r>
              <a:rPr/>
              <a:t>Builds the ODE model from a rate law and samples the posterior of its parameters</a:t>
            </a:r>
          </a:p>
        </p:txBody>
      </p:sp>
      <p:sp>
        <p:nvSpPr>
          <p:cNvPr id="6" name="TextBox 5"/>
          <p:cNvSpPr txBox="1"/>
          <p:nvPr/>
        </p:nvSpPr>
        <p:spPr>
          <a:xfrm>
            <a:off x="822960" y="2057400"/>
            <a:ext cx="2743200" cy="274320"/>
          </a:xfrm>
          <a:prstGeom prst="rect">
            <a:avLst/>
          </a:prstGeom>
          <a:noFill/>
        </p:spPr>
        <p:txBody>
          <a:bodyPr wrap="square" lIns="0" rIns="0" tIns="0" bIns="0">
            <a:spAutoFit/>
          </a:bodyPr>
          <a:lstStyle/>
          <a:p>
            <a:pPr algn="ctr"/>
            <a:r>
              <a:rPr sz="1200">
                <a:solidFill>
                  <a:srgbClr val="6F6F6F"/>
                </a:solidFill>
              </a:rPr>
              <a:t>Input</a:t>
            </a:r>
          </a:p>
        </p:txBody>
      </p:sp>
      <p:sp>
        <p:nvSpPr>
          <p:cNvPr id="7" name="TextBox 6"/>
          <p:cNvSpPr txBox="1"/>
          <p:nvPr/>
        </p:nvSpPr>
        <p:spPr>
          <a:xfrm>
            <a:off x="4087368" y="2057400"/>
            <a:ext cx="4023360" cy="274320"/>
          </a:xfrm>
          <a:prstGeom prst="rect">
            <a:avLst/>
          </a:prstGeom>
          <a:noFill/>
        </p:spPr>
        <p:txBody>
          <a:bodyPr wrap="square" lIns="0" rIns="0" tIns="0" bIns="0">
            <a:spAutoFit/>
          </a:bodyPr>
          <a:lstStyle/>
          <a:p>
            <a:pPr algn="ctr"/>
            <a:r>
              <a:rPr sz="1200">
                <a:solidFill>
                  <a:srgbClr val="6F6F6F"/>
                </a:solidFill>
              </a:rPr>
              <a:t>Steps</a:t>
            </a:r>
          </a:p>
        </p:txBody>
      </p:sp>
      <p:sp>
        <p:nvSpPr>
          <p:cNvPr id="8" name="TextBox 7"/>
          <p:cNvSpPr txBox="1"/>
          <p:nvPr/>
        </p:nvSpPr>
        <p:spPr>
          <a:xfrm>
            <a:off x="8622792" y="2057400"/>
            <a:ext cx="2743200" cy="274320"/>
          </a:xfrm>
          <a:prstGeom prst="rect">
            <a:avLst/>
          </a:prstGeom>
          <a:noFill/>
        </p:spPr>
        <p:txBody>
          <a:bodyPr wrap="square" lIns="0" rIns="0" tIns="0" bIns="0">
            <a:spAutoFit/>
          </a:bodyPr>
          <a:lstStyle/>
          <a:p>
            <a:pPr algn="ctr"/>
            <a:r>
              <a:rPr sz="1200">
                <a:solidFill>
                  <a:srgbClr val="6F6F6F"/>
                </a:solidFill>
              </a:rPr>
              <a:t>Output</a:t>
            </a:r>
          </a:p>
        </p:txBody>
      </p:sp>
      <p:sp>
        <p:nvSpPr>
          <p:cNvPr id="9" name="Rounded Rectangle 8"/>
          <p:cNvSpPr/>
          <p:nvPr/>
        </p:nvSpPr>
        <p:spPr>
          <a:xfrm>
            <a:off x="822960" y="2377440"/>
            <a:ext cx="2743200" cy="685800"/>
          </a:xfrm>
          <a:prstGeom prst="roundRect">
            <a:avLst>
              <a:gd name="adj" fmla="val 12000"/>
            </a:avLst>
          </a:prstGeom>
          <a:no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0A0A0A"/>
                </a:solidFill>
              </a:rPr>
              <a:t>EnzymeML document</a:t>
            </a:r>
          </a:p>
          <a:p>
            <a:pPr algn="ctr"/>
            <a:r>
              <a:rPr sz="1100">
                <a:solidFill>
                  <a:srgbClr val="6F6F6F"/>
                </a:solidFill>
              </a:rPr>
              <a:t>time courses and initial conditions</a:t>
            </a:r>
          </a:p>
        </p:txBody>
      </p:sp>
      <p:cxnSp>
        <p:nvCxnSpPr>
          <p:cNvPr id="10" name="Connector 9"/>
          <p:cNvCxnSpPr/>
          <p:nvPr/>
        </p:nvCxnSpPr>
        <p:spPr>
          <a:xfrm>
            <a:off x="3566160" y="2720340"/>
            <a:ext cx="228600" cy="0"/>
          </a:xfrm>
          <a:prstGeom prst="line">
            <a:avLst/>
          </a:prstGeom>
          <a:ln w="15875">
            <a:solidFill>
              <a:srgbClr val="0A0A0A"/>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22960" y="3291840"/>
            <a:ext cx="2743200" cy="685800"/>
          </a:xfrm>
          <a:prstGeom prst="roundRect">
            <a:avLst>
              <a:gd name="adj" fmla="val 12000"/>
            </a:avLst>
          </a:prstGeom>
          <a:no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0A0A0A"/>
                </a:solidFill>
              </a:rPr>
              <a:t>Rate law</a:t>
            </a:r>
          </a:p>
          <a:p>
            <a:pPr algn="ctr"/>
            <a:r>
              <a:rPr sz="1100">
                <a:solidFill>
                  <a:srgbClr val="6F6F6F"/>
                </a:solidFill>
              </a:rPr>
              <a:t>one equation; states and ODEs follow from it</a:t>
            </a:r>
          </a:p>
        </p:txBody>
      </p:sp>
      <p:cxnSp>
        <p:nvCxnSpPr>
          <p:cNvPr id="12" name="Connector 11"/>
          <p:cNvCxnSpPr/>
          <p:nvPr/>
        </p:nvCxnSpPr>
        <p:spPr>
          <a:xfrm>
            <a:off x="3566160" y="3634740"/>
            <a:ext cx="228600" cy="0"/>
          </a:xfrm>
          <a:prstGeom prst="line">
            <a:avLst/>
          </a:prstGeom>
          <a:ln w="15875">
            <a:solidFill>
              <a:srgbClr val="0A0A0A"/>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22960" y="4206240"/>
            <a:ext cx="2743200" cy="685800"/>
          </a:xfrm>
          <a:prstGeom prst="roundRect">
            <a:avLst>
              <a:gd name="adj" fmla="val 12000"/>
            </a:avLst>
          </a:prstGeom>
          <a:no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0A0A0A"/>
                </a:solidFill>
              </a:rPr>
              <a:t>Priors and noise</a:t>
            </a:r>
          </a:p>
          <a:p>
            <a:pPr algn="ctr"/>
            <a:r>
              <a:rPr sz="1100">
                <a:solidFill>
                  <a:srgbClr val="6F6F6F"/>
                </a:solidFill>
              </a:rPr>
              <a:t>what you assume before seeing the data</a:t>
            </a:r>
          </a:p>
        </p:txBody>
      </p:sp>
      <p:cxnSp>
        <p:nvCxnSpPr>
          <p:cNvPr id="14" name="Connector 13"/>
          <p:cNvCxnSpPr/>
          <p:nvPr/>
        </p:nvCxnSpPr>
        <p:spPr>
          <a:xfrm>
            <a:off x="3566160" y="4549140"/>
            <a:ext cx="228600" cy="0"/>
          </a:xfrm>
          <a:prstGeom prst="line">
            <a:avLst/>
          </a:prstGeom>
          <a:ln w="15875">
            <a:solidFill>
              <a:srgbClr val="0A0A0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794760" y="2642616"/>
            <a:ext cx="0" cy="1906524"/>
          </a:xfrm>
          <a:prstGeom prst="line">
            <a:avLst/>
          </a:prstGeom>
          <a:ln w="15875">
            <a:solidFill>
              <a:srgbClr val="0A0A0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794760" y="2642616"/>
            <a:ext cx="237744" cy="0"/>
          </a:xfrm>
          <a:prstGeom prst="line">
            <a:avLst/>
          </a:prstGeom>
          <a:ln w="15875">
            <a:solidFill>
              <a:srgbClr val="0A0A0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087368" y="2377440"/>
            <a:ext cx="4023360" cy="530352"/>
          </a:xfrm>
          <a:prstGeom prst="roundRect">
            <a:avLst>
              <a:gd name="adj" fmla="val 12000"/>
            </a:avLst>
          </a:prstGeom>
          <a:no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0A0A0A"/>
                </a:solidFill>
              </a:rPr>
              <a:t>Load the dataset</a:t>
            </a:r>
          </a:p>
          <a:p>
            <a:pPr algn="ctr"/>
            <a:r>
              <a:rPr sz="1100">
                <a:solidFill>
                  <a:srgbClr val="6F6F6F"/>
                </a:solidFill>
              </a:rPr>
              <a:t>Dataset.from_enzymeml</a:t>
            </a:r>
          </a:p>
        </p:txBody>
      </p:sp>
      <p:sp>
        <p:nvSpPr>
          <p:cNvPr id="18" name="Rounded Rectangle 17"/>
          <p:cNvSpPr/>
          <p:nvPr/>
        </p:nvSpPr>
        <p:spPr>
          <a:xfrm>
            <a:off x="4087368" y="3054096"/>
            <a:ext cx="4023360" cy="530352"/>
          </a:xfrm>
          <a:prstGeom prst="roundRect">
            <a:avLst>
              <a:gd name="adj" fmla="val 12000"/>
            </a:avLst>
          </a:prstGeom>
          <a:no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0A0A0A"/>
                </a:solidFill>
              </a:rPr>
              <a:t>Define the model</a:t>
            </a:r>
          </a:p>
          <a:p>
            <a:pPr algn="ctr"/>
            <a:r>
              <a:rPr sz="1100">
                <a:solidFill>
                  <a:srgbClr val="6F6F6F"/>
                </a:solidFill>
              </a:rPr>
              <a:t>add_state, add_ode; your decision</a:t>
            </a:r>
          </a:p>
        </p:txBody>
      </p:sp>
      <p:sp>
        <p:nvSpPr>
          <p:cNvPr id="19" name="Rounded Rectangle 18"/>
          <p:cNvSpPr/>
          <p:nvPr/>
        </p:nvSpPr>
        <p:spPr>
          <a:xfrm>
            <a:off x="4087368" y="3730752"/>
            <a:ext cx="4023360" cy="530352"/>
          </a:xfrm>
          <a:prstGeom prst="roundRect">
            <a:avLst>
              <a:gd name="adj" fmla="val 12000"/>
            </a:avLst>
          </a:prstGeom>
          <a:no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0A0A0A"/>
                </a:solidFill>
              </a:rPr>
              <a:t>Set the priors</a:t>
            </a:r>
          </a:p>
          <a:p>
            <a:pPr algn="ctr"/>
            <a:r>
              <a:rPr sz="1100">
                <a:solidFill>
                  <a:srgbClr val="6F6F6F"/>
                </a:solidFill>
              </a:rPr>
              <a:t>LogUniform per parameter, yerrs; your decision</a:t>
            </a:r>
          </a:p>
        </p:txBody>
      </p:sp>
      <p:sp>
        <p:nvSpPr>
          <p:cNvPr id="20" name="Rounded Rectangle 19"/>
          <p:cNvSpPr/>
          <p:nvPr/>
        </p:nvSpPr>
        <p:spPr>
          <a:xfrm>
            <a:off x="4087368" y="4407408"/>
            <a:ext cx="4023360" cy="530352"/>
          </a:xfrm>
          <a:prstGeom prst="roundRect">
            <a:avLst>
              <a:gd name="adj" fmla="val 12000"/>
            </a:avLst>
          </a:prstGeom>
          <a:no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0A0A0A"/>
                </a:solidFill>
              </a:rPr>
              <a:t>Sample</a:t>
            </a:r>
          </a:p>
          <a:p>
            <a:pPr algn="ctr"/>
            <a:r>
              <a:rPr sz="1100">
                <a:solidFill>
                  <a:srgbClr val="6F6F6F"/>
                </a:solidFill>
              </a:rPr>
              <a:t>run_mcmc: chains, warmup, samples</a:t>
            </a:r>
          </a:p>
        </p:txBody>
      </p:sp>
      <p:sp>
        <p:nvSpPr>
          <p:cNvPr id="21" name="Rounded Rectangle 20"/>
          <p:cNvSpPr/>
          <p:nvPr/>
        </p:nvSpPr>
        <p:spPr>
          <a:xfrm>
            <a:off x="4087368" y="5084064"/>
            <a:ext cx="4023360" cy="530352"/>
          </a:xfrm>
          <a:prstGeom prst="roundRect">
            <a:avLst>
              <a:gd name="adj" fmla="val 12000"/>
            </a:avLst>
          </a:prstGeom>
          <a:no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0A0A0A"/>
                </a:solidFill>
              </a:rPr>
              <a:t>Check and plot</a:t>
            </a:r>
          </a:p>
          <a:p>
            <a:pPr algn="ctr"/>
            <a:r>
              <a:rPr sz="1100">
                <a:solidFill>
                  <a:srgbClr val="6F6F6F"/>
                </a:solidFill>
              </a:rPr>
              <a:t>r-hat, divergences, bounds, correlations</a:t>
            </a:r>
          </a:p>
        </p:txBody>
      </p:sp>
      <p:cxnSp>
        <p:nvCxnSpPr>
          <p:cNvPr id="22" name="Connector 21"/>
          <p:cNvCxnSpPr/>
          <p:nvPr/>
        </p:nvCxnSpPr>
        <p:spPr>
          <a:xfrm>
            <a:off x="6099048" y="2926080"/>
            <a:ext cx="0" cy="109728"/>
          </a:xfrm>
          <a:prstGeom prst="line">
            <a:avLst/>
          </a:prstGeom>
          <a:ln w="15875">
            <a:solidFill>
              <a:srgbClr val="0A0A0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099048" y="3602736"/>
            <a:ext cx="0" cy="109728"/>
          </a:xfrm>
          <a:prstGeom prst="line">
            <a:avLst/>
          </a:prstGeom>
          <a:ln w="15875">
            <a:solidFill>
              <a:srgbClr val="0A0A0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099048" y="4279392"/>
            <a:ext cx="0" cy="109728"/>
          </a:xfrm>
          <a:prstGeom prst="line">
            <a:avLst/>
          </a:prstGeom>
          <a:ln w="15875">
            <a:solidFill>
              <a:srgbClr val="0A0A0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099048" y="4956048"/>
            <a:ext cx="0" cy="109728"/>
          </a:xfrm>
          <a:prstGeom prst="line">
            <a:avLst/>
          </a:prstGeom>
          <a:ln w="15875">
            <a:solidFill>
              <a:srgbClr val="0A0A0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110728" y="5349240"/>
            <a:ext cx="283464" cy="0"/>
          </a:xfrm>
          <a:prstGeom prst="line">
            <a:avLst/>
          </a:prstGeom>
          <a:ln w="15875">
            <a:solidFill>
              <a:srgbClr val="0A0A0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394192" y="2720340"/>
            <a:ext cx="0" cy="2628900"/>
          </a:xfrm>
          <a:prstGeom prst="line">
            <a:avLst/>
          </a:prstGeom>
          <a:ln w="15875">
            <a:solidFill>
              <a:srgbClr val="0A0A0A"/>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8622792" y="2377440"/>
            <a:ext cx="2743200" cy="685800"/>
          </a:xfrm>
          <a:prstGeom prst="roundRect">
            <a:avLst>
              <a:gd name="adj" fmla="val 12000"/>
            </a:avLst>
          </a:prstGeom>
          <a:no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0A0A0A"/>
                </a:solidFill>
              </a:rPr>
              <a:t>Posterior</a:t>
            </a:r>
          </a:p>
          <a:p>
            <a:pPr algn="ctr"/>
            <a:r>
              <a:rPr i="1" sz="1100">
                <a:solidFill>
                  <a:srgbClr val="6F6F6F"/>
                </a:solidFill>
              </a:rPr>
              <a:t>k</a:t>
            </a:r>
            <a:r>
              <a:rPr sz="1100" baseline="-25000">
                <a:solidFill>
                  <a:srgbClr val="6F6F6F"/>
                </a:solidFill>
              </a:rPr>
              <a:t>cat</a:t>
            </a:r>
            <a:r>
              <a:rPr sz="1100">
                <a:solidFill>
                  <a:srgbClr val="6F6F6F"/>
                </a:solidFill>
              </a:rPr>
              <a:t>, </a:t>
            </a:r>
            <a:r>
              <a:rPr i="1" sz="1100">
                <a:solidFill>
                  <a:srgbClr val="6F6F6F"/>
                </a:solidFill>
              </a:rPr>
              <a:t>K</a:t>
            </a:r>
            <a:r>
              <a:rPr i="1" sz="1100" baseline="-25000">
                <a:solidFill>
                  <a:srgbClr val="6F6F6F"/>
                </a:solidFill>
              </a:rPr>
              <a:t>M</a:t>
            </a:r>
            <a:r>
              <a:rPr sz="1100" baseline="30000">
                <a:solidFill>
                  <a:srgbClr val="6F6F6F"/>
                </a:solidFill>
              </a:rPr>
              <a:t>ManNAc</a:t>
            </a:r>
            <a:r>
              <a:rPr sz="1100">
                <a:solidFill>
                  <a:srgbClr val="6F6F6F"/>
                </a:solidFill>
              </a:rPr>
              <a:t>, </a:t>
            </a:r>
            <a:r>
              <a:rPr i="1" sz="1100">
                <a:solidFill>
                  <a:srgbClr val="6F6F6F"/>
                </a:solidFill>
              </a:rPr>
              <a:t>K</a:t>
            </a:r>
            <a:r>
              <a:rPr i="1" sz="1100" baseline="-25000">
                <a:solidFill>
                  <a:srgbClr val="6F6F6F"/>
                </a:solidFill>
              </a:rPr>
              <a:t>M</a:t>
            </a:r>
            <a:r>
              <a:rPr sz="1100" baseline="30000">
                <a:solidFill>
                  <a:srgbClr val="6F6F6F"/>
                </a:solidFill>
              </a:rPr>
              <a:t>PEP</a:t>
            </a:r>
            <a:r>
              <a:rPr sz="1100">
                <a:solidFill>
                  <a:srgbClr val="6F6F6F"/>
                </a:solidFill>
              </a:rPr>
              <a:t>: mean ± sd, intervals</a:t>
            </a:r>
          </a:p>
        </p:txBody>
      </p:sp>
      <p:cxnSp>
        <p:nvCxnSpPr>
          <p:cNvPr id="29" name="Connector 28"/>
          <p:cNvCxnSpPr/>
          <p:nvPr/>
        </p:nvCxnSpPr>
        <p:spPr>
          <a:xfrm>
            <a:off x="8394192" y="2720340"/>
            <a:ext cx="173736" cy="0"/>
          </a:xfrm>
          <a:prstGeom prst="line">
            <a:avLst/>
          </a:prstGeom>
          <a:ln w="15875">
            <a:solidFill>
              <a:srgbClr val="0A0A0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8622792" y="3291840"/>
            <a:ext cx="2743200" cy="685800"/>
          </a:xfrm>
          <a:prstGeom prst="roundRect">
            <a:avLst>
              <a:gd name="adj" fmla="val 12000"/>
            </a:avLst>
          </a:prstGeom>
          <a:no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b="1" sz="1400">
                <a:solidFill>
                  <a:srgbClr val="0A0A0A"/>
                </a:solidFill>
              </a:rPr>
              <a:t>Plots</a:t>
            </a:r>
          </a:p>
          <a:p>
            <a:pPr algn="ctr"/>
            <a:r>
              <a:rPr sz="1100">
                <a:solidFill>
                  <a:srgbClr val="6F6F6F"/>
                </a:solidFill>
              </a:rPr>
              <a:t>corner plot; data with the model on top</a:t>
            </a:r>
          </a:p>
        </p:txBody>
      </p:sp>
      <p:cxnSp>
        <p:nvCxnSpPr>
          <p:cNvPr id="31" name="Connector 30"/>
          <p:cNvCxnSpPr/>
          <p:nvPr/>
        </p:nvCxnSpPr>
        <p:spPr>
          <a:xfrm>
            <a:off x="8394192" y="3634740"/>
            <a:ext cx="173736" cy="0"/>
          </a:xfrm>
          <a:prstGeom prst="line">
            <a:avLst/>
          </a:prstGeom>
          <a:ln w="15875">
            <a:solidFill>
              <a:srgbClr val="0A0A0A"/>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ManNAc + PEP → Neu5Ac + Pi, followed by HPLC</a:t>
            </a:r>
          </a:p>
        </p:txBody>
      </p:sp>
      <p:sp>
        <p:nvSpPr>
          <p:cNvPr id="4" name="Text Placeholder 3"/>
          <p:cNvSpPr>
            <a:spLocks noGrp="1"/>
          </p:cNvSpPr>
          <p:nvPr>
            <p:ph type="body" idx="2" sz="half"/>
          </p:nvPr>
        </p:nvSpPr>
        <p:spPr>
          <a:xfrm>
            <a:off x="822960" y="4079968"/>
            <a:ext cx="10545775" cy="1097280"/>
          </a:xfrm>
        </p:spPr>
        <p:txBody>
          <a:bodyPr/>
          <a:lstStyle/>
          <a:p>
            <a:r>
              <a:rPr/>
              <a:t>HPLC-PDA at 215 nm; only the product Neu5Ac is quantified</a:t>
            </a:r>
          </a:p>
          <a:p>
            <a:r>
              <a:rPr/>
              <a:t>ManNAc series: 13 reactions, ManNAc 0–100 mM at 20 mM PEP</a:t>
            </a:r>
          </a:p>
          <a:p>
            <a:r>
              <a:rPr/>
              <a:t>PEP series: 11 reactions, PEP 0–20 mM at 50 mM ManNAc</a:t>
            </a:r>
          </a:p>
          <a:p>
            <a:r>
              <a:rPr/>
              <a:t>Six injections per reaction; five calibration standards, 1–5 mM</a:t>
            </a:r>
          </a:p>
        </p:txBody>
      </p:sp>
      <p:sp>
        <p:nvSpPr>
          <p:cNvPr id="5" name="Text Placeholder 4"/>
          <p:cNvSpPr>
            <a:spLocks noGrp="1"/>
          </p:cNvSpPr>
          <p:nvPr>
            <p:ph type="body" idx="13" sz="quarter"/>
          </p:nvPr>
        </p:nvSpPr>
        <p:spPr/>
        <p:txBody>
          <a:bodyPr/>
          <a:lstStyle/>
          <a:p>
            <a:r>
              <a:rPr/>
              <a:t>The experiment</a:t>
            </a:r>
          </a:p>
        </p:txBody>
      </p:sp>
      <p:pic>
        <p:nvPicPr>
          <p:cNvPr id="8" name="Picture 7" descr="reaction_scheme.png"/>
          <p:cNvPicPr>
            <a:picLocks noChangeAspect="1"/>
          </p:cNvPicPr>
          <p:nvPr/>
        </p:nvPicPr>
        <p:blipFill>
          <a:blip r:embed="rId3"/>
          <a:stretch>
            <a:fillRect/>
          </a:stretch>
        </p:blipFill>
        <p:spPr>
          <a:xfrm>
            <a:off x="822960" y="1645920"/>
            <a:ext cx="10545775" cy="229688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Two series, one substrate varied at a time</a:t>
            </a:r>
          </a:p>
        </p:txBody>
      </p:sp>
      <p:sp>
        <p:nvSpPr>
          <p:cNvPr id="3" name="Content Placeholder 2"/>
          <p:cNvSpPr>
            <a:spLocks noGrp="1"/>
          </p:cNvSpPr>
          <p:nvPr>
            <p:ph idx="1"/>
          </p:nvPr>
        </p:nvSpPr>
        <p:spPr>
          <a:xfrm>
            <a:off x="822960" y="3520440"/>
            <a:ext cx="10545775" cy="2240279"/>
          </a:xfrm>
        </p:spPr>
        <p:txBody>
          <a:bodyPr/>
          <a:lstStyle/>
          <a:p>
            <a:r>
              <a:rPr/>
              <a:t>24 reactions sampled six times: 144 chromatograms</a:t>
            </a:r>
          </a:p>
          <a:p>
            <a:r>
              <a:rPr/>
              <a:t>Per injection you get the instrument's peak table, not the raw trace</a:t>
            </a:r>
          </a:p>
          <a:p>
            <a:r>
              <a:rPr/>
              <a:t>Initial concentrations are in conditions.csv</a:t>
            </a:r>
          </a:p>
        </p:txBody>
      </p:sp>
      <p:sp>
        <p:nvSpPr>
          <p:cNvPr id="4" name="Text Placeholder 3"/>
          <p:cNvSpPr>
            <a:spLocks noGrp="1"/>
          </p:cNvSpPr>
          <p:nvPr>
            <p:ph type="body" idx="13" sz="quarter"/>
          </p:nvPr>
        </p:nvSpPr>
        <p:spPr/>
        <p:txBody>
          <a:bodyPr/>
          <a:lstStyle/>
          <a:p>
            <a:r>
              <a:rPr/>
              <a:t>The dataset</a:t>
            </a:r>
          </a:p>
        </p:txBody>
      </p:sp>
      <p:graphicFrame>
        <p:nvGraphicFramePr>
          <p:cNvPr id="7" name="Table 6"/>
          <p:cNvGraphicFramePr>
            <a:graphicFrameLocks noGrp="1"/>
          </p:cNvGraphicFramePr>
          <p:nvPr/>
        </p:nvGraphicFramePr>
        <p:xfrm>
          <a:off x="822960" y="1645920"/>
          <a:ext cx="10545775" cy="1536192"/>
        </p:xfrm>
        <a:graphic>
          <a:graphicData uri="http://schemas.openxmlformats.org/drawingml/2006/table">
            <a:tbl>
              <a:tblPr firstRow="1">
                <a:tableStyleId>{9D7B26C5-4107-4FEC-AEDC-1716B250EE53}</a:tableStyleId>
              </a:tblPr>
              <a:tblGrid>
                <a:gridCol w="2468880"/>
                <a:gridCol w="1554480"/>
                <a:gridCol w="3566160"/>
                <a:gridCol w="2956255"/>
              </a:tblGrid>
              <a:tr h="384048">
                <a:tc>
                  <a:txBody>
                    <a:bodyPr/>
                    <a:lstStyle/>
                    <a:p/>
                  </a:txBody>
                  <a:tcPr/>
                </a:tc>
                <a:tc>
                  <a:txBody>
                    <a:bodyPr/>
                    <a:lstStyle/>
                    <a:p>
                      <a:r>
                        <a:rPr b="1" sz="1400"/>
                        <a:t>Samples</a:t>
                      </a:r>
                    </a:p>
                  </a:txBody>
                  <a:tcPr/>
                </a:tc>
                <a:tc>
                  <a:txBody>
                    <a:bodyPr/>
                    <a:lstStyle/>
                    <a:p>
                      <a:r>
                        <a:rPr b="1" sz="1400"/>
                        <a:t>What varies</a:t>
                      </a:r>
                    </a:p>
                  </a:txBody>
                  <a:tcPr/>
                </a:tc>
                <a:tc>
                  <a:txBody>
                    <a:bodyPr/>
                    <a:lstStyle/>
                    <a:p>
                      <a:r>
                        <a:rPr b="1" sz="1400"/>
                        <a:t>What is fixed</a:t>
                      </a:r>
                    </a:p>
                  </a:txBody>
                  <a:tcPr/>
                </a:tc>
              </a:tr>
              <a:tr h="384048">
                <a:tc>
                  <a:txBody>
                    <a:bodyPr/>
                    <a:lstStyle/>
                    <a:p>
                      <a:r>
                        <a:rPr b="1" sz="1400"/>
                        <a:t>ManNAc series</a:t>
                      </a:r>
                    </a:p>
                  </a:txBody>
                  <a:tcPr/>
                </a:tc>
                <a:tc>
                  <a:txBody>
                    <a:bodyPr/>
                    <a:lstStyle/>
                    <a:p>
                      <a:r>
                        <a:rPr b="0" sz="1400"/>
                        <a:t>13 reactions</a:t>
                      </a:r>
                    </a:p>
                  </a:txBody>
                  <a:tcPr/>
                </a:tc>
                <a:tc>
                  <a:txBody>
                    <a:bodyPr/>
                    <a:lstStyle/>
                    <a:p>
                      <a:r>
                        <a:rPr b="0" sz="1400"/>
                        <a:t>ManNAc 0–100 mM</a:t>
                      </a:r>
                    </a:p>
                  </a:txBody>
                  <a:tcPr/>
                </a:tc>
                <a:tc>
                  <a:txBody>
                    <a:bodyPr/>
                    <a:lstStyle/>
                    <a:p>
                      <a:r>
                        <a:rPr b="0" sz="1400"/>
                        <a:t>PEP 20 mM</a:t>
                      </a:r>
                    </a:p>
                  </a:txBody>
                  <a:tcPr/>
                </a:tc>
              </a:tr>
              <a:tr h="384048">
                <a:tc>
                  <a:txBody>
                    <a:bodyPr/>
                    <a:lstStyle/>
                    <a:p>
                      <a:r>
                        <a:rPr b="1" sz="1400"/>
                        <a:t>PEP series</a:t>
                      </a:r>
                    </a:p>
                  </a:txBody>
                  <a:tcPr/>
                </a:tc>
                <a:tc>
                  <a:txBody>
                    <a:bodyPr/>
                    <a:lstStyle/>
                    <a:p>
                      <a:r>
                        <a:rPr b="0" sz="1400"/>
                        <a:t>11 reactions</a:t>
                      </a:r>
                    </a:p>
                  </a:txBody>
                  <a:tcPr/>
                </a:tc>
                <a:tc>
                  <a:txBody>
                    <a:bodyPr/>
                    <a:lstStyle/>
                    <a:p>
                      <a:r>
                        <a:rPr b="0" sz="1400"/>
                        <a:t>PEP 0–20 mM</a:t>
                      </a:r>
                    </a:p>
                  </a:txBody>
                  <a:tcPr/>
                </a:tc>
                <a:tc>
                  <a:txBody>
                    <a:bodyPr/>
                    <a:lstStyle/>
                    <a:p>
                      <a:r>
                        <a:rPr b="0" sz="1400"/>
                        <a:t>ManNAc 50 mM</a:t>
                      </a:r>
                    </a:p>
                  </a:txBody>
                  <a:tcPr/>
                </a:tc>
              </a:tr>
              <a:tr h="384048">
                <a:tc>
                  <a:txBody>
                    <a:bodyPr/>
                    <a:lstStyle/>
                    <a:p>
                      <a:r>
                        <a:rPr b="1" sz="1400"/>
                        <a:t>Calibration standards</a:t>
                      </a:r>
                    </a:p>
                  </a:txBody>
                  <a:tcPr/>
                </a:tc>
                <a:tc>
                  <a:txBody>
                    <a:bodyPr/>
                    <a:lstStyle/>
                    <a:p>
                      <a:r>
                        <a:rPr b="0" sz="1400"/>
                        <a:t>5 standards</a:t>
                      </a:r>
                    </a:p>
                  </a:txBody>
                  <a:tcPr/>
                </a:tc>
                <a:tc>
                  <a:txBody>
                    <a:bodyPr/>
                    <a:lstStyle/>
                    <a:p>
                      <a:r>
                        <a:rPr b="0" sz="1400"/>
                        <a:t>Neu5Ac 1–5 mM, with ManNAc and PEP</a:t>
                      </a:r>
                    </a:p>
                  </a:txBody>
                  <a:tcPr/>
                </a:tc>
                <a:tc>
                  <a:txBody>
                    <a:bodyPr/>
                    <a:lstStyle/>
                    <a:p>
                      <a:r>
                        <a:rPr b="0" sz="1400"/>
                        <a:t>no enzyme</a:t>
                      </a:r>
                    </a:p>
                  </a:txBody>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What we do today</a:t>
            </a:r>
          </a:p>
        </p:txBody>
      </p:sp>
      <p:sp>
        <p:nvSpPr>
          <p:cNvPr id="3" name="Content Placeholder 2"/>
          <p:cNvSpPr>
            <a:spLocks noGrp="1"/>
          </p:cNvSpPr>
          <p:nvPr>
            <p:ph idx="1"/>
          </p:nvPr>
        </p:nvSpPr>
        <p:spPr/>
        <p:txBody>
          <a:bodyPr/>
          <a:lstStyle/>
          <a:p>
            <a:r>
              <a:rPr b="1"/>
              <a:t>Task 1: </a:t>
            </a:r>
            <a:r>
              <a:rPr/>
              <a:t>from the peak tables to an EnzymeML document (Chromhandler)</a:t>
            </a:r>
          </a:p>
          <a:p>
            <a:r>
              <a:rPr b="1"/>
              <a:t>Task 2: </a:t>
            </a:r>
            <a:r>
              <a:rPr/>
              <a:t>from the EnzymeML document to </a:t>
            </a:r>
            <a:r>
              <a:rPr i="1"/>
              <a:t>k</a:t>
            </a:r>
            <a:r>
              <a:rPr baseline="-25000"/>
              <a:t>cat</a:t>
            </a:r>
            <a:r>
              <a:rPr/>
              <a:t> and </a:t>
            </a:r>
            <a:r>
              <a:rPr i="1"/>
              <a:t>K</a:t>
            </a:r>
            <a:r>
              <a:rPr i="1" baseline="-25000"/>
              <a:t>M</a:t>
            </a:r>
            <a:r>
              <a:rPr/>
              <a:t> by Bayesian inference (Catalax)</a:t>
            </a:r>
          </a:p>
          <a:p>
            <a:r>
              <a:rPr/>
              <a:t>A live demo of each task first, then you work in pairs</a:t>
            </a:r>
          </a:p>
          <a:p>
            <a:r>
              <a:rPr/>
              <a:t>The checks in the task card say when you are done</a:t>
            </a:r>
          </a:p>
          <a:p>
            <a:r>
              <a:rPr/>
              <a:t>At the end we compare everybody's parameters and discuss</a:t>
            </a:r>
          </a:p>
        </p:txBody>
      </p:sp>
      <p:sp>
        <p:nvSpPr>
          <p:cNvPr id="4" name="Text Placeholder 3"/>
          <p:cNvSpPr>
            <a:spLocks noGrp="1"/>
          </p:cNvSpPr>
          <p:nvPr>
            <p:ph type="body" idx="13" sz="quarter"/>
          </p:nvPr>
        </p:nvSpPr>
        <p:spPr/>
        <p:txBody>
          <a:bodyPr/>
          <a:lstStyle/>
          <a:p>
            <a:r>
              <a:rPr/>
              <a:t>Today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One repository, two ways to work</a:t>
            </a:r>
          </a:p>
        </p:txBody>
      </p:sp>
      <p:sp>
        <p:nvSpPr>
          <p:cNvPr id="3" name="Content Placeholder 2"/>
          <p:cNvSpPr>
            <a:spLocks noGrp="1"/>
          </p:cNvSpPr>
          <p:nvPr>
            <p:ph idx="1" sz="half"/>
          </p:nvPr>
        </p:nvSpPr>
        <p:spPr/>
        <p:txBody>
          <a:bodyPr/>
          <a:lstStyle/>
          <a:p>
            <a:pPr marL="0" indent="0">
              <a:buNone/>
            </a:pPr>
            <a:r>
              <a:rPr b="1"/>
              <a:t>With a language model</a:t>
            </a:r>
          </a:p>
          <a:p>
            <a:r>
              <a:rPr b="1"/>
              <a:t>Any chat model, </a:t>
            </a:r>
            <a:r>
              <a:rPr/>
              <a:t>free or by subscription: ChatGPT, Claude, Gemini, …</a:t>
            </a:r>
          </a:p>
          <a:p>
            <a:r>
              <a:rPr b="1"/>
              <a:t>Paste </a:t>
            </a:r>
            <a:r>
              <a:rPr/>
              <a:t>the tool card and the task card; run the code, paste errors back</a:t>
            </a:r>
          </a:p>
          <a:p>
            <a:r>
              <a:rPr b="1"/>
              <a:t>The checks </a:t>
            </a:r>
            <a:r>
              <a:rPr/>
              <a:t>decide when you are done</a:t>
            </a:r>
          </a:p>
          <a:p>
            <a:r>
              <a:rPr b="1"/>
              <a:t>notebooks/ </a:t>
            </a:r>
            <a:r>
              <a:rPr/>
              <a:t>are the reference solutions, checkpoints/ the result of task 1</a:t>
            </a:r>
          </a:p>
        </p:txBody>
      </p:sp>
      <p:sp>
        <p:nvSpPr>
          <p:cNvPr id="4" name="Content Placeholder 3"/>
          <p:cNvSpPr>
            <a:spLocks noGrp="1"/>
          </p:cNvSpPr>
          <p:nvPr>
            <p:ph idx="2" sz="half"/>
          </p:nvPr>
        </p:nvSpPr>
        <p:spPr/>
        <p:txBody>
          <a:bodyPr/>
          <a:lstStyle/>
          <a:p>
            <a:pPr marL="0" indent="0">
              <a:buNone/>
            </a:pPr>
            <a:r>
              <a:rPr b="1"/>
              <a:t>Without writing code</a:t>
            </a:r>
          </a:p>
          <a:p>
            <a:r>
              <a:rPr b="1"/>
              <a:t>Open the Colab link: </a:t>
            </a:r>
            <a:r>
              <a:rPr/>
              <a:t>a prepared notebook, tools installed, data loaded</a:t>
            </a:r>
          </a:p>
          <a:p>
            <a:r>
              <a:rPr b="1"/>
              <a:t>Run it cell by cell; </a:t>
            </a:r>
            <a:r>
              <a:rPr/>
              <a:t>change a window, a prior, a series</a:t>
            </a:r>
          </a:p>
          <a:p>
            <a:r>
              <a:rPr b="1"/>
              <a:t>Ask the model in Colab </a:t>
            </a:r>
            <a:r>
              <a:rPr/>
              <a:t>to explain any cell</a:t>
            </a:r>
          </a:p>
        </p:txBody>
      </p:sp>
      <p:sp>
        <p:nvSpPr>
          <p:cNvPr id="5" name="Text Placeholder 4"/>
          <p:cNvSpPr>
            <a:spLocks noGrp="1"/>
          </p:cNvSpPr>
          <p:nvPr>
            <p:ph type="body" idx="13" sz="quarter"/>
          </p:nvPr>
        </p:nvSpPr>
        <p:spPr/>
        <p:txBody>
          <a:bodyPr/>
          <a:lstStyle/>
          <a:p>
            <a:r>
              <a:rPr/>
              <a:t>Toolkit</a:t>
            </a:r>
          </a:p>
        </p:txBody>
      </p:sp>
      <p:sp>
        <p:nvSpPr>
          <p:cNvPr id="6" name="Text Placeholder 5"/>
          <p:cNvSpPr>
            <a:spLocks noGrp="1"/>
          </p:cNvSpPr>
          <p:nvPr>
            <p:ph type="body" idx="15" sz="quarter"/>
          </p:nvPr>
        </p:nvSpPr>
        <p:spPr/>
        <p:txBody>
          <a:bodyPr/>
          <a:lstStyle/>
          <a:p>
            <a:r>
              <a:rPr/>
              <a:t>tinyurl.com/enzymeml2026 · start with the README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Task 1: from chromatograms to EnzymeML</a:t>
            </a:r>
          </a:p>
        </p:txBody>
      </p:sp>
      <p:sp>
        <p:nvSpPr>
          <p:cNvPr id="4" name="Text Placeholder 3"/>
          <p:cNvSpPr>
            <a:spLocks noGrp="1"/>
          </p:cNvSpPr>
          <p:nvPr>
            <p:ph type="body" idx="2" sz="half"/>
          </p:nvPr>
        </p:nvSpPr>
        <p:spPr>
          <a:xfrm>
            <a:off x="822960" y="4663440"/>
            <a:ext cx="10545775" cy="1097280"/>
          </a:xfrm>
        </p:spPr>
        <p:txBody>
          <a:bodyPr/>
          <a:lstStyle/>
          <a:p>
            <a:r>
              <a:rPr b="1"/>
              <a:t>Goal: </a:t>
            </a:r>
            <a:r>
              <a:rPr/>
              <a:t>an EnzymeML document with 24 calibrated Neu5Ac time courses</a:t>
            </a:r>
          </a:p>
          <a:p>
            <a:r>
              <a:rPr b="1"/>
              <a:t>Your decision: </a:t>
            </a:r>
            <a:r>
              <a:rPr/>
              <a:t>the Neu5Ac retention window, different in standards and reactions</a:t>
            </a:r>
          </a:p>
          <a:p>
            <a:r>
              <a:rPr b="1"/>
              <a:t>Checks: </a:t>
            </a:r>
            <a:r>
              <a:rPr/>
              <a:t>slope ≈ 239 000 area per mM, R² ≥ 0.99; 24 measurements, six increasing time points each</a:t>
            </a:r>
          </a:p>
          <a:p>
            <a:r>
              <a:rPr b="1"/>
              <a:t>Live demo: </a:t>
            </a:r>
            <a:r>
              <a:rPr/>
              <a:t>one deliberate mistake, the standards window used for the reactions</a:t>
            </a:r>
          </a:p>
        </p:txBody>
      </p:sp>
      <p:sp>
        <p:nvSpPr>
          <p:cNvPr id="5" name="Text Placeholder 4"/>
          <p:cNvSpPr>
            <a:spLocks noGrp="1"/>
          </p:cNvSpPr>
          <p:nvPr>
            <p:ph type="body" idx="13" sz="quarter"/>
          </p:nvPr>
        </p:nvSpPr>
        <p:spPr/>
        <p:txBody>
          <a:bodyPr/>
          <a:lstStyle/>
          <a:p>
            <a:r>
              <a:rPr/>
              <a:t>Task 1</a:t>
            </a:r>
          </a:p>
        </p:txBody>
      </p:sp>
      <p:pic>
        <p:nvPicPr>
          <p:cNvPr id="8" name="Picture 7" descr="time_courses.png"/>
          <p:cNvPicPr>
            <a:picLocks noChangeAspect="1"/>
          </p:cNvPicPr>
          <p:nvPr/>
        </p:nvPicPr>
        <p:blipFill>
          <a:blip r:embed="rId3"/>
          <a:stretch>
            <a:fillRect/>
          </a:stretch>
        </p:blipFill>
        <p:spPr>
          <a:xfrm>
            <a:off x="1928617" y="1645920"/>
            <a:ext cx="8334461" cy="288036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Task 2: kinetic parameters by Bayesian inference</a:t>
            </a:r>
          </a:p>
        </p:txBody>
      </p:sp>
      <p:sp>
        <p:nvSpPr>
          <p:cNvPr id="3" name="Content Placeholder 2"/>
          <p:cNvSpPr>
            <a:spLocks noGrp="1"/>
          </p:cNvSpPr>
          <p:nvPr>
            <p:ph idx="1"/>
          </p:nvPr>
        </p:nvSpPr>
        <p:spPr/>
        <p:txBody>
          <a:bodyPr/>
          <a:lstStyle/>
          <a:p>
            <a:r>
              <a:rPr b="1"/>
              <a:t>Goal: </a:t>
            </a:r>
            <a:r>
              <a:rPr/>
              <a:t>posterior distributions of </a:t>
            </a:r>
            <a:r>
              <a:rPr i="1"/>
              <a:t>k</a:t>
            </a:r>
            <a:r>
              <a:rPr baseline="-25000"/>
              <a:t>cat</a:t>
            </a:r>
            <a:r>
              <a:rPr/>
              <a:t>, </a:t>
            </a:r>
            <a:r>
              <a:rPr i="1"/>
              <a:t>K</a:t>
            </a:r>
            <a:r>
              <a:rPr i="1" baseline="-25000"/>
              <a:t>M</a:t>
            </a:r>
            <a:r>
              <a:rPr baseline="30000"/>
              <a:t>ManNAc</a:t>
            </a:r>
            <a:r>
              <a:rPr/>
              <a:t> and </a:t>
            </a:r>
            <a:r>
              <a:rPr i="1"/>
              <a:t>K</a:t>
            </a:r>
            <a:r>
              <a:rPr i="1" baseline="-25000"/>
              <a:t>M</a:t>
            </a:r>
            <a:r>
              <a:rPr baseline="30000"/>
              <a:t>PEP</a:t>
            </a:r>
            <a:r>
              <a:rPr/>
              <a:t>, with a fit plot</a:t>
            </a:r>
          </a:p>
          <a:p>
            <a:r>
              <a:rPr b="1"/>
              <a:t>Model: </a:t>
            </a:r>
            <a:r>
              <a:rPr/>
              <a:t>the enzyme is in the rate law, only Neu5Ac is measured, the metal cofactor is left out (a simplification)</a:t>
            </a:r>
          </a:p>
          <a:p>
            <a:r>
              <a:rPr b="1"/>
              <a:t>Your decisions: </a:t>
            </a:r>
            <a:r>
              <a:rPr/>
              <a:t>the priors, the assumed measurement noise, the sampler settings</a:t>
            </a:r>
          </a:p>
          <a:p>
            <a:r>
              <a:rPr b="1"/>
              <a:t>Checks: </a:t>
            </a:r>
            <a:r>
              <a:rPr/>
              <a:t>r-hat near 1, no divergences, posterior clear of the prior bounds</a:t>
            </a:r>
          </a:p>
        </p:txBody>
      </p:sp>
      <p:sp>
        <p:nvSpPr>
          <p:cNvPr id="4" name="Text Placeholder 3"/>
          <p:cNvSpPr>
            <a:spLocks noGrp="1"/>
          </p:cNvSpPr>
          <p:nvPr>
            <p:ph type="body" idx="13" sz="quarter"/>
          </p:nvPr>
        </p:nvSpPr>
        <p:spPr/>
        <p:txBody>
          <a:bodyPr/>
          <a:lstStyle/>
          <a:p>
            <a:r>
              <a:rPr/>
              <a:t>Task 2</a:t>
            </a:r>
          </a:p>
        </p:txBody>
      </p:sp>
      <p:sp>
        <p:nvSpPr>
          <p:cNvPr id="5" name="Text Placeholder 4"/>
          <p:cNvSpPr>
            <a:spLocks noGrp="1"/>
          </p:cNvSpPr>
          <p:nvPr>
            <p:ph type="body" idx="15" sz="quarter"/>
          </p:nvPr>
        </p:nvSpPr>
        <p:spPr/>
        <p:txBody>
          <a:bodyPr/>
          <a:lstStyle/>
          <a:p>
            <a:r>
              <a:rPr/>
              <a:t>v = </a:t>
            </a:r>
            <a:r>
              <a:rPr i="1"/>
              <a:t>k</a:t>
            </a:r>
            <a:r>
              <a:rPr baseline="-25000"/>
              <a:t>cat</a:t>
            </a:r>
            <a:r>
              <a:rPr/>
              <a:t> · [NeuS] · [ManNAc] · [PEP] / ((</a:t>
            </a:r>
            <a:r>
              <a:rPr i="1"/>
              <a:t>K</a:t>
            </a:r>
            <a:r>
              <a:rPr i="1" baseline="-25000"/>
              <a:t>M</a:t>
            </a:r>
            <a:r>
              <a:rPr baseline="30000"/>
              <a:t>ManNAc</a:t>
            </a:r>
            <a:r>
              <a:rPr/>
              <a:t> + [ManNAc]) (</a:t>
            </a:r>
            <a:r>
              <a:rPr i="1"/>
              <a:t>K</a:t>
            </a:r>
            <a:r>
              <a:rPr i="1" baseline="-25000"/>
              <a:t>M</a:t>
            </a:r>
            <a:r>
              <a:rPr baseline="30000"/>
              <a:t>PEP</a:t>
            </a:r>
            <a:r>
              <a:rPr/>
              <a:t> + [PEP]))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The reference fit, and an open question</a:t>
            </a:r>
          </a:p>
        </p:txBody>
      </p:sp>
      <p:sp>
        <p:nvSpPr>
          <p:cNvPr id="4" name="Text Placeholder 3"/>
          <p:cNvSpPr>
            <a:spLocks noGrp="1"/>
          </p:cNvSpPr>
          <p:nvPr>
            <p:ph type="body" idx="2" sz="half"/>
          </p:nvPr>
        </p:nvSpPr>
        <p:spPr>
          <a:xfrm>
            <a:off x="6492240" y="4343400"/>
            <a:ext cx="4876495" cy="1417319"/>
          </a:xfrm>
        </p:spPr>
        <p:txBody>
          <a:bodyPr/>
          <a:lstStyle/>
          <a:p>
            <a:r>
              <a:rPr/>
              <a:t>One shared </a:t>
            </a:r>
            <a:r>
              <a:rPr i="1"/>
              <a:t>k</a:t>
            </a:r>
            <a:r>
              <a:rPr baseline="-25000"/>
              <a:t>cat</a:t>
            </a:r>
            <a:r>
              <a:rPr/>
              <a:t> over-predicts the ManNAc series and under-predicts the PEP series</a:t>
            </a:r>
          </a:p>
          <a:p>
            <a:r>
              <a:rPr/>
              <a:t>The two series were measured on different days and differ by roughly 25 % in activity</a:t>
            </a:r>
          </a:p>
          <a:p>
            <a:r>
              <a:rPr/>
              <a:t>What would you do next?</a:t>
            </a:r>
          </a:p>
        </p:txBody>
      </p:sp>
      <p:sp>
        <p:nvSpPr>
          <p:cNvPr id="5" name="Text Placeholder 4"/>
          <p:cNvSpPr>
            <a:spLocks noGrp="1"/>
          </p:cNvSpPr>
          <p:nvPr>
            <p:ph type="body" idx="13" sz="quarter"/>
          </p:nvPr>
        </p:nvSpPr>
        <p:spPr/>
        <p:txBody>
          <a:bodyPr/>
          <a:lstStyle/>
          <a:p>
            <a:r>
              <a:rPr/>
              <a:t>Reference result</a:t>
            </a:r>
          </a:p>
        </p:txBody>
      </p:sp>
      <p:pic>
        <p:nvPicPr>
          <p:cNvPr id="8" name="Picture 7" descr="model_fit.png"/>
          <p:cNvPicPr>
            <a:picLocks noChangeAspect="1"/>
          </p:cNvPicPr>
          <p:nvPr/>
        </p:nvPicPr>
        <p:blipFill>
          <a:blip r:embed="rId3"/>
          <a:stretch>
            <a:fillRect/>
          </a:stretch>
        </p:blipFill>
        <p:spPr>
          <a:xfrm>
            <a:off x="1725614" y="1645920"/>
            <a:ext cx="8740465" cy="2514600"/>
          </a:xfrm>
          <a:prstGeom prst="rect">
            <a:avLst/>
          </a:prstGeom>
        </p:spPr>
      </p:pic>
      <p:graphicFrame>
        <p:nvGraphicFramePr>
          <p:cNvPr id="9" name="Table 8"/>
          <p:cNvGraphicFramePr>
            <a:graphicFrameLocks noGrp="1"/>
          </p:cNvGraphicFramePr>
          <p:nvPr/>
        </p:nvGraphicFramePr>
        <p:xfrm>
          <a:off x="822960" y="4343400"/>
          <a:ext cx="5303520" cy="1316736"/>
        </p:xfrm>
        <a:graphic>
          <a:graphicData uri="http://schemas.openxmlformats.org/drawingml/2006/table">
            <a:tbl>
              <a:tblPr firstRow="1">
                <a:tableStyleId>{9D7B26C5-4107-4FEC-AEDC-1716B250EE53}</a:tableStyleId>
              </a:tblPr>
              <a:tblGrid>
                <a:gridCol w="1737360"/>
                <a:gridCol w="3566160"/>
              </a:tblGrid>
              <a:tr h="329184">
                <a:tc>
                  <a:txBody>
                    <a:bodyPr/>
                    <a:lstStyle/>
                    <a:p>
                      <a:r>
                        <a:rPr b="1" sz="1400"/>
                        <a:t>Parameter</a:t>
                      </a:r>
                    </a:p>
                  </a:txBody>
                  <a:tcPr/>
                </a:tc>
                <a:tc>
                  <a:txBody>
                    <a:bodyPr/>
                    <a:lstStyle/>
                    <a:p>
                      <a:r>
                        <a:rPr b="1" sz="1400"/>
                        <a:t>Posterior mean ± sd</a:t>
                      </a:r>
                    </a:p>
                  </a:txBody>
                  <a:tcPr/>
                </a:tc>
              </a:tr>
              <a:tr h="329184">
                <a:tc>
                  <a:txBody>
                    <a:bodyPr/>
                    <a:lstStyle/>
                    <a:p>
                      <a:r>
                        <a:rPr b="1" i="1" sz="1400"/>
                        <a:t>k</a:t>
                      </a:r>
                      <a:r>
                        <a:rPr b="1" sz="1400" baseline="-25000"/>
                        <a:t>cat</a:t>
                      </a:r>
                    </a:p>
                  </a:txBody>
                  <a:tcPr/>
                </a:tc>
                <a:tc>
                  <a:txBody>
                    <a:bodyPr/>
                    <a:lstStyle/>
                    <a:p>
                      <a:r>
                        <a:rPr b="0" sz="1400"/>
                        <a:t>364 ± 6 min⁻¹  (6.1 s⁻¹, 9.4 U/mg)</a:t>
                      </a:r>
                    </a:p>
                  </a:txBody>
                  <a:tcPr/>
                </a:tc>
              </a:tr>
              <a:tr h="329184">
                <a:tc>
                  <a:txBody>
                    <a:bodyPr/>
                    <a:lstStyle/>
                    <a:p>
                      <a:r>
                        <a:rPr b="1" i="1" sz="1400"/>
                        <a:t>K</a:t>
                      </a:r>
                      <a:r>
                        <a:rPr b="1" i="1" sz="1400" baseline="-25000"/>
                        <a:t>M</a:t>
                      </a:r>
                      <a:r>
                        <a:rPr b="1" sz="1400" baseline="30000"/>
                        <a:t>ManNAc</a:t>
                      </a:r>
                    </a:p>
                  </a:txBody>
                  <a:tcPr/>
                </a:tc>
                <a:tc>
                  <a:txBody>
                    <a:bodyPr/>
                    <a:lstStyle/>
                    <a:p>
                      <a:r>
                        <a:rPr b="0" sz="1400"/>
                        <a:t>1.53 ± 0.19 mM</a:t>
                      </a:r>
                    </a:p>
                  </a:txBody>
                  <a:tcPr/>
                </a:tc>
              </a:tr>
              <a:tr h="329184">
                <a:tc>
                  <a:txBody>
                    <a:bodyPr/>
                    <a:lstStyle/>
                    <a:p>
                      <a:r>
                        <a:rPr b="1" i="1" sz="1400"/>
                        <a:t>K</a:t>
                      </a:r>
                      <a:r>
                        <a:rPr b="1" i="1" sz="1400" baseline="-25000"/>
                        <a:t>M</a:t>
                      </a:r>
                      <a:r>
                        <a:rPr b="1" sz="1400" baseline="30000"/>
                        <a:t>PEP</a:t>
                      </a:r>
                    </a:p>
                  </a:txBody>
                  <a:tcPr/>
                </a:tc>
                <a:tc>
                  <a:txBody>
                    <a:bodyPr/>
                    <a:lstStyle/>
                    <a:p>
                      <a:r>
                        <a:rPr b="0" sz="1400"/>
                        <a:t>0.59 ± 0.07 mM</a:t>
                      </a:r>
                    </a:p>
                  </a:txBody>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What to take home</a:t>
            </a:r>
          </a:p>
        </p:txBody>
      </p:sp>
      <p:sp>
        <p:nvSpPr>
          <p:cNvPr id="3" name="Content Placeholder 2"/>
          <p:cNvSpPr>
            <a:spLocks noGrp="1"/>
          </p:cNvSpPr>
          <p:nvPr>
            <p:ph idx="1"/>
          </p:nvPr>
        </p:nvSpPr>
        <p:spPr/>
        <p:txBody>
          <a:bodyPr/>
          <a:lstStyle/>
          <a:p>
            <a:r>
              <a:rPr/>
              <a:t>A one-page card is enough for an assistant to drive our tools</a:t>
            </a:r>
          </a:p>
          <a:p>
            <a:r>
              <a:rPr/>
              <a:t>The decisions and the checks stay with the scientist</a:t>
            </a:r>
          </a:p>
          <a:p>
            <a:r>
              <a:rPr/>
              <a:t>The cards are reusable as SKILL.md or AGENTS.md in coding agents</a:t>
            </a:r>
          </a:p>
          <a:p>
            <a:r>
              <a:rPr/>
              <a:t>What did not work for you today is the most useful feedback for us</a:t>
            </a:r>
          </a:p>
        </p:txBody>
      </p:sp>
      <p:sp>
        <p:nvSpPr>
          <p:cNvPr id="4" name="Text Placeholder 3"/>
          <p:cNvSpPr>
            <a:spLocks noGrp="1"/>
          </p:cNvSpPr>
          <p:nvPr>
            <p:ph type="body" idx="13" sz="quarter"/>
          </p:nvPr>
        </p:nvSpPr>
        <p:spPr/>
        <p:txBody>
          <a:bodyPr/>
          <a:lstStyle/>
          <a:p>
            <a:r>
              <a:rPr/>
              <a:t>Wrap-up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Thank you</a:t>
            </a:r>
          </a:p>
        </p:txBody>
      </p:sp>
      <p:sp>
        <p:nvSpPr>
          <p:cNvPr id="3" name="Text Placeholder 2"/>
          <p:cNvSpPr>
            <a:spLocks noGrp="1"/>
          </p:cNvSpPr>
          <p:nvPr>
            <p:ph type="body" idx="1"/>
          </p:nvPr>
        </p:nvSpPr>
        <p:spPr/>
        <p:txBody>
          <a:bodyPr/>
          <a:lstStyle/>
          <a:p>
            <a:r>
              <a:t>tinyurl.com/enzymeml2026</a:t>
            </a:r>
          </a:p>
          <a:p>
            <a:pPr lvl="1"/>
            <a:r>
              <a:t>Max Häußler · University of Freiburg</a:t>
            </a:r>
          </a:p>
        </p:txBody>
      </p:sp>
      <p:pic>
        <p:nvPicPr>
          <p:cNvPr id="4" name="Picture 3" descr="qr_repository.png"/>
          <p:cNvPicPr>
            <a:picLocks noChangeAspect="1"/>
          </p:cNvPicPr>
          <p:nvPr/>
        </p:nvPicPr>
        <p:blipFill>
          <a:blip r:embed="rId3"/>
          <a:stretch>
            <a:fillRect/>
          </a:stretch>
        </p:blipFill>
        <p:spPr>
          <a:xfrm>
            <a:off x="10058400" y="2148840"/>
            <a:ext cx="1371600" cy="1371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Black and white">
      <a:dk1>
        <a:srgbClr val="0A0A0A"/>
      </a:dk1>
      <a:lt1>
        <a:srgbClr val="FFFFFF"/>
      </a:lt1>
      <a:dk2>
        <a:srgbClr val="0A0A0A"/>
      </a:dk2>
      <a:lt2>
        <a:srgbClr val="F2F2F2"/>
      </a:lt2>
      <a:accent1>
        <a:srgbClr val="0A0A0A"/>
      </a:accent1>
      <a:accent2>
        <a:srgbClr val="6F6F6F"/>
      </a:accent2>
      <a:accent3>
        <a:srgbClr val="A6A6A6"/>
      </a:accent3>
      <a:accent4>
        <a:srgbClr val="404040"/>
      </a:accent4>
      <a:accent5>
        <a:srgbClr val="8C8C8C"/>
      </a:accent5>
      <a:accent6>
        <a:srgbClr val="D9D9D9"/>
      </a:accent6>
      <a:hlink>
        <a:srgbClr val="0A0A0A"/>
      </a:hlink>
      <a:folHlink>
        <a:srgbClr val="6F6F6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measurement to kinetic modelling</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
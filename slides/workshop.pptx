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Recap of the earlier sessions: we, as humans, wrote the code. Before the first plot everyone had to set up a computing environment, read the documentation of the tools for extracting and modelling data, and write Python. Installations failed, the code was unfamiliar, and for people who do not work with code every day this was a burden. That kept many from structuring their data at all, and so from using contemporary data-science methods on it. Bridge: since then a lot has happened with language models and AI agents; the models got better, and the harnesses that let a model execute tools got much better. Next slide shows the models.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Left: what goes in, the peak tables the instrument software exported (one per injection, the reaction time in the file name), the standards with known concentrations, and the initial concentrations. Middle: the steps in order; two of them are the scientist's decisions, the retention window per session and accepting the calibration. Right: the EnzymeML document and the checks the task card asks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Left: the EnzymeML document, the rate law, and the assumptions, priors and noise. Middle: load, define the model, set the priors, sample with Hamiltonian Monte Carlo, then check and plot. The model, the priors and the noise are the scientist's decisions; the checks say whether the posterior can be trusted. Right: posterior distributions, not point estimates, and the plots.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2 min. Neu5Ac synthase condenses ManNAc and PEP to Neu5Ac and phosphate (metal cofactor, water). HPLC-PDA at 215 nm; the instrument software exported one peak table per injection. Only the product is quantified; the substrates enter the model as their known initial values. Do not explain the design or the numbers: how many reactions there are, what was varied and what the data look like is what the participants find out with their assistant in task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Let the assistant read the data and answer the first question; show the peak plot. Accept the calibration explicitly ('my decision, not the assistant's'). Deliberate mistake: when asked for the reaction window, say 'the same as the standards'; chromhandler warns 'No peaks found for Neu5Ac', the document has no Neu5Ac values. Say why (the shift on the peak plot), correct it, continue. The questions on the slide are what every pair answers; we compare at 11:25.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tinyurl.com/enzymeml2026, or the QR code.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Last year the code was the hurdle</a:t>
            </a:r>
          </a:p>
        </p:txBody>
      </p:sp>
      <p:sp>
        <p:nvSpPr>
          <p:cNvPr id="4" name="Text Placeholder 3"/>
          <p:cNvSpPr>
            <a:spLocks noGrp="1"/>
          </p:cNvSpPr>
          <p:nvPr>
            <p:ph type="body" idx="2" sz="half"/>
          </p:nvPr>
        </p:nvSpPr>
        <p:spPr>
          <a:xfrm>
            <a:off x="822960" y="4114800"/>
            <a:ext cx="10545775" cy="1188720"/>
          </a:xfrm>
        </p:spPr>
        <p:txBody>
          <a:bodyPr/>
          <a:lstStyle/>
          <a:p>
            <a:r>
              <a:rPr/>
              <a:t>Failing installs and unfamiliar code: a hurdle for everyone who does not code daily</a:t>
            </a:r>
          </a:p>
          <a:p>
            <a:r>
              <a:rPr/>
              <a:t>So the data stayed unstructured, and the contemporary methods out of reach</a:t>
            </a:r>
          </a:p>
          <a:p>
            <a:r>
              <a:rPr b="1"/>
              <a:t>Since then: </a:t>
            </a:r>
            <a:r>
              <a:rPr/>
              <a:t>the models got better, and so did the harnesses that let them run tools</a:t>
            </a:r>
          </a:p>
        </p:txBody>
      </p:sp>
      <p:sp>
        <p:nvSpPr>
          <p:cNvPr id="5" name="Text Placeholder 4"/>
          <p:cNvSpPr>
            <a:spLocks noGrp="1"/>
          </p:cNvSpPr>
          <p:nvPr>
            <p:ph type="body" idx="13" sz="quarter"/>
          </p:nvPr>
        </p:nvSpPr>
        <p:spPr/>
        <p:txBody>
          <a:bodyPr/>
          <a:lstStyle/>
          <a:p>
            <a:r>
              <a:rPr/>
              <a:t>Looking back</a:t>
            </a:r>
          </a:p>
        </p:txBody>
      </p:sp>
      <p:sp>
        <p:nvSpPr>
          <p:cNvPr id="6" name="Text Placeholder 5"/>
          <p:cNvSpPr>
            <a:spLocks noGrp="1"/>
          </p:cNvSpPr>
          <p:nvPr>
            <p:ph type="body" idx="15" sz="quarter"/>
          </p:nvPr>
        </p:nvSpPr>
        <p:spPr/>
        <p:txBody>
          <a:bodyPr/>
          <a:lstStyle/>
          <a:p>
            <a:r>
              <a:rPr/>
              <a:t>Previous hands-on sessions: we installed, read the docs and wrote the analysis code ourselves</a:t>
            </a:r>
          </a:p>
        </p:txBody>
      </p:sp>
      <p:sp>
        <p:nvSpPr>
          <p:cNvPr id="8" name="Rounded Rectangle 7"/>
          <p:cNvSpPr/>
          <p:nvPr/>
        </p:nvSpPr>
        <p:spPr>
          <a:xfrm>
            <a:off x="822960"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Install</a:t>
            </a:r>
          </a:p>
          <a:p>
            <a:pPr algn="ctr"/>
            <a:r>
              <a:rPr sz="1100">
                <a:solidFill>
                  <a:srgbClr val="6F6F6F"/>
                </a:solidFill>
              </a:rPr>
              <a:t>Python, packages, a working environment</a:t>
            </a:r>
          </a:p>
        </p:txBody>
      </p:sp>
      <p:sp>
        <p:nvSpPr>
          <p:cNvPr id="9" name="Rounded Rectangle 8"/>
          <p:cNvSpPr/>
          <p:nvPr/>
        </p:nvSpPr>
        <p:spPr>
          <a:xfrm>
            <a:off x="3035808"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docs</a:t>
            </a:r>
          </a:p>
          <a:p>
            <a:pPr algn="ctr"/>
            <a:r>
              <a:rPr sz="1100">
                <a:solidFill>
                  <a:srgbClr val="6F6F6F"/>
                </a:solidFill>
              </a:rPr>
              <a:t>how the tools are used</a:t>
            </a:r>
          </a:p>
        </p:txBody>
      </p:sp>
      <p:sp>
        <p:nvSpPr>
          <p:cNvPr id="10" name="Rounded Rectangle 9"/>
          <p:cNvSpPr/>
          <p:nvPr/>
        </p:nvSpPr>
        <p:spPr>
          <a:xfrm>
            <a:off x="5248656"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Write the code</a:t>
            </a:r>
          </a:p>
          <a:p>
            <a:pPr algn="ctr"/>
            <a:r>
              <a:rPr sz="1100">
                <a:solidFill>
                  <a:srgbClr val="6F6F6F"/>
                </a:solidFill>
              </a:rPr>
              <a:t>Python, by hand, for your data</a:t>
            </a:r>
          </a:p>
        </p:txBody>
      </p:sp>
      <p:sp>
        <p:nvSpPr>
          <p:cNvPr id="11" name="Rounded Rectangle 10"/>
          <p:cNvSpPr/>
          <p:nvPr/>
        </p:nvSpPr>
        <p:spPr>
          <a:xfrm>
            <a:off x="7461504"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Debug, repeat</a:t>
            </a:r>
          </a:p>
          <a:p>
            <a:pPr algn="ctr"/>
            <a:r>
              <a:rPr sz="1100">
                <a:solidFill>
                  <a:srgbClr val="6F6F6F"/>
                </a:solidFill>
              </a:rPr>
              <a:t>errors, versions, time</a:t>
            </a:r>
          </a:p>
        </p:txBody>
      </p:sp>
      <p:sp>
        <p:nvSpPr>
          <p:cNvPr id="12" name="Rounded Rectangle 11"/>
          <p:cNvSpPr/>
          <p:nvPr/>
        </p:nvSpPr>
        <p:spPr>
          <a:xfrm>
            <a:off x="9674352" y="2377440"/>
            <a:ext cx="1691640" cy="105156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Your analysis</a:t>
            </a:r>
          </a:p>
          <a:p>
            <a:pPr algn="ctr"/>
            <a:r>
              <a:rPr sz="1100">
                <a:solidFill>
                  <a:srgbClr val="6F6F6F"/>
                </a:solidFill>
              </a:rPr>
              <a:t>structured data, a kinetic model</a:t>
            </a:r>
          </a:p>
        </p:txBody>
      </p:sp>
      <p:cxnSp>
        <p:nvCxnSpPr>
          <p:cNvPr id="13" name="Connector 12"/>
          <p:cNvCxnSpPr/>
          <p:nvPr/>
        </p:nvCxnSpPr>
        <p:spPr>
          <a:xfrm>
            <a:off x="2569464"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82312"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995159" y="290322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208008" y="290322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4" name="Text Placeholder 3"/>
          <p:cNvSpPr>
            <a:spLocks noGrp="1"/>
          </p:cNvSpPr>
          <p:nvPr>
            <p:ph type="body" idx="13" sz="quarter"/>
          </p:nvPr>
        </p:nvSpPr>
        <p:spPr/>
        <p:txBody>
          <a:bodyPr/>
          <a:lstStyle/>
          <a:p>
            <a:r>
              <a:rPr/>
              <a:t>Motivation</a:t>
            </a:r>
          </a:p>
        </p:txBody>
      </p:sp>
      <p:pic>
        <p:nvPicPr>
          <p:cNvPr id="7" name="Picture 6" descr="icon_card.png"/>
          <p:cNvPicPr>
            <a:picLocks noChangeAspect="1"/>
          </p:cNvPicPr>
          <p:nvPr/>
        </p:nvPicPr>
        <p:blipFill>
          <a:blip r:embed="rId3"/>
          <a:stretch>
            <a:fillRect/>
          </a:stretch>
        </p:blipFill>
        <p:spPr>
          <a:xfrm>
            <a:off x="1283931" y="1965960"/>
            <a:ext cx="1371600" cy="1371600"/>
          </a:xfrm>
          <a:prstGeom prst="rect">
            <a:avLst/>
          </a:prstGeom>
        </p:spPr>
      </p:pic>
      <p:sp>
        <p:nvSpPr>
          <p:cNvPr id="8" name="TextBox 7"/>
          <p:cNvSpPr txBox="1"/>
          <p:nvPr/>
        </p:nvSpPr>
        <p:spPr>
          <a:xfrm>
            <a:off x="822960" y="3611880"/>
            <a:ext cx="2293543" cy="411480"/>
          </a:xfrm>
          <a:prstGeom prst="rect">
            <a:avLst/>
          </a:prstGeom>
          <a:noFill/>
        </p:spPr>
        <p:txBody>
          <a:bodyPr wrap="square" lIns="0" rIns="0" tIns="0" bIns="0">
            <a:spAutoFit/>
          </a:bodyPr>
          <a:lstStyle/>
          <a:p>
            <a:pPr algn="ctr"/>
            <a:r>
              <a:rPr b="1" sz="1600">
                <a:solidFill>
                  <a:srgbClr val="0A0A0A"/>
                </a:solidFill>
              </a:rPr>
              <a:t>One page is enough</a:t>
            </a:r>
          </a:p>
        </p:txBody>
      </p:sp>
      <p:sp>
        <p:nvSpPr>
          <p:cNvPr id="9" name="TextBox 8"/>
          <p:cNvSpPr txBox="1"/>
          <p:nvPr/>
        </p:nvSpPr>
        <p:spPr>
          <a:xfrm>
            <a:off x="822960" y="4160520"/>
            <a:ext cx="2293543" cy="1280160"/>
          </a:xfrm>
          <a:prstGeom prst="rect">
            <a:avLst/>
          </a:prstGeom>
          <a:noFill/>
        </p:spPr>
        <p:txBody>
          <a:bodyPr wrap="square" lIns="0" rIns="0" tIns="0" bIns="0">
            <a:spAutoFit/>
          </a:bodyPr>
          <a:lstStyle/>
          <a:p>
            <a:pPr algn="ctr"/>
            <a:r>
              <a:rPr sz="1300">
                <a:solidFill>
                  <a:srgbClr val="6F6F6F"/>
                </a:solidFill>
              </a:rPr>
              <a:t>From a one-page card, today's models write working code for our tools</a:t>
            </a:r>
          </a:p>
        </p:txBody>
      </p:sp>
      <p:pic>
        <p:nvPicPr>
          <p:cNvPr id="10" name="Picture 9" descr="icon_peak.png"/>
          <p:cNvPicPr>
            <a:picLocks noChangeAspect="1"/>
          </p:cNvPicPr>
          <p:nvPr/>
        </p:nvPicPr>
        <p:blipFill>
          <a:blip r:embed="rId4"/>
          <a:stretch>
            <a:fillRect/>
          </a:stretch>
        </p:blipFill>
        <p:spPr>
          <a:xfrm>
            <a:off x="4034675" y="1965960"/>
            <a:ext cx="1371600" cy="1371600"/>
          </a:xfrm>
          <a:prstGeom prst="rect">
            <a:avLst/>
          </a:prstGeom>
        </p:spPr>
      </p:pic>
      <p:sp>
        <p:nvSpPr>
          <p:cNvPr id="11" name="TextBox 10"/>
          <p:cNvSpPr txBox="1"/>
          <p:nvPr/>
        </p:nvSpPr>
        <p:spPr>
          <a:xfrm>
            <a:off x="3573703" y="3611880"/>
            <a:ext cx="2293543" cy="411480"/>
          </a:xfrm>
          <a:prstGeom prst="rect">
            <a:avLst/>
          </a:prstGeom>
          <a:noFill/>
        </p:spPr>
        <p:txBody>
          <a:bodyPr wrap="square" lIns="0" rIns="0" tIns="0" bIns="0">
            <a:spAutoFit/>
          </a:bodyPr>
          <a:lstStyle/>
          <a:p>
            <a:pPr algn="ctr"/>
            <a:r>
              <a:rPr b="1" sz="1600">
                <a:solidFill>
                  <a:srgbClr val="0A0A0A"/>
                </a:solidFill>
              </a:rPr>
              <a:t>Blind to your data</a:t>
            </a:r>
          </a:p>
        </p:txBody>
      </p:sp>
      <p:sp>
        <p:nvSpPr>
          <p:cNvPr id="12" name="TextBox 11"/>
          <p:cNvSpPr txBox="1"/>
          <p:nvPr/>
        </p:nvSpPr>
        <p:spPr>
          <a:xfrm>
            <a:off x="3573703" y="4160520"/>
            <a:ext cx="2293543" cy="1280160"/>
          </a:xfrm>
          <a:prstGeom prst="rect">
            <a:avLst/>
          </a:prstGeom>
          <a:noFill/>
        </p:spPr>
        <p:txBody>
          <a:bodyPr wrap="square" lIns="0" rIns="0" tIns="0" bIns="0">
            <a:spAutoFit/>
          </a:bodyPr>
          <a:lstStyle/>
          <a:p>
            <a:pPr algn="ctr"/>
            <a:r>
              <a:rPr sz="1300">
                <a:solidFill>
                  <a:srgbClr val="6F6F6F"/>
                </a:solidFill>
              </a:rPr>
              <a:t>Where the peak is, which model is right, when a result is wrong</a:t>
            </a:r>
          </a:p>
        </p:txBody>
      </p:sp>
      <p:pic>
        <p:nvPicPr>
          <p:cNvPr id="13" name="Picture 12" descr="icon_person_check.png"/>
          <p:cNvPicPr>
            <a:picLocks noChangeAspect="1"/>
          </p:cNvPicPr>
          <p:nvPr/>
        </p:nvPicPr>
        <p:blipFill>
          <a:blip r:embed="rId5"/>
          <a:stretch>
            <a:fillRect/>
          </a:stretch>
        </p:blipFill>
        <p:spPr>
          <a:xfrm>
            <a:off x="6785419" y="1965960"/>
            <a:ext cx="1371600" cy="1371600"/>
          </a:xfrm>
          <a:prstGeom prst="rect">
            <a:avLst/>
          </a:prstGeom>
        </p:spPr>
      </p:pic>
      <p:sp>
        <p:nvSpPr>
          <p:cNvPr id="14" name="TextBox 13"/>
          <p:cNvSpPr txBox="1"/>
          <p:nvPr/>
        </p:nvSpPr>
        <p:spPr>
          <a:xfrm>
            <a:off x="6324447" y="3611880"/>
            <a:ext cx="2293543" cy="411480"/>
          </a:xfrm>
          <a:prstGeom prst="rect">
            <a:avLst/>
          </a:prstGeom>
          <a:noFill/>
        </p:spPr>
        <p:txBody>
          <a:bodyPr wrap="square" lIns="0" rIns="0" tIns="0" bIns="0">
            <a:spAutoFit/>
          </a:bodyPr>
          <a:lstStyle/>
          <a:p>
            <a:pPr algn="ctr"/>
            <a:r>
              <a:rPr b="1" sz="1600">
                <a:solidFill>
                  <a:srgbClr val="0A0A0A"/>
                </a:solidFill>
              </a:rPr>
              <a:t>You decide and check</a:t>
            </a:r>
          </a:p>
        </p:txBody>
      </p:sp>
      <p:sp>
        <p:nvSpPr>
          <p:cNvPr id="15" name="TextBox 14"/>
          <p:cNvSpPr txBox="1"/>
          <p:nvPr/>
        </p:nvSpPr>
        <p:spPr>
          <a:xfrm>
            <a:off x="6324447" y="4160520"/>
            <a:ext cx="2293543" cy="1280160"/>
          </a:xfrm>
          <a:prstGeom prst="rect">
            <a:avLst/>
          </a:prstGeom>
          <a:noFill/>
        </p:spPr>
        <p:txBody>
          <a:bodyPr wrap="square" lIns="0" rIns="0" tIns="0" bIns="0">
            <a:spAutoFit/>
          </a:bodyPr>
          <a:lstStyle/>
          <a:p>
            <a:pPr algn="ctr"/>
            <a:r>
              <a:rPr sz="1300">
                <a:solidFill>
                  <a:srgbClr val="6F6F6F"/>
                </a:solidFill>
              </a:rPr>
              <a:t>The decisions and the checks stay with the scientist; the assistant executes</a:t>
            </a:r>
          </a:p>
        </p:txBody>
      </p:sp>
      <p:pic>
        <p:nvPicPr>
          <p:cNvPr id="16" name="Picture 15" descr="icon_document_arrows.png"/>
          <p:cNvPicPr>
            <a:picLocks noChangeAspect="1"/>
          </p:cNvPicPr>
          <p:nvPr/>
        </p:nvPicPr>
        <p:blipFill>
          <a:blip r:embed="rId6"/>
          <a:stretch>
            <a:fillRect/>
          </a:stretch>
        </p:blipFill>
        <p:spPr>
          <a:xfrm>
            <a:off x="9536163" y="1965960"/>
            <a:ext cx="1371600" cy="1371600"/>
          </a:xfrm>
          <a:prstGeom prst="rect">
            <a:avLst/>
          </a:prstGeom>
        </p:spPr>
      </p:pic>
      <p:sp>
        <p:nvSpPr>
          <p:cNvPr id="17" name="TextBox 16"/>
          <p:cNvSpPr txBox="1"/>
          <p:nvPr/>
        </p:nvSpPr>
        <p:spPr>
          <a:xfrm>
            <a:off x="9075191" y="3611880"/>
            <a:ext cx="2293543" cy="411480"/>
          </a:xfrm>
          <a:prstGeom prst="rect">
            <a:avLst/>
          </a:prstGeom>
          <a:noFill/>
        </p:spPr>
        <p:txBody>
          <a:bodyPr wrap="square" lIns="0" rIns="0" tIns="0" bIns="0">
            <a:spAutoFit/>
          </a:bodyPr>
          <a:lstStyle/>
          <a:p>
            <a:pPr algn="ctr"/>
            <a:r>
              <a:rPr b="1" sz="1600">
                <a:solidFill>
                  <a:srgbClr val="0A0A0A"/>
                </a:solidFill>
              </a:rPr>
              <a:t>EnzymeML in between</a:t>
            </a:r>
          </a:p>
        </p:txBody>
      </p:sp>
      <p:sp>
        <p:nvSpPr>
          <p:cNvPr id="18" name="TextBox 17"/>
          <p:cNvSpPr txBox="1"/>
          <p:nvPr/>
        </p:nvSpPr>
        <p:spPr>
          <a:xfrm>
            <a:off x="9075191" y="4160520"/>
            <a:ext cx="2293543" cy="1280160"/>
          </a:xfrm>
          <a:prstGeom prst="rect">
            <a:avLst/>
          </a:prstGeom>
          <a:noFill/>
        </p:spPr>
        <p:txBody>
          <a:bodyPr wrap="square" lIns="0" rIns="0" tIns="0" bIns="0">
            <a:spAutoFit/>
          </a:bodyPr>
          <a:lstStyle/>
          <a:p>
            <a:pPr algn="ctr"/>
            <a:r>
              <a:rPr sz="1300">
                <a:solidFill>
                  <a:srgbClr val="6F6F6F"/>
                </a:solidFill>
              </a:rPr>
              <a:t>One document carries the data between the steps and the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one peak table per injection</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infer the kinetic parameters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Chromhandler: from peak tables to concentrations</a:t>
            </a:r>
          </a:p>
        </p:txBody>
      </p:sp>
      <p:sp>
        <p:nvSpPr>
          <p:cNvPr id="3" name="Text Placeholder 2"/>
          <p:cNvSpPr>
            <a:spLocks noGrp="1"/>
          </p:cNvSpPr>
          <p:nvPr>
            <p:ph type="body" idx="13" sz="quarter"/>
          </p:nvPr>
        </p:nvSpPr>
        <p:spPr/>
        <p:txBody>
          <a:bodyPr/>
          <a:lstStyle/>
          <a:p>
            <a:r>
              <a:rPr/>
              <a:t>Tool 1 · Chromhandler</a:t>
            </a:r>
          </a:p>
        </p:txBody>
      </p:sp>
      <p:sp>
        <p:nvSpPr>
          <p:cNvPr id="4" name="Text Placeholder 3"/>
          <p:cNvSpPr>
            <a:spLocks noGrp="1"/>
          </p:cNvSpPr>
          <p:nvPr>
            <p:ph type="body" idx="15" sz="quarter"/>
          </p:nvPr>
        </p:nvSpPr>
        <p:spPr/>
        <p:txBody>
          <a:bodyPr/>
          <a:lstStyle/>
          <a:p>
            <a:r>
              <a:rPr/>
              <a:t>Reads the instrument's exports, assigns and calibrates one peak per compound, writes EnzymeML</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Peak tables</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Calibration standards</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Initial concentrations</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the exports</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retention window</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Assign the peak</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Calibrate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Export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Catalax: from time courses to kinetic parameters</a:t>
            </a:r>
          </a:p>
        </p:txBody>
      </p:sp>
      <p:sp>
        <p:nvSpPr>
          <p:cNvPr id="3" name="Text Placeholder 2"/>
          <p:cNvSpPr>
            <a:spLocks noGrp="1"/>
          </p:cNvSpPr>
          <p:nvPr>
            <p:ph type="body" idx="13" sz="quarter"/>
          </p:nvPr>
        </p:nvSpPr>
        <p:spPr/>
        <p:txBody>
          <a:bodyPr/>
          <a:lstStyle/>
          <a:p>
            <a:r>
              <a:rPr/>
              <a:t>Tool 2 · Catalax</a:t>
            </a:r>
          </a:p>
        </p:txBody>
      </p:sp>
      <p:sp>
        <p:nvSpPr>
          <p:cNvPr id="4" name="Text Placeholder 3"/>
          <p:cNvSpPr>
            <a:spLocks noGrp="1"/>
          </p:cNvSpPr>
          <p:nvPr>
            <p:ph type="body" idx="15" sz="quarter"/>
          </p:nvPr>
        </p:nvSpPr>
        <p:spPr/>
        <p:txBody>
          <a:bodyPr/>
          <a:lstStyle/>
          <a:p>
            <a:r>
              <a:rPr/>
              <a:t>Builds the ODE model from a rate law and samples the posterior of its parameters</a:t>
            </a:r>
          </a:p>
        </p:txBody>
      </p:sp>
      <p:sp>
        <p:nvSpPr>
          <p:cNvPr id="6" name="TextBox 5"/>
          <p:cNvSpPr txBox="1"/>
          <p:nvPr/>
        </p:nvSpPr>
        <p:spPr>
          <a:xfrm>
            <a:off x="822960" y="2057400"/>
            <a:ext cx="2743200" cy="274320"/>
          </a:xfrm>
          <a:prstGeom prst="rect">
            <a:avLst/>
          </a:prstGeom>
          <a:noFill/>
        </p:spPr>
        <p:txBody>
          <a:bodyPr wrap="square" lIns="0" rIns="0" tIns="0" bIns="0">
            <a:spAutoFit/>
          </a:bodyPr>
          <a:lstStyle/>
          <a:p>
            <a:pPr algn="ctr"/>
            <a:r>
              <a:rPr sz="1200">
                <a:solidFill>
                  <a:srgbClr val="6F6F6F"/>
                </a:solidFill>
              </a:rPr>
              <a:t>Input</a:t>
            </a:r>
          </a:p>
        </p:txBody>
      </p:sp>
      <p:sp>
        <p:nvSpPr>
          <p:cNvPr id="7" name="TextBox 6"/>
          <p:cNvSpPr txBox="1"/>
          <p:nvPr/>
        </p:nvSpPr>
        <p:spPr>
          <a:xfrm>
            <a:off x="4087368" y="2057400"/>
            <a:ext cx="4023360" cy="274320"/>
          </a:xfrm>
          <a:prstGeom prst="rect">
            <a:avLst/>
          </a:prstGeom>
          <a:noFill/>
        </p:spPr>
        <p:txBody>
          <a:bodyPr wrap="square" lIns="0" rIns="0" tIns="0" bIns="0">
            <a:spAutoFit/>
          </a:bodyPr>
          <a:lstStyle/>
          <a:p>
            <a:pPr algn="ctr"/>
            <a:r>
              <a:rPr sz="1200">
                <a:solidFill>
                  <a:srgbClr val="6F6F6F"/>
                </a:solidFill>
              </a:rPr>
              <a:t>Steps</a:t>
            </a:r>
          </a:p>
        </p:txBody>
      </p:sp>
      <p:sp>
        <p:nvSpPr>
          <p:cNvPr id="8" name="TextBox 7"/>
          <p:cNvSpPr txBox="1"/>
          <p:nvPr/>
        </p:nvSpPr>
        <p:spPr>
          <a:xfrm>
            <a:off x="8622792" y="2057400"/>
            <a:ext cx="2743200" cy="274320"/>
          </a:xfrm>
          <a:prstGeom prst="rect">
            <a:avLst/>
          </a:prstGeom>
          <a:noFill/>
        </p:spPr>
        <p:txBody>
          <a:bodyPr wrap="square" lIns="0" rIns="0" tIns="0" bIns="0">
            <a:spAutoFit/>
          </a:bodyPr>
          <a:lstStyle/>
          <a:p>
            <a:pPr algn="ctr"/>
            <a:r>
              <a:rPr sz="1200">
                <a:solidFill>
                  <a:srgbClr val="6F6F6F"/>
                </a:solidFill>
              </a:rPr>
              <a:t>Output</a:t>
            </a:r>
          </a:p>
        </p:txBody>
      </p:sp>
      <p:sp>
        <p:nvSpPr>
          <p:cNvPr id="9" name="Rounded Rectangle 8"/>
          <p:cNvSpPr/>
          <p:nvPr/>
        </p:nvSpPr>
        <p:spPr>
          <a:xfrm>
            <a:off x="822960"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p:txBody>
      </p:sp>
      <p:cxnSp>
        <p:nvCxnSpPr>
          <p:cNvPr id="10" name="Connector 9"/>
          <p:cNvCxnSpPr/>
          <p:nvPr/>
        </p:nvCxnSpPr>
        <p:spPr>
          <a:xfrm>
            <a:off x="3566160" y="27203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Rate law</a:t>
            </a:r>
          </a:p>
        </p:txBody>
      </p:sp>
      <p:cxnSp>
        <p:nvCxnSpPr>
          <p:cNvPr id="12" name="Connector 11"/>
          <p:cNvCxnSpPr/>
          <p:nvPr/>
        </p:nvCxnSpPr>
        <p:spPr>
          <a:xfrm>
            <a:off x="3566160" y="36347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 y="42062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Priors and noise</a:t>
            </a:r>
          </a:p>
        </p:txBody>
      </p:sp>
      <p:cxnSp>
        <p:nvCxnSpPr>
          <p:cNvPr id="14" name="Connector 13"/>
          <p:cNvCxnSpPr/>
          <p:nvPr/>
        </p:nvCxnSpPr>
        <p:spPr>
          <a:xfrm>
            <a:off x="3566160" y="4549140"/>
            <a:ext cx="228600"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794760" y="2642616"/>
            <a:ext cx="0" cy="1906524"/>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794760" y="2642616"/>
            <a:ext cx="237744"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087368" y="2377440"/>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Load the dataset</a:t>
            </a:r>
          </a:p>
        </p:txBody>
      </p:sp>
      <p:sp>
        <p:nvSpPr>
          <p:cNvPr id="18" name="Rounded Rectangle 17"/>
          <p:cNvSpPr/>
          <p:nvPr/>
        </p:nvSpPr>
        <p:spPr>
          <a:xfrm>
            <a:off x="4087368" y="3054096"/>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Define the model</a:t>
            </a:r>
          </a:p>
        </p:txBody>
      </p:sp>
      <p:sp>
        <p:nvSpPr>
          <p:cNvPr id="19" name="Rounded Rectangle 18"/>
          <p:cNvSpPr/>
          <p:nvPr/>
        </p:nvSpPr>
        <p:spPr>
          <a:xfrm>
            <a:off x="4087368" y="3730752"/>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Set the priors</a:t>
            </a:r>
          </a:p>
        </p:txBody>
      </p:sp>
      <p:sp>
        <p:nvSpPr>
          <p:cNvPr id="20" name="Rounded Rectangle 19"/>
          <p:cNvSpPr/>
          <p:nvPr/>
        </p:nvSpPr>
        <p:spPr>
          <a:xfrm>
            <a:off x="4087368" y="4407408"/>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Sample</a:t>
            </a:r>
          </a:p>
        </p:txBody>
      </p:sp>
      <p:sp>
        <p:nvSpPr>
          <p:cNvPr id="21" name="Rounded Rectangle 20"/>
          <p:cNvSpPr/>
          <p:nvPr/>
        </p:nvSpPr>
        <p:spPr>
          <a:xfrm>
            <a:off x="4087368" y="5084064"/>
            <a:ext cx="4023360" cy="530352"/>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Check and plot</a:t>
            </a:r>
          </a:p>
        </p:txBody>
      </p:sp>
      <p:cxnSp>
        <p:nvCxnSpPr>
          <p:cNvPr id="22" name="Connector 21"/>
          <p:cNvCxnSpPr/>
          <p:nvPr/>
        </p:nvCxnSpPr>
        <p:spPr>
          <a:xfrm>
            <a:off x="6099048" y="2926080"/>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099048" y="3602736"/>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099048" y="4279392"/>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99048" y="4956048"/>
            <a:ext cx="0" cy="109728"/>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110728" y="5349240"/>
            <a:ext cx="283464"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394192" y="2720340"/>
            <a:ext cx="0" cy="262890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622792" y="23774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Posterior</a:t>
            </a:r>
          </a:p>
        </p:txBody>
      </p:sp>
      <p:cxnSp>
        <p:nvCxnSpPr>
          <p:cNvPr id="29" name="Connector 28"/>
          <p:cNvCxnSpPr/>
          <p:nvPr/>
        </p:nvCxnSpPr>
        <p:spPr>
          <a:xfrm>
            <a:off x="8394192" y="27203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622792" y="3291840"/>
            <a:ext cx="2743200" cy="6858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Plots</a:t>
            </a:r>
          </a:p>
        </p:txBody>
      </p:sp>
      <p:cxnSp>
        <p:nvCxnSpPr>
          <p:cNvPr id="31" name="Connector 30"/>
          <p:cNvCxnSpPr/>
          <p:nvPr/>
        </p:nvCxnSpPr>
        <p:spPr>
          <a:xfrm>
            <a:off x="8394192" y="3634740"/>
            <a:ext cx="173736"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Reactions sampled over time and followed by HPLC-PDA at 215 nm</a:t>
            </a:r>
          </a:p>
          <a:p>
            <a:r>
              <a:rPr/>
              <a:t>What you get is the instrument's peak table per injection, not the raw trace</a:t>
            </a:r>
          </a:p>
          <a:p>
            <a:r>
              <a:rPr/>
              <a:t>Only the product Neu5Ac is quantified; calibration standards with known concentrations</a:t>
            </a:r>
          </a:p>
          <a:p>
            <a:r>
              <a:rPr/>
              <a:t>How many reactions, which conditions, how they were varied: that is in the data</a:t>
            </a:r>
          </a:p>
        </p:txBody>
      </p:sp>
      <p:sp>
        <p:nvSpPr>
          <p:cNvPr id="5" name="Text Placeholder 4"/>
          <p:cNvSpPr>
            <a:spLocks noGrp="1"/>
          </p:cNvSpPr>
          <p:nvPr>
            <p:ph type="body" idx="13" sz="quarter"/>
          </p:nvPr>
        </p:nvSpPr>
        <p:spPr/>
        <p:txBody>
          <a:bodyPr/>
          <a:lstStyle/>
          <a:p>
            <a:r>
              <a:rPr/>
              <a:t>The experiment</a:t>
            </a:r>
          </a:p>
        </p:txBody>
      </p:sp>
      <p:sp>
        <p:nvSpPr>
          <p:cNvPr id="7" name="Text Placeholder 6"/>
          <p:cNvSpPr>
            <a:spLocks noGrp="1"/>
          </p:cNvSpPr>
          <p:nvPr>
            <p:ph type="body" idx="16" sz="quarter"/>
          </p:nvPr>
        </p:nvSpPr>
        <p:spPr/>
        <p:txBody>
          <a:bodyPr/>
          <a:lstStyle/>
          <a:p>
            <a:r>
              <a:rPr/>
              <a:t>Data: Çakar et al. (2024) Kinetic characterization of two neuraminic acid synthases and evaluation of their application potential. Appl. Microbiol. Biotechnol. 108, 446 · doi:10.1007/s00253-024-13277-1</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tinyurl.com/enzymeml2026 · start with the README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3" name="Content Placeholder 2"/>
          <p:cNvSpPr>
            <a:spLocks noGrp="1"/>
          </p:cNvSpPr>
          <p:nvPr>
            <p:ph idx="1" sz="half"/>
          </p:nvPr>
        </p:nvSpPr>
        <p:spPr/>
        <p:txBody>
          <a:bodyPr/>
          <a:lstStyle/>
          <a:p>
            <a:r>
              <a:rPr b="1" sz="1500"/>
              <a:t>Plot the data: </a:t>
            </a:r>
            <a:r>
              <a:rPr sz="1500"/>
              <a:t>all peaks of all injections; where does Neu5Ac elute?</a:t>
            </a:r>
          </a:p>
          <a:p>
            <a:r>
              <a:rPr b="1" sz="1500"/>
              <a:t>Check how the kinetic assay was designed: </a:t>
            </a:r>
            <a:r>
              <a:rPr sz="1500"/>
              <a:t>how many reactions, what was varied, what was fixed?</a:t>
            </a:r>
          </a:p>
          <a:p>
            <a:r>
              <a:rPr b="1" sz="1500"/>
              <a:t>Calibrate: </a:t>
            </a:r>
            <a:r>
              <a:rPr sz="1500"/>
              <a:t>what are the calibration parameters, and how well does the line fit?</a:t>
            </a:r>
          </a:p>
          <a:p>
            <a:r>
              <a:rPr b="1" sz="1500"/>
              <a:t>Set the retention window </a:t>
            </a:r>
            <a:r>
              <a:rPr sz="1500"/>
              <a:t>for the reactions (it differs from the standards) and assign the peak</a:t>
            </a:r>
          </a:p>
          <a:p>
            <a:r>
              <a:rPr b="1" sz="1500"/>
              <a:t>Export the EnzymeML document: </a:t>
            </a:r>
            <a:r>
              <a:rPr sz="1500"/>
              <a:t>every reaction with all its time points; which reactions form product?</a:t>
            </a:r>
          </a:p>
        </p:txBody>
      </p:sp>
      <p:sp>
        <p:nvSpPr>
          <p:cNvPr id="4" name="Content Placeholder 3"/>
          <p:cNvSpPr>
            <a:spLocks noGrp="1"/>
          </p:cNvSpPr>
          <p:nvPr>
            <p:ph idx="2" sz="half"/>
          </p:nvPr>
        </p:nvSpPr>
        <p:spPr/>
        <p:txBody>
          <a:bodyPr/>
          <a:lstStyle/>
          <a:p>
            <a:pPr marL="0" indent="0">
              <a:buNone/>
            </a:pPr>
            <a:r>
              <a:rPr b="1" sz="1500"/>
              <a:t>How to do it</a:t>
            </a:r>
          </a:p>
          <a:p>
            <a:r>
              <a:rPr b="1" sz="1500"/>
              <a:t>Coding assistant on your machine </a:t>
            </a:r>
            <a:r>
              <a:rPr sz="1500"/>
              <a:t>(Claude Code, Codex, Cursor, …): open the repository, give it briefs/chromhandler.md and briefs/task_1_chromatograms_to_enzymeml.md, then say: let's start with task 1</a:t>
            </a:r>
          </a:p>
          <a:p>
            <a:r>
              <a:rPr b="1" sz="1500"/>
              <a:t>Chat assistant only </a:t>
            </a:r>
            <a:r>
              <a:rPr sz="1500"/>
              <a:t>(ChatGPT, Claude, Gemini, …): open the Colab starter notebook from the README, paste the two cards into the chat, run its code in the notebook</a:t>
            </a:r>
          </a:p>
          <a:p>
            <a:r>
              <a:rPr b="1" sz="1500"/>
              <a:t>No assistant that runs code? </a:t>
            </a:r>
            <a:r>
              <a:rPr sz="1500"/>
              <a:t>team up with someone who has one</a:t>
            </a:r>
          </a:p>
          <a:p>
            <a:r>
              <a:rPr b="1" sz="1500"/>
              <a:t>Repository, data and cards: </a:t>
            </a:r>
            <a:r>
              <a:rPr sz="1500"/>
              <a:t>tinyurl.com/enzymeml2026</a:t>
            </a:r>
          </a:p>
        </p:txBody>
      </p:sp>
      <p:sp>
        <p:nvSpPr>
          <p:cNvPr id="5" name="Text Placeholder 4"/>
          <p:cNvSpPr>
            <a:spLocks noGrp="1"/>
          </p:cNvSpPr>
          <p:nvPr>
            <p:ph type="body" idx="13" sz="quarter"/>
          </p:nvPr>
        </p:nvSpPr>
        <p:spPr/>
        <p:txBody>
          <a:bodyPr/>
          <a:lstStyle/>
          <a:p>
            <a:r>
              <a:rPr/>
              <a:t>Task 1</a:t>
            </a:r>
          </a:p>
        </p:txBody>
      </p:sp>
      <p:sp>
        <p:nvSpPr>
          <p:cNvPr id="6" name="Text Placeholder 5"/>
          <p:cNvSpPr>
            <a:spLocks noGrp="1"/>
          </p:cNvSpPr>
          <p:nvPr>
            <p:ph type="body" idx="15" sz="quarter"/>
          </p:nvPr>
        </p:nvSpPr>
        <p:spPr/>
        <p:txBody>
          <a:bodyPr/>
          <a:lstStyle/>
          <a:p>
            <a:r>
              <a:rPr/>
              <a:t>Result: an EnzymeML document with the Neu5Ac time course of every reaction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sz="half"/>
          </p:nvPr>
        </p:nvSpPr>
        <p:spPr/>
        <p:txBody>
          <a:bodyPr/>
          <a:lstStyle/>
          <a:p>
            <a:r>
              <a:rPr b="1" sz="1500"/>
              <a:t>Plot the time courses </a:t>
            </a:r>
            <a:r>
              <a:rPr sz="1500"/>
              <a:t>from the EnzymeML document</a:t>
            </a:r>
          </a:p>
          <a:p>
            <a:r>
              <a:rPr b="1" sz="1500"/>
              <a:t>Define the model and the priors: </a:t>
            </a:r>
            <a:r>
              <a:rPr sz="1500"/>
              <a:t>the enzyme is in the rate law, only Neu5Ac is measured</a:t>
            </a:r>
          </a:p>
          <a:p>
            <a:r>
              <a:rPr b="1" sz="1500"/>
              <a:t>Infer the kinetic parameters: </a:t>
            </a:r>
            <a:r>
              <a:rPr i="1" sz="1500"/>
              <a:t>k</a:t>
            </a:r>
            <a:r>
              <a:rPr sz="1500" baseline="-25000"/>
              <a:t>cat</a:t>
            </a:r>
            <a:r>
              <a:rPr sz="1500"/>
              <a:t>, </a:t>
            </a:r>
            <a:r>
              <a:rPr i="1" sz="1500"/>
              <a:t>K</a:t>
            </a:r>
            <a:r>
              <a:rPr i="1" sz="1500" baseline="-25000"/>
              <a:t>M</a:t>
            </a:r>
            <a:r>
              <a:rPr sz="1500" baseline="30000"/>
              <a:t>ManNAc</a:t>
            </a:r>
            <a:r>
              <a:rPr sz="1500"/>
              <a:t> and </a:t>
            </a:r>
            <a:r>
              <a:rPr i="1" sz="1500"/>
              <a:t>K</a:t>
            </a:r>
            <a:r>
              <a:rPr i="1" sz="1500" baseline="-25000"/>
              <a:t>M</a:t>
            </a:r>
            <a:r>
              <a:rPr sz="1500" baseline="30000"/>
              <a:t>PEP</a:t>
            </a:r>
            <a:r>
              <a:rPr sz="1500"/>
              <a:t>, each with its uncertainty</a:t>
            </a:r>
          </a:p>
          <a:p>
            <a:r>
              <a:rPr b="1" sz="1500"/>
              <a:t>Check the sampler: </a:t>
            </a:r>
            <a:r>
              <a:rPr sz="1500"/>
              <a:t>do the chains agree, divergences, posterior clear of the prior bounds?</a:t>
            </a:r>
          </a:p>
          <a:p>
            <a:r>
              <a:rPr b="1" sz="1500"/>
              <a:t>What is the correlation between the kinetic parameters?</a:t>
            </a:r>
          </a:p>
          <a:p>
            <a:r>
              <a:rPr b="1" sz="1500"/>
              <a:t>Does one model describe both series? </a:t>
            </a:r>
            <a:r>
              <a:rPr sz="1500"/>
              <a:t>plot data and model together</a:t>
            </a:r>
          </a:p>
        </p:txBody>
      </p:sp>
      <p:sp>
        <p:nvSpPr>
          <p:cNvPr id="4" name="Content Placeholder 3"/>
          <p:cNvSpPr>
            <a:spLocks noGrp="1"/>
          </p:cNvSpPr>
          <p:nvPr>
            <p:ph idx="2" sz="half"/>
          </p:nvPr>
        </p:nvSpPr>
        <p:spPr/>
        <p:txBody>
          <a:bodyPr/>
          <a:lstStyle/>
          <a:p>
            <a:pPr marL="0" indent="0">
              <a:buNone/>
            </a:pPr>
            <a:r>
              <a:rPr b="1" sz="1500"/>
              <a:t>How to do it</a:t>
            </a:r>
          </a:p>
          <a:p>
            <a:r>
              <a:rPr b="1" sz="1500"/>
              <a:t>Coding assistant on your machine </a:t>
            </a:r>
            <a:r>
              <a:rPr sz="1500"/>
              <a:t>(Claude Code, Codex, Cursor, …): open the repository, give it briefs/catalax.md and briefs/task_2_kinetic_model.md, then say: let's start with task 2</a:t>
            </a:r>
          </a:p>
          <a:p>
            <a:r>
              <a:rPr b="1" sz="1500"/>
              <a:t>Chat assistant only </a:t>
            </a:r>
            <a:r>
              <a:rPr sz="1500"/>
              <a:t>(ChatGPT, Claude, Gemini, …): open the Colab starter notebook from the README, paste the two cards into the chat, run its code in the notebook</a:t>
            </a:r>
          </a:p>
          <a:p>
            <a:r>
              <a:rPr b="1" sz="1500"/>
              <a:t>No assistant that runs code? </a:t>
            </a:r>
            <a:r>
              <a:rPr sz="1500"/>
              <a:t>team up with someone who has one</a:t>
            </a:r>
          </a:p>
          <a:p>
            <a:r>
              <a:rPr b="1" sz="1500"/>
              <a:t>No result from task 1? </a:t>
            </a:r>
            <a:r>
              <a:rPr sz="1500"/>
              <a:t>start from checkpoints/neus_enzymeml.json</a:t>
            </a:r>
          </a:p>
          <a:p>
            <a:r>
              <a:rPr b="1" sz="1500"/>
              <a:t>Repository, data and cards: </a:t>
            </a:r>
            <a:r>
              <a:rPr sz="1500"/>
              <a:t>tinyurl.com/enzymeml2026</a:t>
            </a:r>
          </a:p>
        </p:txBody>
      </p:sp>
      <p:sp>
        <p:nvSpPr>
          <p:cNvPr id="5" name="Text Placeholder 4"/>
          <p:cNvSpPr>
            <a:spLocks noGrp="1"/>
          </p:cNvSpPr>
          <p:nvPr>
            <p:ph type="body" idx="13" sz="quarter"/>
          </p:nvPr>
        </p:nvSpPr>
        <p:spPr/>
        <p:txBody>
          <a:bodyPr/>
          <a:lstStyle/>
          <a:p>
            <a:r>
              <a:rPr/>
              <a:t>Task 2</a:t>
            </a:r>
          </a:p>
        </p:txBody>
      </p:sp>
      <p:sp>
        <p:nvSpPr>
          <p:cNvPr id="6" name="Text Placeholder 5"/>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1725614" y="1645920"/>
            <a:ext cx="8740465"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tinyurl.com/enzymeml2026</a:t>
            </a:r>
          </a:p>
          <a:p>
            <a:pPr lvl="1"/>
            <a:r>
              <a:t>Max Häußler · University of Freiburg</a:t>
            </a:r>
          </a:p>
        </p:txBody>
      </p:sp>
      <p:pic>
        <p:nvPicPr>
          <p:cNvPr id="4" name="Picture 3" descr="qr_repository.png"/>
          <p:cNvPicPr>
            <a:picLocks noChangeAspect="1"/>
          </p:cNvPicPr>
          <p:nvPr/>
        </p:nvPicPr>
        <p:blipFill>
          <a:blip r:embed="rId3"/>
          <a:stretch>
            <a:fillRect/>
          </a:stretch>
        </p:blipFill>
        <p:spPr>
          <a:xfrm>
            <a:off x="10058400" y="2148840"/>
            <a:ext cx="1371600" cy="1371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
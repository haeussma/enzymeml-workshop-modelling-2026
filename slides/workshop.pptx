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Let the assistant read the data and answer the first question; show the peak plot. Accept the calibration explicitly ('my decision, not the assistant's'). Deliberate mistake: when asked for the reaction window, say 'the same as the standards'; chromhandler warns 'No peaks found for Neu5Ac', the document has no Neu5Ac values. Say why (the shift on the peak plot), correct it, continue. The questions on the slide are what every pair answers; we compare at 11:25.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4" name="Text Placeholder 3"/>
          <p:cNvSpPr>
            <a:spLocks noGrp="1"/>
          </p:cNvSpPr>
          <p:nvPr>
            <p:ph type="body" idx="13" sz="quarter"/>
          </p:nvPr>
        </p:nvSpPr>
        <p:spPr/>
        <p:txBody>
          <a:bodyPr/>
          <a:lstStyle/>
          <a:p>
            <a:r>
              <a:rPr/>
              <a:t>Motivation</a:t>
            </a:r>
          </a:p>
        </p:txBody>
      </p:sp>
      <p:pic>
        <p:nvPicPr>
          <p:cNvPr id="7" name="Picture 6" descr="icon_card.png"/>
          <p:cNvPicPr>
            <a:picLocks noChangeAspect="1"/>
          </p:cNvPicPr>
          <p:nvPr/>
        </p:nvPicPr>
        <p:blipFill>
          <a:blip r:embed="rId3"/>
          <a:stretch>
            <a:fillRect/>
          </a:stretch>
        </p:blipFill>
        <p:spPr>
          <a:xfrm>
            <a:off x="1283931" y="1965960"/>
            <a:ext cx="1371600" cy="1371600"/>
          </a:xfrm>
          <a:prstGeom prst="rect">
            <a:avLst/>
          </a:prstGeom>
        </p:spPr>
      </p:pic>
      <p:sp>
        <p:nvSpPr>
          <p:cNvPr id="8" name="TextBox 7"/>
          <p:cNvSpPr txBox="1"/>
          <p:nvPr/>
        </p:nvSpPr>
        <p:spPr>
          <a:xfrm>
            <a:off x="822960" y="3611880"/>
            <a:ext cx="2293543" cy="411480"/>
          </a:xfrm>
          <a:prstGeom prst="rect">
            <a:avLst/>
          </a:prstGeom>
          <a:noFill/>
        </p:spPr>
        <p:txBody>
          <a:bodyPr wrap="square" lIns="0" rIns="0" tIns="0" bIns="0">
            <a:spAutoFit/>
          </a:bodyPr>
          <a:lstStyle/>
          <a:p>
            <a:pPr algn="ctr"/>
            <a:r>
              <a:rPr b="1" sz="1600">
                <a:solidFill>
                  <a:srgbClr val="0A0A0A"/>
                </a:solidFill>
              </a:rPr>
              <a:t>One page is enough</a:t>
            </a:r>
          </a:p>
        </p:txBody>
      </p:sp>
      <p:sp>
        <p:nvSpPr>
          <p:cNvPr id="9" name="TextBox 8"/>
          <p:cNvSpPr txBox="1"/>
          <p:nvPr/>
        </p:nvSpPr>
        <p:spPr>
          <a:xfrm>
            <a:off x="822960" y="4160520"/>
            <a:ext cx="2293543" cy="1280160"/>
          </a:xfrm>
          <a:prstGeom prst="rect">
            <a:avLst/>
          </a:prstGeom>
          <a:noFill/>
        </p:spPr>
        <p:txBody>
          <a:bodyPr wrap="square" lIns="0" rIns="0" tIns="0" bIns="0">
            <a:spAutoFit/>
          </a:bodyPr>
          <a:lstStyle/>
          <a:p>
            <a:pPr algn="ctr"/>
            <a:r>
              <a:rPr sz="1300">
                <a:solidFill>
                  <a:srgbClr val="6F6F6F"/>
                </a:solidFill>
              </a:rPr>
              <a:t>From a one-page card, today's models write working code for our tools</a:t>
            </a:r>
          </a:p>
        </p:txBody>
      </p:sp>
      <p:pic>
        <p:nvPicPr>
          <p:cNvPr id="10" name="Picture 9" descr="icon_peak.png"/>
          <p:cNvPicPr>
            <a:picLocks noChangeAspect="1"/>
          </p:cNvPicPr>
          <p:nvPr/>
        </p:nvPicPr>
        <p:blipFill>
          <a:blip r:embed="rId4"/>
          <a:stretch>
            <a:fillRect/>
          </a:stretch>
        </p:blipFill>
        <p:spPr>
          <a:xfrm>
            <a:off x="4034675" y="1965960"/>
            <a:ext cx="1371600" cy="1371600"/>
          </a:xfrm>
          <a:prstGeom prst="rect">
            <a:avLst/>
          </a:prstGeom>
        </p:spPr>
      </p:pic>
      <p:sp>
        <p:nvSpPr>
          <p:cNvPr id="11" name="TextBox 10"/>
          <p:cNvSpPr txBox="1"/>
          <p:nvPr/>
        </p:nvSpPr>
        <p:spPr>
          <a:xfrm>
            <a:off x="3573703" y="3611880"/>
            <a:ext cx="2293543" cy="411480"/>
          </a:xfrm>
          <a:prstGeom prst="rect">
            <a:avLst/>
          </a:prstGeom>
          <a:noFill/>
        </p:spPr>
        <p:txBody>
          <a:bodyPr wrap="square" lIns="0" rIns="0" tIns="0" bIns="0">
            <a:spAutoFit/>
          </a:bodyPr>
          <a:lstStyle/>
          <a:p>
            <a:pPr algn="ctr"/>
            <a:r>
              <a:rPr b="1" sz="1600">
                <a:solidFill>
                  <a:srgbClr val="0A0A0A"/>
                </a:solidFill>
              </a:rPr>
              <a:t>Blind to your data</a:t>
            </a:r>
          </a:p>
        </p:txBody>
      </p:sp>
      <p:sp>
        <p:nvSpPr>
          <p:cNvPr id="12" name="TextBox 11"/>
          <p:cNvSpPr txBox="1"/>
          <p:nvPr/>
        </p:nvSpPr>
        <p:spPr>
          <a:xfrm>
            <a:off x="3573703" y="4160520"/>
            <a:ext cx="2293543" cy="1280160"/>
          </a:xfrm>
          <a:prstGeom prst="rect">
            <a:avLst/>
          </a:prstGeom>
          <a:noFill/>
        </p:spPr>
        <p:txBody>
          <a:bodyPr wrap="square" lIns="0" rIns="0" tIns="0" bIns="0">
            <a:spAutoFit/>
          </a:bodyPr>
          <a:lstStyle/>
          <a:p>
            <a:pPr algn="ctr"/>
            <a:r>
              <a:rPr sz="1300">
                <a:solidFill>
                  <a:srgbClr val="6F6F6F"/>
                </a:solidFill>
              </a:rPr>
              <a:t>Where the peak is, which model is right, when a result is wrong</a:t>
            </a:r>
          </a:p>
        </p:txBody>
      </p:sp>
      <p:pic>
        <p:nvPicPr>
          <p:cNvPr id="13" name="Picture 12" descr="icon_person_check.png"/>
          <p:cNvPicPr>
            <a:picLocks noChangeAspect="1"/>
          </p:cNvPicPr>
          <p:nvPr/>
        </p:nvPicPr>
        <p:blipFill>
          <a:blip r:embed="rId5"/>
          <a:stretch>
            <a:fillRect/>
          </a:stretch>
        </p:blipFill>
        <p:spPr>
          <a:xfrm>
            <a:off x="6785419" y="1965960"/>
            <a:ext cx="1371600" cy="1371600"/>
          </a:xfrm>
          <a:prstGeom prst="rect">
            <a:avLst/>
          </a:prstGeom>
        </p:spPr>
      </p:pic>
      <p:sp>
        <p:nvSpPr>
          <p:cNvPr id="14" name="TextBox 13"/>
          <p:cNvSpPr txBox="1"/>
          <p:nvPr/>
        </p:nvSpPr>
        <p:spPr>
          <a:xfrm>
            <a:off x="6324447" y="3611880"/>
            <a:ext cx="2293543" cy="411480"/>
          </a:xfrm>
          <a:prstGeom prst="rect">
            <a:avLst/>
          </a:prstGeom>
          <a:noFill/>
        </p:spPr>
        <p:txBody>
          <a:bodyPr wrap="square" lIns="0" rIns="0" tIns="0" bIns="0">
            <a:spAutoFit/>
          </a:bodyPr>
          <a:lstStyle/>
          <a:p>
            <a:pPr algn="ctr"/>
            <a:r>
              <a:rPr b="1" sz="1600">
                <a:solidFill>
                  <a:srgbClr val="0A0A0A"/>
                </a:solidFill>
              </a:rPr>
              <a:t>You decide and check</a:t>
            </a:r>
          </a:p>
        </p:txBody>
      </p:sp>
      <p:sp>
        <p:nvSpPr>
          <p:cNvPr id="15" name="TextBox 14"/>
          <p:cNvSpPr txBox="1"/>
          <p:nvPr/>
        </p:nvSpPr>
        <p:spPr>
          <a:xfrm>
            <a:off x="6324447" y="4160520"/>
            <a:ext cx="2293543" cy="1280160"/>
          </a:xfrm>
          <a:prstGeom prst="rect">
            <a:avLst/>
          </a:prstGeom>
          <a:noFill/>
        </p:spPr>
        <p:txBody>
          <a:bodyPr wrap="square" lIns="0" rIns="0" tIns="0" bIns="0">
            <a:spAutoFit/>
          </a:bodyPr>
          <a:lstStyle/>
          <a:p>
            <a:pPr algn="ctr"/>
            <a:r>
              <a:rPr sz="1300">
                <a:solidFill>
                  <a:srgbClr val="6F6F6F"/>
                </a:solidFill>
              </a:rPr>
              <a:t>The decisions and the checks stay with the scientist; the assistant executes</a:t>
            </a:r>
          </a:p>
        </p:txBody>
      </p:sp>
      <p:pic>
        <p:nvPicPr>
          <p:cNvPr id="16" name="Picture 15" descr="icon_document_arrows.png"/>
          <p:cNvPicPr>
            <a:picLocks noChangeAspect="1"/>
          </p:cNvPicPr>
          <p:nvPr/>
        </p:nvPicPr>
        <p:blipFill>
          <a:blip r:embed="rId6"/>
          <a:stretch>
            <a:fillRect/>
          </a:stretch>
        </p:blipFill>
        <p:spPr>
          <a:xfrm>
            <a:off x="9536163" y="1965960"/>
            <a:ext cx="1371600" cy="1371600"/>
          </a:xfrm>
          <a:prstGeom prst="rect">
            <a:avLst/>
          </a:prstGeom>
        </p:spPr>
      </p:pic>
      <p:sp>
        <p:nvSpPr>
          <p:cNvPr id="17" name="TextBox 16"/>
          <p:cNvSpPr txBox="1"/>
          <p:nvPr/>
        </p:nvSpPr>
        <p:spPr>
          <a:xfrm>
            <a:off x="9075191" y="3611880"/>
            <a:ext cx="2293543" cy="411480"/>
          </a:xfrm>
          <a:prstGeom prst="rect">
            <a:avLst/>
          </a:prstGeom>
          <a:noFill/>
        </p:spPr>
        <p:txBody>
          <a:bodyPr wrap="square" lIns="0" rIns="0" tIns="0" bIns="0">
            <a:spAutoFit/>
          </a:bodyPr>
          <a:lstStyle/>
          <a:p>
            <a:pPr algn="ctr"/>
            <a:r>
              <a:rPr b="1" sz="1600">
                <a:solidFill>
                  <a:srgbClr val="0A0A0A"/>
                </a:solidFill>
              </a:rPr>
              <a:t>EnzymeML in between</a:t>
            </a:r>
          </a:p>
        </p:txBody>
      </p:sp>
      <p:sp>
        <p:nvSpPr>
          <p:cNvPr id="18" name="TextBox 17"/>
          <p:cNvSpPr txBox="1"/>
          <p:nvPr/>
        </p:nvSpPr>
        <p:spPr>
          <a:xfrm>
            <a:off x="9075191" y="4160520"/>
            <a:ext cx="2293543" cy="1280160"/>
          </a:xfrm>
          <a:prstGeom prst="rect">
            <a:avLst/>
          </a:prstGeom>
          <a:noFill/>
        </p:spPr>
        <p:txBody>
          <a:bodyPr wrap="square" lIns="0" rIns="0" tIns="0" bIns="0">
            <a:spAutoFit/>
          </a:bodyPr>
          <a:lstStyle/>
          <a:p>
            <a:pPr algn="ctr"/>
            <a:r>
              <a:rPr sz="1300">
                <a:solidFill>
                  <a:srgbClr val="6F6F6F"/>
                </a:solidFill>
              </a:rPr>
              <a:t>One document carries the data between the steps and the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infer the kinetic parameters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Reactions sampled over time and followed by HPLC-PDA at 215 nm</a:t>
            </a:r>
          </a:p>
          <a:p>
            <a:r>
              <a:rPr/>
              <a:t>What you get is the instrument's peak table per injection, not the raw trace</a:t>
            </a:r>
          </a:p>
          <a:p>
            <a:r>
              <a:rPr/>
              <a:t>Only the product Neu5Ac is quantified; calibration standards with known concentrations</a:t>
            </a:r>
          </a:p>
          <a:p>
            <a:r>
              <a:rPr/>
              <a:t>How many reactions, which conditions, how they were varied: that is in the data</a:t>
            </a:r>
          </a:p>
        </p:txBody>
      </p:sp>
      <p:sp>
        <p:nvSpPr>
          <p:cNvPr id="5" name="Text Placeholder 4"/>
          <p:cNvSpPr>
            <a:spLocks noGrp="1"/>
          </p:cNvSpPr>
          <p:nvPr>
            <p:ph type="body" idx="13" sz="quarter"/>
          </p:nvPr>
        </p:nvSpPr>
        <p:spPr/>
        <p:txBody>
          <a:bodyPr/>
          <a:lstStyle/>
          <a:p>
            <a:r>
              <a:rPr/>
              <a:t>The experiment</a:t>
            </a:r>
          </a:p>
        </p:txBody>
      </p:sp>
      <p:sp>
        <p:nvSpPr>
          <p:cNvPr id="7" name="Text Placeholder 6"/>
          <p:cNvSpPr>
            <a:spLocks noGrp="1"/>
          </p:cNvSpPr>
          <p:nvPr>
            <p:ph type="body" idx="16" sz="quarter"/>
          </p:nvPr>
        </p:nvSpPr>
        <p:spPr/>
        <p:txBody>
          <a:bodyPr/>
          <a:lstStyle/>
          <a:p>
            <a:r>
              <a:rPr/>
              <a:t>Data: Çakar et al. (2024) Kinetic characterization of two neuraminic acid synthases and evaluation of their application potential. Appl. Microbiol. Biotechnol. 108, 446 · doi:10.1007/s00253-024-13277-1</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tinyurl.com/enzymeml2026 · start with the README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3" name="Content Placeholder 2"/>
          <p:cNvSpPr>
            <a:spLocks noGrp="1"/>
          </p:cNvSpPr>
          <p:nvPr>
            <p:ph idx="1"/>
          </p:nvPr>
        </p:nvSpPr>
        <p:spPr/>
        <p:txBody>
          <a:bodyPr/>
          <a:lstStyle/>
          <a:p>
            <a:r>
              <a:rPr b="1"/>
              <a:t>Goal: </a:t>
            </a:r>
            <a:r>
              <a:rPr/>
              <a:t>an EnzymeML document with the calibrated Neu5Ac time course of every reaction</a:t>
            </a:r>
          </a:p>
          <a:p>
            <a:r>
              <a:rPr b="1"/>
              <a:t>Your decision: </a:t>
            </a:r>
            <a:r>
              <a:rPr/>
              <a:t>the Neu5Ac retention window, different in standards and reactions</a:t>
            </a:r>
          </a:p>
          <a:p>
            <a:pPr marL="0" indent="0">
              <a:buNone/>
            </a:pPr>
            <a:r>
              <a:rPr b="1"/>
              <a:t>Questions to answer</a:t>
            </a:r>
          </a:p>
          <a:p>
            <a:r>
              <a:rPr/>
              <a:t>How many reactions and standards are in the data, and what was varied?</a:t>
            </a:r>
          </a:p>
          <a:p>
            <a:r>
              <a:rPr/>
              <a:t>Where does Neu5Ac elute, in the standards and in the reactions?</a:t>
            </a:r>
          </a:p>
          <a:p>
            <a:r>
              <a:rPr/>
              <a:t>What is the calibration slope, and how well does the line fit?</a:t>
            </a:r>
          </a:p>
          <a:p>
            <a:r>
              <a:rPr/>
              <a:t>Does every reaction have all its time points, and which reactions form product?</a:t>
            </a:r>
          </a:p>
        </p:txBody>
      </p:sp>
      <p:sp>
        <p:nvSpPr>
          <p:cNvPr id="4" name="Text Placeholder 3"/>
          <p:cNvSpPr>
            <a:spLocks noGrp="1"/>
          </p:cNvSpPr>
          <p:nvPr>
            <p:ph type="body" idx="13" sz="quarter"/>
          </p:nvPr>
        </p:nvSpPr>
        <p:spPr/>
        <p:txBody>
          <a:bodyPr/>
          <a:lstStyle/>
          <a:p>
            <a:r>
              <a:rPr/>
              <a:t>Task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pPr marL="0" indent="0">
              <a:buNone/>
            </a:pPr>
            <a:r>
              <a:rPr b="1"/>
              <a:t>Questions to answer</a:t>
            </a:r>
          </a:p>
          <a:p>
            <a:r>
              <a:rPr/>
              <a:t>What are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and how uncertain is each?</a:t>
            </a:r>
          </a:p>
          <a:p>
            <a:r>
              <a:rPr/>
              <a:t>Do the two chains agree, and were there divergences?</a:t>
            </a:r>
          </a:p>
          <a:p>
            <a:r>
              <a:rPr/>
              <a:t>Is the posterior clear of the prior bounds, or does a bound decide the answer?</a:t>
            </a:r>
          </a:p>
          <a:p>
            <a:r>
              <a:rPr/>
              <a:t>Does one model describe both series?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
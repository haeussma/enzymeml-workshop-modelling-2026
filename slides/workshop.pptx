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9D7B26C5-4107-4FEC-AEDC-1716B250EE53}"/>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94"/>
  </p:normalViewPr>
  <p:slideViewPr>
    <p:cSldViewPr snapToGrid="0" snapToObjects="1">
      <p:cViewPr varScale="1">
        <p:scale>
          <a:sx n="121" d="100"/>
          <a:sy n="121" d="100"/>
        </p:scale>
        <p:origin x="744" y="17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1965087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9:00 · 1 min. Welcome to hands-on session 2 (9:00–12:00). The session is shared with Sascha Gabriel (Stuttgart); this deck is my part. Plan: 15 min of introduction, a live demo, two hands-on tasks with a break in between, comparison of results at 11:25, wrap-up at 11:50.</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9:01 · 2 min. Recap of the earlier sessions: we, as humans, wrote the code. Before the first plot everyone had to set up a computing environment, read the documentation of the tools for extracting and modelling data, and write Python. Installations failed, the code was unfamiliar, and for people who do not work with code every day this was a burden. That kept many from structuring their data at all, and so from using contemporary data-science methods on it. Bridge: since then a lot has happened with language models and AI agents; the models got better, and the harnesses that let a model execute tools got much better. Next slide shows the models.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9:03 · 2 min. Dashed line: the 6th workshop, 29 Sep – 2 Oct 2025. Since then the flagship models went from about 23 to 53 on the index. The index is an independent benchmark, every model tested the same way. The point is that the tool changed a lot in one year, not which lab leads. Keep it short.</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9:05 · 2 min. What this enables for us: from a one-page description a model writes correct code against Chromhandler and Catalax. What it does not do: know where the peak is, which model is right, whether a result is wrong. So today the assistant executes, you decide and check. EnzymeML is the document that travels between the steps and the tools.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9:07 · 2 min. A language model on its own only writes text. Tools are functions it can call and whose output it sees: read a file, run Python, make a plot; that is how it reads the peak tables and runs Chromhandler and Catalax. Skills are instructions in plain text: our two tool cards, chromhandler.md and catalax.md, tell it how each library turns data into insight, peak tables into an EnzymeML document, the document into kcat and Km by Bayesian inference. You give the task, take the decisions and check the results; the model executes.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9:09 · 1 min. Walk through the five boxes left to right. Task 1 covers the first three, task 2 the last three; the EnzymeML document is the handover, which is why anyone stuck in task 1 can start task 2 from the checkpoint. Timing: task 1 9:15–10:15, task 2 10:30–11:25.</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9:10 · 1 min. Left: what goes in, the peak tables the instrument software exported (one per injection, the reaction time in the file name), the standards with known concentrations, and the initial concentrations. Middle: the steps in order; two of them are the scientist's decisions, the retention window per session and accepting the calibration. Right: the EnzymeML document and the checks the task card asks for.</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9:11 · 1 min. Left: the EnzymeML document, the rate law, and the assumptions, priors and noise. Middle: load, define the model, set the priors, sample with Hamiltonian Monte Carlo, then check and plot. The model, the priors and the noise are the scientist's decisions; the checks say whether the posterior can be trusted. Right: posterior distributions, not point estimates, and the plots.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9:12 · 2 min. Neu5Ac synthase condenses ManNAc and PEP to Neu5Ac and phosphate (metal cofactor, water). HPLC-PDA at 215 nm; the instrument software exported one peak table per injection. Only the product is quantified; the substrates enter the model as their known initial values. Do not explain the design or the numbers: how many reactions there are, what was varied and what the data look like is what the participants find out with their assistant in task 1.</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9:15 · 2 min, then this slide stays on the projector. Task 1 with Chromhandler, task 2 with Catalax; the README has the detailed tasks (what to look for in the data) and the three ways to work. Live demo of task 1 first (9:15), hands-on from 9:30, break 10:15, demo of task 2 10:30, hands-on 10:40, comparison of everybody's parameters at 11:25. Those without an assistant that runs code team up; those stuck in task 1 start task 2 from the checkpoint.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11:25 · 25 min. First collect everybody's kcat, Km_ManNAc, Km_PEP: how much do they differ and why (windows, priors, reactions used)? Then the misfit: one shared kcat over-predicts the ManNAc series and under-predicts the PEP series; the series were measured on different days and differ by roughly 25 % in activity. Ask: a per-day activity factor, a new experiment, both? Which decisions did the assistant try to make for you, and which did you take back?</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11:50 · 10 min. Take-home and feedback round. Ask explicitly what did not work: that is what we need to improve the cards. The cards are reusable as SKILL.md / AGENTS.md for coding agents.</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11:58 · Close. The repository stays up: tinyurl.com/enzymeml2026, or the QR code. Questions in the break or by mail.</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Cover">
    <p:spTree>
      <p:nvGrpSpPr>
        <p:cNvPr id="1" name=""/>
        <p:cNvGrpSpPr/>
        <p:nvPr/>
      </p:nvGrpSpPr>
      <p:grpSpPr>
        <a:xfrm>
          <a:off x="0" y="0"/>
          <a:ext cx="0" cy="0"/>
          <a:chOff x="0" y="0"/>
          <a:chExt cx="0" cy="0"/>
        </a:xfrm>
      </p:grpSpPr>
      <p:sp>
        <p:nvSpPr>
          <p:cNvPr id="2" name="Title 1"/>
          <p:cNvSpPr>
            <a:spLocks noGrp="1"/>
          </p:cNvSpPr>
          <p:nvPr>
            <p:ph type="ctrTitle"/>
          </p:nvPr>
        </p:nvSpPr>
        <p:spPr>
          <a:xfrm>
            <a:off x="822960" y="2514600"/>
            <a:ext cx="9280282" cy="2103120"/>
          </a:xfrm>
        </p:spPr>
        <p:txBody>
          <a:bodyPr lIns="0" tIns="0" rIns="0" bIns="0" anchor="t"/>
          <a:lstStyle>
            <a:lvl1pPr marL="0" indent="0" algn="l">
              <a:lnSpc>
                <a:spcPct val="92000"/>
              </a:lnSpc>
              <a:spcBef>
                <a:spcPts val="0"/>
              </a:spcBef>
              <a:buNone/>
              <a:defRPr sz="4600" b="1" spc="-80">
                <a:solidFill>
                  <a:srgbClr val="0A0A0A"/>
                </a:solidFill>
                <a:latin typeface="Arial"/>
              </a:defRPr>
            </a:lvl1pPr>
          </a:lstStyle>
          <a:p>
            <a:r>
              <a:rPr lang="en-US"/>
              <a:t>Click to edit Master title style</a:t>
            </a:r>
          </a:p>
        </p:txBody>
      </p:sp>
      <p:sp>
        <p:nvSpPr>
          <p:cNvPr id="3" name="Subtitle 2"/>
          <p:cNvSpPr>
            <a:spLocks noGrp="1"/>
          </p:cNvSpPr>
          <p:nvPr>
            <p:ph type="subTitle" idx="1"/>
          </p:nvPr>
        </p:nvSpPr>
        <p:spPr>
          <a:xfrm>
            <a:off x="822960" y="4754880"/>
            <a:ext cx="10545775" cy="1188720"/>
          </a:xfrm>
        </p:spPr>
        <p:txBody>
          <a:bodyPr lIns="0" tIns="0" rIns="0" bIns="0" anchor="t"/>
          <a:lstStyle>
            <a:lvl1pPr marL="0" indent="0" algn="l">
              <a:lnSpc>
                <a:spcPct val="110000"/>
              </a:lnSpc>
              <a:spcBef>
                <a:spcPts val="0"/>
              </a:spcBef>
              <a:buNone/>
              <a:defRPr sz="2000" b="0" spc="0">
                <a:solidFill>
                  <a:srgbClr val="0A0A0A"/>
                </a:solidFill>
                <a:latin typeface="Arial"/>
              </a:defRPr>
            </a:lvl1pPr>
            <a:lvl2pPr marL="0" indent="0" algn="l">
              <a:spcBef>
                <a:spcPts val="600"/>
              </a:spcBef>
              <a:buNone/>
              <a:defRPr sz="1200" b="0" spc="0">
                <a:solidFill>
                  <a:srgbClr val="6F6F6F"/>
                </a:solidFill>
                <a:latin typeface="Arial"/>
              </a:defRPr>
            </a:lvl2pPr>
          </a:lstStyle>
          <a:p>
            <a:r>
              <a:rPr lang="en-US"/>
              <a:t>Click to edit Master subtitle style</a:t>
            </a:r>
          </a:p>
        </p:txBody>
      </p:sp>
      <p:sp>
        <p:nvSpPr>
          <p:cNvPr id="4" name="Kicker"/>
          <p:cNvSpPr>
            <a:spLocks noGrp="1"/>
          </p:cNvSpPr>
          <p:nvPr>
            <p:ph type="body" sz="quarter" idx="13"/>
          </p:nvPr>
        </p:nvSpPr>
        <p:spPr>
          <a:xfrm>
            <a:off x="822960" y="2103120"/>
            <a:ext cx="10545775" cy="274320"/>
          </a:xfrm>
        </p:spPr>
        <p:txBody>
          <a:bodyPr lIns="0" tIns="0" rIns="0" bIns="0" anchor="b"/>
          <a:lstStyle>
            <a:lvl1pPr marL="0" indent="0" algn="l">
              <a:spcBef>
                <a:spcPts val="0"/>
              </a:spcBef>
              <a:buNone/>
              <a:defRPr sz="1100" b="1" cap="all" spc="300">
                <a:solidFill>
                  <a:srgbClr val="6F6F6F"/>
                </a:solidFill>
                <a:latin typeface="Arial"/>
              </a:defRPr>
            </a:lvl1pPr>
          </a:lstStyle>
          <a:p>
            <a:r>
              <a:rPr lang="en-GB"/>
              <a:t>Kicker</a:t>
            </a:r>
          </a:p>
        </p:txBody>
      </p:sp>
      <p:pic>
        <p:nvPicPr>
          <p:cNvPr id="5" name="Logo uni-freiburg-wordmark" descr="Logo uni-freiburg-wordmark"/>
          <p:cNvPicPr>
            <a:picLocks noChangeAspect="1"/>
          </p:cNvPicPr>
          <p:nvPr/>
        </p:nvPicPr>
        <p:blipFill>
          <a:blip r:embed="rId2"/>
          <a:stretch>
            <a:fillRect/>
          </a:stretch>
        </p:blipFill>
        <p:spPr>
          <a:xfrm>
            <a:off x="822960" y="932230"/>
            <a:ext cx="2694316" cy="330098"/>
          </a:xfrm>
          <a:prstGeom prst="rect">
            <a:avLst/>
          </a:prstGeom>
        </p:spPr>
      </p:pic>
      <p:pic>
        <p:nvPicPr>
          <p:cNvPr id="6" name="Logo enzymeml-logo" descr="Logo enzymeml-logo"/>
          <p:cNvPicPr>
            <a:picLocks noChangeAspect="1"/>
          </p:cNvPicPr>
          <p:nvPr/>
        </p:nvPicPr>
        <p:blipFill>
          <a:blip r:embed="rId3"/>
          <a:stretch>
            <a:fillRect/>
          </a:stretch>
        </p:blipFill>
        <p:spPr>
          <a:xfrm>
            <a:off x="3995050" y="662940"/>
            <a:ext cx="1041336" cy="868680"/>
          </a:xfrm>
          <a:prstGeom prst="rect">
            <a:avLst/>
          </a:prstGeom>
        </p:spPr>
      </p:pic>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preserve="1">
  <p:cSld name="Section">
    <p:spTree>
      <p:nvGrpSpPr>
        <p:cNvPr id="1" name=""/>
        <p:cNvGrpSpPr/>
        <p:nvPr/>
      </p:nvGrpSpPr>
      <p:grpSpPr>
        <a:xfrm>
          <a:off x="0" y="0"/>
          <a:ext cx="0" cy="0"/>
          <a:chOff x="0" y="0"/>
          <a:chExt cx="0" cy="0"/>
        </a:xfrm>
      </p:grpSpPr>
      <p:sp>
        <p:nvSpPr>
          <p:cNvPr id="2" name="Title 1"/>
          <p:cNvSpPr>
            <a:spLocks noGrp="1"/>
          </p:cNvSpPr>
          <p:nvPr>
            <p:ph type="title"/>
          </p:nvPr>
        </p:nvSpPr>
        <p:spPr>
          <a:xfrm>
            <a:off x="822960" y="2560320"/>
            <a:ext cx="10545775" cy="1463040"/>
          </a:xfrm>
        </p:spPr>
        <p:txBody>
          <a:bodyPr lIns="0" tIns="0" rIns="0" bIns="0" anchor="t"/>
          <a:lstStyle>
            <a:lvl1pPr marL="0" indent="0" algn="l">
              <a:lnSpc>
                <a:spcPct val="90000"/>
              </a:lnSpc>
              <a:spcBef>
                <a:spcPts val="0"/>
              </a:spcBef>
              <a:buNone/>
              <a:defRPr sz="6000" b="1" spc="-100">
                <a:solidFill>
                  <a:srgbClr val="0A0A0A"/>
                </a:solidFill>
                <a:latin typeface="Arial"/>
              </a:defRPr>
            </a:lvl1pPr>
          </a:lstStyle>
          <a:p>
            <a:r>
              <a:rPr lang="en-US"/>
              <a:t>Click to edit Master title style</a:t>
            </a:r>
          </a:p>
        </p:txBody>
      </p:sp>
      <p:sp>
        <p:nvSpPr>
          <p:cNvPr id="3" name="Text Placeholder 2"/>
          <p:cNvSpPr>
            <a:spLocks noGrp="1"/>
          </p:cNvSpPr>
          <p:nvPr>
            <p:ph type="body" idx="1"/>
          </p:nvPr>
        </p:nvSpPr>
        <p:spPr>
          <a:xfrm>
            <a:off x="822960" y="3657600"/>
            <a:ext cx="10545775" cy="914400"/>
          </a:xfrm>
        </p:spPr>
        <p:txBody>
          <a:bodyPr lIns="0" tIns="0" rIns="0" bIns="0" anchor="t"/>
          <a:lstStyle>
            <a:lvl1pPr marL="0" indent="0" algn="l">
              <a:spcBef>
                <a:spcPts val="0"/>
              </a:spcBef>
              <a:buNone/>
              <a:defRPr sz="2200" b="0" spc="0">
                <a:solidFill>
                  <a:srgbClr val="6F6F6F"/>
                </a:solidFill>
                <a:latin typeface="Arial"/>
              </a:defRPr>
            </a:lvl1pPr>
          </a:lstStyle>
          <a:p>
            <a:pPr lvl="0"/>
            <a:r>
              <a:rPr lang="en-US"/>
              <a:t>Click to edit Master text styles</a:t>
            </a:r>
          </a:p>
        </p:txBody>
      </p:sp>
      <p:sp>
        <p:nvSpPr>
          <p:cNvPr id="4" name="Kicker"/>
          <p:cNvSpPr>
            <a:spLocks noGrp="1"/>
          </p:cNvSpPr>
          <p:nvPr>
            <p:ph type="body" sz="quarter" idx="13"/>
          </p:nvPr>
        </p:nvSpPr>
        <p:spPr>
          <a:xfrm>
            <a:off x="822960" y="2240280"/>
            <a:ext cx="10545775" cy="274320"/>
          </a:xfrm>
        </p:spPr>
        <p:txBody>
          <a:bodyPr lIns="0" tIns="0" rIns="0" bIns="0" anchor="b"/>
          <a:lstStyle>
            <a:lvl1pPr marL="0" indent="0" algn="l">
              <a:spcBef>
                <a:spcPts val="0"/>
              </a:spcBef>
              <a:buNone/>
              <a:defRPr sz="1100" b="1" cap="all" spc="300">
                <a:solidFill>
                  <a:srgbClr val="6F6F6F"/>
                </a:solidFill>
                <a:latin typeface="Arial"/>
              </a:defRPr>
            </a:lvl1pPr>
          </a:lstStyle>
          <a:p>
            <a:r>
              <a:rPr lang="en-GB"/>
              <a:t>Kicker</a:t>
            </a:r>
          </a:p>
        </p:txBody>
      </p:sp>
    </p:spTree>
    <p:extLst>
      <p:ext uri="{BB962C8B-B14F-4D97-AF65-F5344CB8AC3E}">
        <p14:creationId xmlns:p14="http://schemas.microsoft.com/office/powerpoint/2010/main" val="96064837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ntent">
    <p:spTree>
      <p:nvGrpSpPr>
        <p:cNvPr id="1" name=""/>
        <p:cNvGrpSpPr/>
        <p:nvPr/>
      </p:nvGrpSpPr>
      <p:grpSpPr>
        <a:xfrm>
          <a:off x="0" y="0"/>
          <a:ext cx="0" cy="0"/>
          <a:chOff x="0" y="0"/>
          <a:chExt cx="0" cy="0"/>
        </a:xfrm>
      </p:grpSpPr>
      <p:sp>
        <p:nvSpPr>
          <p:cNvPr id="2" name="Title 1"/>
          <p:cNvSpPr>
            <a:spLocks noGrp="1"/>
          </p:cNvSpPr>
          <p:nvPr>
            <p:ph type="title"/>
          </p:nvPr>
        </p:nvSpPr>
        <p:spPr>
          <a:xfrm>
            <a:off x="822960" y="822960"/>
            <a:ext cx="10545775" cy="548640"/>
          </a:xfrm>
        </p:spPr>
        <p:txBody>
          <a:bodyPr lIns="0" tIns="0" rIns="0" bIns="0" anchor="t"/>
          <a:lstStyle/>
          <a:p>
            <a:r>
              <a:rPr lang="en-US"/>
              <a:t>Click to edit Master title style</a:t>
            </a:r>
          </a:p>
        </p:txBody>
      </p:sp>
      <p:sp>
        <p:nvSpPr>
          <p:cNvPr id="3" name="Content Placeholder 2"/>
          <p:cNvSpPr>
            <a:spLocks noGrp="1"/>
          </p:cNvSpPr>
          <p:nvPr>
            <p:ph idx="1"/>
          </p:nvPr>
        </p:nvSpPr>
        <p:spPr>
          <a:xfrm>
            <a:off x="822960" y="2011680"/>
            <a:ext cx="10545775" cy="3749039"/>
          </a:xfrm>
        </p:spPr>
        <p:txBody>
          <a:bodyPr lIns="0" tIns="0" rIns="0" bIns="0"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Kicker"/>
          <p:cNvSpPr>
            <a:spLocks noGrp="1"/>
          </p:cNvSpPr>
          <p:nvPr>
            <p:ph type="body" sz="quarter" idx="13"/>
          </p:nvPr>
        </p:nvSpPr>
        <p:spPr>
          <a:xfrm>
            <a:off x="822960" y="502920"/>
            <a:ext cx="10545775" cy="274320"/>
          </a:xfrm>
        </p:spPr>
        <p:txBody>
          <a:bodyPr lIns="0" tIns="0" rIns="0" bIns="0" anchor="b"/>
          <a:lstStyle>
            <a:lvl1pPr marL="0" indent="0" algn="l">
              <a:spcBef>
                <a:spcPts val="0"/>
              </a:spcBef>
              <a:buNone/>
              <a:defRPr sz="1100" b="1" cap="all" spc="300">
                <a:solidFill>
                  <a:srgbClr val="6F6F6F"/>
                </a:solidFill>
                <a:latin typeface="Arial"/>
              </a:defRPr>
            </a:lvl1pPr>
          </a:lstStyle>
          <a:p>
            <a:r>
              <a:rPr lang="en-GB"/>
              <a:t>Kicker</a:t>
            </a:r>
          </a:p>
        </p:txBody>
      </p:sp>
      <p:sp>
        <p:nvSpPr>
          <p:cNvPr id="5" name="Subtitle"/>
          <p:cNvSpPr>
            <a:spLocks noGrp="1"/>
          </p:cNvSpPr>
          <p:nvPr>
            <p:ph type="body" sz="quarter" idx="15"/>
          </p:nvPr>
        </p:nvSpPr>
        <p:spPr>
          <a:xfrm>
            <a:off x="822960" y="1371600"/>
            <a:ext cx="10545775" cy="548640"/>
          </a:xfrm>
        </p:spPr>
        <p:txBody>
          <a:bodyPr lIns="0" tIns="0" rIns="0" bIns="0" anchor="t"/>
          <a:lstStyle>
            <a:lvl1pPr marL="0" indent="0" algn="l">
              <a:lnSpc>
                <a:spcPct val="100000"/>
              </a:lnSpc>
              <a:spcBef>
                <a:spcPts val="0"/>
              </a:spcBef>
              <a:buNone/>
              <a:defRPr sz="1800" b="0" spc="0">
                <a:solidFill>
                  <a:srgbClr val="6F6F6F"/>
                </a:solidFill>
                <a:latin typeface="Arial"/>
              </a:defRPr>
            </a:lvl1pPr>
          </a:lstStyle>
          <a:p>
            <a:r>
              <a:rPr lang="en-GB"/>
              <a:t>Subtitle</a:t>
            </a:r>
          </a:p>
        </p:txBody>
      </p:sp>
      <p:sp>
        <p:nvSpPr>
          <p:cNvPr id="6"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26143142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picTx" preserve="1">
  <p:cSld name="Figure">
    <p:spTree>
      <p:nvGrpSpPr>
        <p:cNvPr id="1" name=""/>
        <p:cNvGrpSpPr/>
        <p:nvPr/>
      </p:nvGrpSpPr>
      <p:grpSpPr>
        <a:xfrm>
          <a:off x="0" y="0"/>
          <a:ext cx="0" cy="0"/>
          <a:chOff x="0" y="0"/>
          <a:chExt cx="0" cy="0"/>
        </a:xfrm>
      </p:grpSpPr>
      <p:sp>
        <p:nvSpPr>
          <p:cNvPr id="2" name="Title 1"/>
          <p:cNvSpPr>
            <a:spLocks noGrp="1"/>
          </p:cNvSpPr>
          <p:nvPr>
            <p:ph type="title"/>
          </p:nvPr>
        </p:nvSpPr>
        <p:spPr>
          <a:xfrm>
            <a:off x="822960" y="822960"/>
            <a:ext cx="10545775" cy="548640"/>
          </a:xfrm>
        </p:spPr>
        <p:txBody>
          <a:bodyPr lIns="0" tIns="0" rIns="0" bIns="0" anchor="t"/>
          <a:lstStyle/>
          <a:p>
            <a:r>
              <a:rPr lang="en-US"/>
              <a:t>Click to edit Master title style</a:t>
            </a:r>
          </a:p>
        </p:txBody>
      </p:sp>
      <p:sp>
        <p:nvSpPr>
          <p:cNvPr id="3" name="Picture Placeholder 2"/>
          <p:cNvSpPr>
            <a:spLocks noGrp="1"/>
          </p:cNvSpPr>
          <p:nvPr>
            <p:ph type="pic" idx="1"/>
          </p:nvPr>
        </p:nvSpPr>
        <p:spPr>
          <a:xfrm>
            <a:off x="822960" y="2011680"/>
            <a:ext cx="10545775" cy="32004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22960" y="5303520"/>
            <a:ext cx="10545775" cy="457200"/>
          </a:xfrm>
        </p:spPr>
        <p:txBody>
          <a:bodyPr lIns="0" tIns="0" rIns="0" bIns="0" anchor="t"/>
          <a:lstStyle>
            <a:lvl1pPr marL="274320" indent="-274320" algn="l">
              <a:spcBef>
                <a:spcPts val="200"/>
              </a:spcBef>
              <a:buFont typeface="Arial"/>
              <a:buChar char="•"/>
              <a:defRPr sz="1400" b="0" spc="0">
                <a:solidFill>
                  <a:srgbClr val="0A0A0A"/>
                </a:solidFill>
                <a:latin typeface="Arial"/>
              </a:defRPr>
            </a:lvl1pPr>
          </a:lstStyle>
          <a:p>
            <a:pPr lvl="0"/>
            <a:r>
              <a:rPr lang="en-US"/>
              <a:t>Click to edit Master text styles</a:t>
            </a:r>
          </a:p>
        </p:txBody>
      </p:sp>
      <p:sp>
        <p:nvSpPr>
          <p:cNvPr id="5" name="Kicker"/>
          <p:cNvSpPr>
            <a:spLocks noGrp="1"/>
          </p:cNvSpPr>
          <p:nvPr>
            <p:ph type="body" sz="quarter" idx="13"/>
          </p:nvPr>
        </p:nvSpPr>
        <p:spPr>
          <a:xfrm>
            <a:off x="822960" y="502920"/>
            <a:ext cx="10545775" cy="274320"/>
          </a:xfrm>
        </p:spPr>
        <p:txBody>
          <a:bodyPr lIns="0" tIns="0" rIns="0" bIns="0" anchor="b"/>
          <a:lstStyle>
            <a:lvl1pPr marL="0" indent="0" algn="l">
              <a:spcBef>
                <a:spcPts val="0"/>
              </a:spcBef>
              <a:buNone/>
              <a:defRPr sz="1100" b="1" cap="all" spc="300">
                <a:solidFill>
                  <a:srgbClr val="6F6F6F"/>
                </a:solidFill>
                <a:latin typeface="Arial"/>
              </a:defRPr>
            </a:lvl1pPr>
          </a:lstStyle>
          <a:p>
            <a:r>
              <a:rPr lang="en-GB"/>
              <a:t>Kicker</a:t>
            </a:r>
          </a:p>
        </p:txBody>
      </p:sp>
      <p:sp>
        <p:nvSpPr>
          <p:cNvPr id="6" name="Subtitle"/>
          <p:cNvSpPr>
            <a:spLocks noGrp="1"/>
          </p:cNvSpPr>
          <p:nvPr>
            <p:ph type="body" sz="quarter" idx="15"/>
          </p:nvPr>
        </p:nvSpPr>
        <p:spPr>
          <a:xfrm>
            <a:off x="822960" y="1371600"/>
            <a:ext cx="10545775" cy="548640"/>
          </a:xfrm>
        </p:spPr>
        <p:txBody>
          <a:bodyPr lIns="0" tIns="0" rIns="0" bIns="0" anchor="t"/>
          <a:lstStyle>
            <a:lvl1pPr marL="0" indent="0" algn="l">
              <a:lnSpc>
                <a:spcPct val="100000"/>
              </a:lnSpc>
              <a:spcBef>
                <a:spcPts val="0"/>
              </a:spcBef>
              <a:buNone/>
              <a:defRPr sz="1800" b="0" spc="0">
                <a:solidFill>
                  <a:srgbClr val="6F6F6F"/>
                </a:solidFill>
                <a:latin typeface="Arial"/>
              </a:defRPr>
            </a:lvl1pPr>
          </a:lstStyle>
          <a:p>
            <a:r>
              <a:rPr lang="en-GB"/>
              <a:t>Subtitle</a:t>
            </a:r>
          </a:p>
        </p:txBody>
      </p:sp>
      <p:sp>
        <p:nvSpPr>
          <p:cNvPr id="7"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38892369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lumns">
    <p:spTree>
      <p:nvGrpSpPr>
        <p:cNvPr id="1" name=""/>
        <p:cNvGrpSpPr/>
        <p:nvPr/>
      </p:nvGrpSpPr>
      <p:grpSpPr>
        <a:xfrm>
          <a:off x="0" y="0"/>
          <a:ext cx="0" cy="0"/>
          <a:chOff x="0" y="0"/>
          <a:chExt cx="0" cy="0"/>
        </a:xfrm>
      </p:grpSpPr>
      <p:sp>
        <p:nvSpPr>
          <p:cNvPr id="2" name="Title 1"/>
          <p:cNvSpPr>
            <a:spLocks noGrp="1"/>
          </p:cNvSpPr>
          <p:nvPr>
            <p:ph type="title"/>
          </p:nvPr>
        </p:nvSpPr>
        <p:spPr>
          <a:xfrm>
            <a:off x="822960" y="822960"/>
            <a:ext cx="10545775" cy="548640"/>
          </a:xfrm>
        </p:spPr>
        <p:txBody>
          <a:bodyPr lIns="0" tIns="0" rIns="0" bIns="0" anchor="t"/>
          <a:lstStyle/>
          <a:p>
            <a:r>
              <a:rPr lang="en-US"/>
              <a:t>Click to edit Master title style</a:t>
            </a:r>
          </a:p>
        </p:txBody>
      </p:sp>
      <p:sp>
        <p:nvSpPr>
          <p:cNvPr id="3" name="Content Placeholder 2"/>
          <p:cNvSpPr>
            <a:spLocks noGrp="1"/>
          </p:cNvSpPr>
          <p:nvPr>
            <p:ph sz="half" idx="1"/>
          </p:nvPr>
        </p:nvSpPr>
        <p:spPr>
          <a:xfrm>
            <a:off x="822960" y="2011680"/>
            <a:ext cx="5029200" cy="3749039"/>
          </a:xfrm>
        </p:spPr>
        <p:txBody>
          <a:bodyPr lIns="0" tIns="0" rIns="0" bIns="0"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339535" y="2011680"/>
            <a:ext cx="5029200" cy="3749039"/>
          </a:xfrm>
        </p:spPr>
        <p:txBody>
          <a:bodyPr lIns="0" tIns="0" rIns="0" bIns="0"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Kicker"/>
          <p:cNvSpPr>
            <a:spLocks noGrp="1"/>
          </p:cNvSpPr>
          <p:nvPr>
            <p:ph type="body" sz="quarter" idx="13"/>
          </p:nvPr>
        </p:nvSpPr>
        <p:spPr>
          <a:xfrm>
            <a:off x="822960" y="502920"/>
            <a:ext cx="10545775" cy="274320"/>
          </a:xfrm>
        </p:spPr>
        <p:txBody>
          <a:bodyPr lIns="0" tIns="0" rIns="0" bIns="0" anchor="b"/>
          <a:lstStyle>
            <a:lvl1pPr marL="0" indent="0" algn="l">
              <a:spcBef>
                <a:spcPts val="0"/>
              </a:spcBef>
              <a:buNone/>
              <a:defRPr sz="1100" b="1" cap="all" spc="300">
                <a:solidFill>
                  <a:srgbClr val="6F6F6F"/>
                </a:solidFill>
                <a:latin typeface="Arial"/>
              </a:defRPr>
            </a:lvl1pPr>
          </a:lstStyle>
          <a:p>
            <a:r>
              <a:rPr lang="en-GB"/>
              <a:t>Kicker</a:t>
            </a:r>
          </a:p>
        </p:txBody>
      </p:sp>
      <p:sp>
        <p:nvSpPr>
          <p:cNvPr id="6" name="Subtitle"/>
          <p:cNvSpPr>
            <a:spLocks noGrp="1"/>
          </p:cNvSpPr>
          <p:nvPr>
            <p:ph type="body" sz="quarter" idx="15"/>
          </p:nvPr>
        </p:nvSpPr>
        <p:spPr>
          <a:xfrm>
            <a:off x="822960" y="1371600"/>
            <a:ext cx="10545775" cy="548640"/>
          </a:xfrm>
        </p:spPr>
        <p:txBody>
          <a:bodyPr lIns="0" tIns="0" rIns="0" bIns="0" anchor="t"/>
          <a:lstStyle>
            <a:lvl1pPr marL="0" indent="0" algn="l">
              <a:lnSpc>
                <a:spcPct val="100000"/>
              </a:lnSpc>
              <a:spcBef>
                <a:spcPts val="0"/>
              </a:spcBef>
              <a:buNone/>
              <a:defRPr sz="1800" b="0" spc="0">
                <a:solidFill>
                  <a:srgbClr val="6F6F6F"/>
                </a:solidFill>
                <a:latin typeface="Arial"/>
              </a:defRPr>
            </a:lvl1pPr>
          </a:lstStyle>
          <a:p>
            <a:r>
              <a:rPr lang="en-GB"/>
              <a:t>Subtitle</a:t>
            </a:r>
          </a:p>
        </p:txBody>
      </p:sp>
      <p:sp>
        <p:nvSpPr>
          <p:cNvPr id="7"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278224494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822960" y="822960"/>
            <a:ext cx="10545775" cy="548640"/>
          </a:xfrm>
        </p:spPr>
        <p:txBody>
          <a:bodyPr lIns="0" tIns="0" rIns="0" bIns="0" anchor="t"/>
          <a:lstStyle/>
          <a:p>
            <a:r>
              <a:rPr lang="en-US"/>
              <a:t>Click to edit Master title style</a:t>
            </a:r>
          </a:p>
        </p:txBody>
      </p:sp>
      <p:sp>
        <p:nvSpPr>
          <p:cNvPr id="3" name="Kicker"/>
          <p:cNvSpPr>
            <a:spLocks noGrp="1"/>
          </p:cNvSpPr>
          <p:nvPr>
            <p:ph type="body" sz="quarter" idx="13"/>
          </p:nvPr>
        </p:nvSpPr>
        <p:spPr>
          <a:xfrm>
            <a:off x="822960" y="502920"/>
            <a:ext cx="10545775" cy="274320"/>
          </a:xfrm>
        </p:spPr>
        <p:txBody>
          <a:bodyPr lIns="0" tIns="0" rIns="0" bIns="0" anchor="b"/>
          <a:lstStyle>
            <a:lvl1pPr marL="0" indent="0" algn="l">
              <a:spcBef>
                <a:spcPts val="0"/>
              </a:spcBef>
              <a:buNone/>
              <a:defRPr sz="1100" b="1" cap="all" spc="300">
                <a:solidFill>
                  <a:srgbClr val="6F6F6F"/>
                </a:solidFill>
                <a:latin typeface="Arial"/>
              </a:defRPr>
            </a:lvl1pPr>
          </a:lstStyle>
          <a:p>
            <a:r>
              <a:rPr lang="en-GB"/>
              <a:t>Kicker</a:t>
            </a:r>
          </a:p>
        </p:txBody>
      </p:sp>
      <p:sp>
        <p:nvSpPr>
          <p:cNvPr id="4" name="Subtitle"/>
          <p:cNvSpPr>
            <a:spLocks noGrp="1"/>
          </p:cNvSpPr>
          <p:nvPr>
            <p:ph type="body" sz="quarter" idx="15"/>
          </p:nvPr>
        </p:nvSpPr>
        <p:spPr>
          <a:xfrm>
            <a:off x="822960" y="1371600"/>
            <a:ext cx="10545775" cy="548640"/>
          </a:xfrm>
        </p:spPr>
        <p:txBody>
          <a:bodyPr lIns="0" tIns="0" rIns="0" bIns="0" anchor="t"/>
          <a:lstStyle>
            <a:lvl1pPr marL="0" indent="0" algn="l">
              <a:lnSpc>
                <a:spcPct val="100000"/>
              </a:lnSpc>
              <a:spcBef>
                <a:spcPts val="0"/>
              </a:spcBef>
              <a:buNone/>
              <a:defRPr sz="1800" b="0" spc="0">
                <a:solidFill>
                  <a:srgbClr val="6F6F6F"/>
                </a:solidFill>
                <a:latin typeface="Arial"/>
              </a:defRPr>
            </a:lvl1pPr>
          </a:lstStyle>
          <a:p>
            <a:r>
              <a:rPr lang="en-GB"/>
              <a:t>Subtitle</a:t>
            </a:r>
          </a:p>
        </p:txBody>
      </p:sp>
      <p:sp>
        <p:nvSpPr>
          <p:cNvPr id="5"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twoTxTwoObj" preserve="1">
  <p:cSld name="End">
    <p:spTree>
      <p:nvGrpSpPr>
        <p:cNvPr id="1" name=""/>
        <p:cNvGrpSpPr/>
        <p:nvPr/>
      </p:nvGrpSpPr>
      <p:grpSpPr>
        <a:xfrm>
          <a:off x="0" y="0"/>
          <a:ext cx="0" cy="0"/>
          <a:chOff x="0" y="0"/>
          <a:chExt cx="0" cy="0"/>
        </a:xfrm>
      </p:grpSpPr>
      <p:sp>
        <p:nvSpPr>
          <p:cNvPr id="2" name="Title 1"/>
          <p:cNvSpPr>
            <a:spLocks noGrp="1"/>
          </p:cNvSpPr>
          <p:nvPr>
            <p:ph type="title"/>
          </p:nvPr>
        </p:nvSpPr>
        <p:spPr>
          <a:xfrm>
            <a:off x="822960" y="2011680"/>
            <a:ext cx="10545775" cy="1188720"/>
          </a:xfrm>
        </p:spPr>
        <p:txBody>
          <a:bodyPr lIns="0" tIns="0" rIns="0" bIns="0" anchor="b"/>
          <a:lstStyle>
            <a:lvl1pPr marL="0" indent="0" algn="ctr">
              <a:spcBef>
                <a:spcPts val="0"/>
              </a:spcBef>
              <a:buNone/>
              <a:defRPr sz="6000" b="1" spc="-100">
                <a:solidFill>
                  <a:srgbClr val="0A0A0A"/>
                </a:solidFill>
                <a:latin typeface="Arial"/>
              </a:defRPr>
            </a:lvl1pPr>
          </a:lstStyle>
          <a:p>
            <a:r>
              <a:rPr lang="en-US"/>
              <a:t>Click to edit Master title style</a:t>
            </a:r>
          </a:p>
        </p:txBody>
      </p:sp>
      <p:sp>
        <p:nvSpPr>
          <p:cNvPr id="3" name="Text Placeholder 2"/>
          <p:cNvSpPr>
            <a:spLocks noGrp="1"/>
          </p:cNvSpPr>
          <p:nvPr>
            <p:ph type="body" idx="1"/>
          </p:nvPr>
        </p:nvSpPr>
        <p:spPr>
          <a:xfrm>
            <a:off x="822960" y="3383280"/>
            <a:ext cx="10545775" cy="1097280"/>
          </a:xfrm>
        </p:spPr>
        <p:txBody>
          <a:bodyPr lIns="0" tIns="0" rIns="0" bIns="0" anchor="t"/>
          <a:lstStyle>
            <a:lvl1pPr marL="0" indent="0" algn="ctr">
              <a:spcBef>
                <a:spcPts val="0"/>
              </a:spcBef>
              <a:buNone/>
              <a:defRPr sz="2200" b="0" spc="0">
                <a:solidFill>
                  <a:srgbClr val="6F6F6F"/>
                </a:solidFill>
                <a:latin typeface="Arial"/>
              </a:defRPr>
            </a:lvl1pPr>
            <a:lvl2pPr marL="0" indent="0" algn="ctr">
              <a:spcBef>
                <a:spcPts val="1400"/>
              </a:spcBef>
              <a:buNone/>
              <a:defRPr sz="1100" b="1" cap="all" spc="300">
                <a:solidFill>
                  <a:srgbClr val="0A0A0A"/>
                </a:solidFill>
                <a:latin typeface="Arial"/>
              </a:defRPr>
            </a:lvl2pPr>
          </a:lstStyle>
          <a:p>
            <a:pPr lvl="0"/>
            <a:r>
              <a:rPr lang="en-US"/>
              <a:t>Click to edit Master text styles</a:t>
            </a:r>
          </a:p>
        </p:txBody>
      </p:sp>
      <p:pic>
        <p:nvPicPr>
          <p:cNvPr id="4" name="Logo uni-freiburg-wordmark" descr="Logo uni-freiburg-wordmark"/>
          <p:cNvPicPr>
            <a:picLocks noChangeAspect="1"/>
          </p:cNvPicPr>
          <p:nvPr/>
        </p:nvPicPr>
        <p:blipFill>
          <a:blip r:embed="rId2"/>
          <a:stretch>
            <a:fillRect/>
          </a:stretch>
        </p:blipFill>
        <p:spPr>
          <a:xfrm>
            <a:off x="4543532" y="5319064"/>
            <a:ext cx="1985285" cy="243230"/>
          </a:xfrm>
          <a:prstGeom prst="rect">
            <a:avLst/>
          </a:prstGeom>
        </p:spPr>
      </p:pic>
      <p:pic>
        <p:nvPicPr>
          <p:cNvPr id="5" name="Logo enzymeml-logo" descr="Logo enzymeml-logo"/>
          <p:cNvPicPr>
            <a:picLocks noChangeAspect="1"/>
          </p:cNvPicPr>
          <p:nvPr/>
        </p:nvPicPr>
        <p:blipFill>
          <a:blip r:embed="rId3"/>
          <a:stretch>
            <a:fillRect/>
          </a:stretch>
        </p:blipFill>
        <p:spPr>
          <a:xfrm>
            <a:off x="6880862" y="5120640"/>
            <a:ext cx="767300" cy="640080"/>
          </a:xfrm>
          <a:prstGeom prst="rect">
            <a:avLst/>
          </a:prstGeom>
        </p:spPr>
      </p:pic>
    </p:spTree>
    <p:extLst>
      <p:ext uri="{BB962C8B-B14F-4D97-AF65-F5344CB8AC3E}">
        <p14:creationId xmlns:p14="http://schemas.microsoft.com/office/powerpoint/2010/main" val="99015873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2.png"/><Relationship Id="rId5" Type="http://schemas.openxmlformats.org/officeDocument/2006/relationships/slideLayout" Target="../slideLayouts/slideLayout5.xml"/><Relationship Id="rId10"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22960" y="822960"/>
            <a:ext cx="10545775" cy="822960"/>
          </a:xfrm>
          <a:prstGeom prst="rect">
            <a:avLst/>
          </a:prstGeom>
        </p:spPr>
        <p:txBody>
          <a:bodyPr vert="horz" lIns="0" tIns="0" rIns="0" bIns="0" rtlCol="0" anchor="t">
            <a:normAutofit/>
          </a:bodyPr>
          <a:lstStyle/>
          <a:p>
            <a:r>
              <a:rPr lang="en-US"/>
              <a:t>Click to edit Master title style</a:t>
            </a:r>
          </a:p>
        </p:txBody>
      </p:sp>
      <p:sp>
        <p:nvSpPr>
          <p:cNvPr id="3" name="Text Placeholder 2"/>
          <p:cNvSpPr>
            <a:spLocks noGrp="1"/>
          </p:cNvSpPr>
          <p:nvPr>
            <p:ph type="body" idx="1"/>
          </p:nvPr>
        </p:nvSpPr>
        <p:spPr>
          <a:xfrm>
            <a:off x="822960" y="2011680"/>
            <a:ext cx="10545775" cy="3749039"/>
          </a:xfrm>
          <a:prstGeom prst="rect">
            <a:avLst/>
          </a:prstGeom>
        </p:spPr>
        <p:txBody>
          <a:bodyPr vert="horz" lIns="0" tIns="0" rIns="0" bIns="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4" name="Logo uni-freiburg-wordmark" descr="Logo uni-freiburg-wordmark"/>
          <p:cNvPicPr>
            <a:picLocks noChangeAspect="1"/>
          </p:cNvPicPr>
          <p:nvPr/>
        </p:nvPicPr>
        <p:blipFill>
          <a:blip r:embed="rId10"/>
          <a:stretch>
            <a:fillRect/>
          </a:stretch>
        </p:blipFill>
        <p:spPr>
          <a:xfrm>
            <a:off x="822960" y="6397873"/>
            <a:ext cx="794114" cy="97292"/>
          </a:xfrm>
          <a:prstGeom prst="rect">
            <a:avLst/>
          </a:prstGeom>
        </p:spPr>
      </p:pic>
      <p:pic>
        <p:nvPicPr>
          <p:cNvPr id="5" name="Logo enzymeml-logo" descr="Logo enzymeml-logo"/>
          <p:cNvPicPr>
            <a:picLocks noChangeAspect="1"/>
          </p:cNvPicPr>
          <p:nvPr/>
        </p:nvPicPr>
        <p:blipFill>
          <a:blip r:embed="rId11"/>
          <a:stretch>
            <a:fillRect/>
          </a:stretch>
        </p:blipFill>
        <p:spPr>
          <a:xfrm>
            <a:off x="1757891" y="6318504"/>
            <a:ext cx="306920" cy="256032"/>
          </a:xfrm>
          <a:prstGeom prst="rect">
            <a:avLst/>
          </a:prstGeom>
        </p:spPr>
      </p:pic>
      <p:sp>
        <p:nvSpPr>
          <p:cNvPr id="6" name="Footer text"/>
          <p:cNvSpPr txBox="1"/>
          <p:nvPr userDrawn="1"/>
        </p:nvSpPr>
        <p:spPr>
          <a:xfrm>
            <a:off x="2339132" y="6309360"/>
            <a:ext cx="4572000" cy="274320"/>
          </a:xfrm>
          <a:prstGeom prst="rect">
            <a:avLst/>
          </a:prstGeom>
          <a:noFill/>
        </p:spPr>
        <p:txBody>
          <a:bodyPr wrap="none" lIns="0" tIns="0" rIns="0" bIns="0" anchor="ctr"/>
          <a:lstStyle/>
          <a:p>
            <a:pPr algn="l"/>
            <a:r>
              <a:rPr lang="en-GB" sz="900" b="0" spc="40">
                <a:solidFill>
                  <a:srgbClr val="6F6F6F"/>
                </a:solidFill>
                <a:latin typeface="Arial"/>
              </a:rPr>
              <a:t>7th EnzymeML Workshop · Rüdesheim 2026</a:t>
            </a:r>
          </a:p>
        </p:txBody>
      </p:sp>
      <p:sp>
        <p:nvSpPr>
          <p:cNvPr id="7" name="Slide number"/>
          <p:cNvSpPr txBox="1"/>
          <p:nvPr userDrawn="1"/>
        </p:nvSpPr>
        <p:spPr>
          <a:xfrm>
            <a:off x="10454335" y="6309360"/>
            <a:ext cx="914400" cy="274320"/>
          </a:xfrm>
          <a:prstGeom prst="rect">
            <a:avLst/>
          </a:prstGeom>
          <a:noFill/>
        </p:spPr>
        <p:txBody>
          <a:bodyPr wrap="none" lIns="0" tIns="0" rIns="0" bIns="0" anchor="ctr"/>
          <a:lstStyle/>
          <a:p>
            <a:pPr algn="r"/>
            <a:fld id="{B6F15528-21DE-4FAA-801E-634DDDAF4B2B}" type="slidenum">
              <a:rPr lang="en-GB" sz="900" b="1" spc="0">
                <a:solidFill>
                  <a:srgbClr val="0A0A0A"/>
                </a:solidFill>
                <a:latin typeface="Arial"/>
              </a:rPr>
              <a:t>‹#›</a:t>
            </a:fld>
            <a:endParaRPr lang="en-GB" sz="900" b="1" spc="0">
              <a:solidFill>
                <a:srgbClr val="0A0A0A"/>
              </a:solidFill>
              <a:latin typeface="Arial"/>
            </a:endParaRPr>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1" r:id="rId2"/>
    <p:sldLayoutId id="2147483650" r:id="rId3"/>
    <p:sldLayoutId id="2147483657" r:id="rId4"/>
    <p:sldLayoutId id="2147483652" r:id="rId5"/>
    <p:sldLayoutId id="2147483654" r:id="rId6"/>
    <p:sldLayoutId id="2147483655" r:id="rId7"/>
    <p:sldLayoutId id="2147483653" r:id="rId8"/>
  </p:sldLayoutIdLst>
  <p:txStyles>
    <p:titleStyle>
      <a:lvl1pPr marL="0" indent="0" algn="l">
        <a:lnSpc>
          <a:spcPct val="92000"/>
        </a:lnSpc>
        <a:spcBef>
          <a:spcPts val="0"/>
        </a:spcBef>
        <a:buNone/>
        <a:defRPr sz="3400" b="1" spc="-60">
          <a:solidFill>
            <a:srgbClr val="0A0A0A"/>
          </a:solidFill>
          <a:latin typeface="Arial"/>
        </a:defRPr>
      </a:lvl1pPr>
    </p:titleStyle>
    <p:bodyStyle>
      <a:lvl1pPr marL="274320" indent="-274320" algn="l">
        <a:lnSpc>
          <a:spcPct val="105000"/>
        </a:lnSpc>
        <a:spcBef>
          <a:spcPts val="1000"/>
        </a:spcBef>
        <a:buFont typeface="Arial"/>
        <a:buChar char="•"/>
        <a:defRPr sz="2000" b="0" spc="0">
          <a:solidFill>
            <a:srgbClr val="0A0A0A"/>
          </a:solidFill>
          <a:latin typeface="Arial"/>
        </a:defRPr>
      </a:lvl1pPr>
      <a:lvl2pPr marL="548640" indent="-274320" algn="l">
        <a:spcBef>
          <a:spcPts val="600"/>
        </a:spcBef>
        <a:buFont typeface="Arial"/>
        <a:buChar char="•"/>
        <a:defRPr sz="1600" b="0" spc="0">
          <a:solidFill>
            <a:srgbClr val="6F6F6F"/>
          </a:solidFill>
          <a:latin typeface="Arial"/>
        </a:defRPr>
      </a:lvl2pPr>
      <a:lvl3pPr marL="822959" indent="-274320" algn="l">
        <a:spcBef>
          <a:spcPts val="400"/>
        </a:spcBef>
        <a:buFont typeface="Arial"/>
        <a:buChar char="•"/>
        <a:defRPr sz="1400" b="0" spc="0">
          <a:solidFill>
            <a:srgbClr val="6F6F6F"/>
          </a:solidFill>
          <a:latin typeface="Arial"/>
        </a:defRPr>
      </a:lvl3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3.xml"/><Relationship Id="rId5" Type="http://schemas.openxmlformats.org/officeDocument/2006/relationships/image" Target="../media/image6.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hyperlink" Target="http://tinyurl.com/enzymeml2026" TargetMode="External"/><Relationship Id="rId7"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5.xml"/><Relationship Id="rId6" Type="http://schemas.openxmlformats.org/officeDocument/2006/relationships/image" Target="../media/image10.png"/><Relationship Id="rId5" Type="http://schemas.openxmlformats.org/officeDocument/2006/relationships/image" Target="../media/image9.png"/><Relationship Id="rId10" Type="http://schemas.openxmlformats.org/officeDocument/2006/relationships/image" Target="../media/image14.png"/><Relationship Id="rId4" Type="http://schemas.openxmlformats.org/officeDocument/2006/relationships/image" Target="../media/image8.png"/><Relationship Id="rId9" Type="http://schemas.openxmlformats.org/officeDocument/2006/relationships/image" Target="../media/image13.png"/></Relationships>
</file>

<file path=ppt/slides/_rels/slide1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3.xml"/><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From measurement to kinetic modelling</a:t>
            </a:r>
          </a:p>
        </p:txBody>
      </p:sp>
      <p:sp>
        <p:nvSpPr>
          <p:cNvPr id="3" name="Subtitle 2"/>
          <p:cNvSpPr>
            <a:spLocks noGrp="1"/>
          </p:cNvSpPr>
          <p:nvPr>
            <p:ph type="subTitle" idx="1"/>
          </p:nvPr>
        </p:nvSpPr>
        <p:spPr/>
        <p:txBody>
          <a:bodyPr/>
          <a:lstStyle/>
          <a:p>
            <a:r>
              <a:t>Max Häußler</a:t>
            </a:r>
          </a:p>
          <a:p>
            <a:pPr lvl="1"/>
            <a:r>
              <a:t>University of Freiburg</a:t>
            </a:r>
          </a:p>
        </p:txBody>
      </p:sp>
      <p:sp>
        <p:nvSpPr>
          <p:cNvPr id="4" name="Text Placeholder 3"/>
          <p:cNvSpPr>
            <a:spLocks noGrp="1"/>
          </p:cNvSpPr>
          <p:nvPr>
            <p:ph type="body" sz="quarter" idx="13"/>
          </p:nvPr>
        </p:nvSpPr>
        <p:spPr/>
        <p:txBody>
          <a:bodyPr/>
          <a:lstStyle/>
          <a:p>
            <a:r>
              <a:t>7th EnzymeML Workshop · Rüdesheim · Hands-on session 2 · 16 September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Last year the code was the hurdle</a:t>
            </a:r>
          </a:p>
        </p:txBody>
      </p:sp>
      <p:sp>
        <p:nvSpPr>
          <p:cNvPr id="4" name="Text Placeholder 3"/>
          <p:cNvSpPr>
            <a:spLocks noGrp="1"/>
          </p:cNvSpPr>
          <p:nvPr>
            <p:ph type="body" sz="half" idx="2"/>
          </p:nvPr>
        </p:nvSpPr>
        <p:spPr>
          <a:xfrm>
            <a:off x="822960" y="4114800"/>
            <a:ext cx="10545775" cy="1188720"/>
          </a:xfrm>
        </p:spPr>
        <p:txBody>
          <a:bodyPr/>
          <a:lstStyle/>
          <a:p>
            <a:r>
              <a:rPr dirty="0"/>
              <a:t>Failing installs and unfamiliar code: a hurdle for everyone who does not code daily</a:t>
            </a:r>
          </a:p>
          <a:p>
            <a:r>
              <a:rPr b="1" dirty="0"/>
              <a:t>Since then: </a:t>
            </a:r>
            <a:r>
              <a:rPr dirty="0"/>
              <a:t>the models got better</a:t>
            </a:r>
            <a:r>
              <a:rPr lang="en-US" dirty="0"/>
              <a:t>!</a:t>
            </a:r>
            <a:endParaRPr dirty="0"/>
          </a:p>
        </p:txBody>
      </p:sp>
      <p:sp>
        <p:nvSpPr>
          <p:cNvPr id="5" name="Text Placeholder 4"/>
          <p:cNvSpPr>
            <a:spLocks noGrp="1"/>
          </p:cNvSpPr>
          <p:nvPr>
            <p:ph type="body" sz="quarter" idx="13"/>
          </p:nvPr>
        </p:nvSpPr>
        <p:spPr/>
        <p:txBody>
          <a:bodyPr/>
          <a:lstStyle/>
          <a:p>
            <a:r>
              <a:t>Looking back</a:t>
            </a:r>
          </a:p>
        </p:txBody>
      </p:sp>
      <p:sp>
        <p:nvSpPr>
          <p:cNvPr id="8" name="Rounded Rectangle 7"/>
          <p:cNvSpPr/>
          <p:nvPr/>
        </p:nvSpPr>
        <p:spPr>
          <a:xfrm>
            <a:off x="822960" y="2377440"/>
            <a:ext cx="1691640" cy="105156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400" b="1">
                <a:solidFill>
                  <a:srgbClr val="0A0A0A"/>
                </a:solidFill>
              </a:rPr>
              <a:t>Install</a:t>
            </a:r>
          </a:p>
          <a:p>
            <a:pPr algn="ctr"/>
            <a:r>
              <a:rPr sz="1100">
                <a:solidFill>
                  <a:srgbClr val="6F6F6F"/>
                </a:solidFill>
              </a:rPr>
              <a:t>Python, packages, a working environment</a:t>
            </a:r>
          </a:p>
        </p:txBody>
      </p:sp>
      <p:sp>
        <p:nvSpPr>
          <p:cNvPr id="9" name="Rounded Rectangle 8"/>
          <p:cNvSpPr/>
          <p:nvPr/>
        </p:nvSpPr>
        <p:spPr>
          <a:xfrm>
            <a:off x="3035808" y="2377440"/>
            <a:ext cx="1691640" cy="105156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400" b="1">
                <a:solidFill>
                  <a:srgbClr val="0A0A0A"/>
                </a:solidFill>
              </a:rPr>
              <a:t>Read the docs</a:t>
            </a:r>
          </a:p>
          <a:p>
            <a:pPr algn="ctr"/>
            <a:r>
              <a:rPr sz="1100">
                <a:solidFill>
                  <a:srgbClr val="6F6F6F"/>
                </a:solidFill>
              </a:rPr>
              <a:t>how the tools are used</a:t>
            </a:r>
          </a:p>
        </p:txBody>
      </p:sp>
      <p:sp>
        <p:nvSpPr>
          <p:cNvPr id="10" name="Rounded Rectangle 9"/>
          <p:cNvSpPr/>
          <p:nvPr/>
        </p:nvSpPr>
        <p:spPr>
          <a:xfrm>
            <a:off x="5248656" y="2377440"/>
            <a:ext cx="1691640" cy="105156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400" b="1">
                <a:solidFill>
                  <a:srgbClr val="0A0A0A"/>
                </a:solidFill>
              </a:rPr>
              <a:t>Write the code</a:t>
            </a:r>
          </a:p>
          <a:p>
            <a:pPr algn="ctr"/>
            <a:r>
              <a:rPr sz="1100">
                <a:solidFill>
                  <a:srgbClr val="6F6F6F"/>
                </a:solidFill>
              </a:rPr>
              <a:t>Python, by hand, for your data</a:t>
            </a:r>
          </a:p>
        </p:txBody>
      </p:sp>
      <p:sp>
        <p:nvSpPr>
          <p:cNvPr id="11" name="Rounded Rectangle 10"/>
          <p:cNvSpPr/>
          <p:nvPr/>
        </p:nvSpPr>
        <p:spPr>
          <a:xfrm>
            <a:off x="7461504" y="2377440"/>
            <a:ext cx="1691640" cy="105156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400" b="1">
                <a:solidFill>
                  <a:srgbClr val="0A0A0A"/>
                </a:solidFill>
              </a:rPr>
              <a:t>Debug, repeat</a:t>
            </a:r>
          </a:p>
          <a:p>
            <a:pPr algn="ctr"/>
            <a:r>
              <a:rPr sz="1100">
                <a:solidFill>
                  <a:srgbClr val="6F6F6F"/>
                </a:solidFill>
              </a:rPr>
              <a:t>errors, versions, time</a:t>
            </a:r>
          </a:p>
        </p:txBody>
      </p:sp>
      <p:sp>
        <p:nvSpPr>
          <p:cNvPr id="12" name="Rounded Rectangle 11"/>
          <p:cNvSpPr/>
          <p:nvPr/>
        </p:nvSpPr>
        <p:spPr>
          <a:xfrm>
            <a:off x="9674352" y="2377440"/>
            <a:ext cx="1691640" cy="105156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400" b="1">
                <a:solidFill>
                  <a:srgbClr val="0A0A0A"/>
                </a:solidFill>
              </a:rPr>
              <a:t>Your analysis</a:t>
            </a:r>
          </a:p>
          <a:p>
            <a:pPr algn="ctr"/>
            <a:r>
              <a:rPr sz="1100">
                <a:solidFill>
                  <a:srgbClr val="6F6F6F"/>
                </a:solidFill>
              </a:rPr>
              <a:t>structured data, a kinetic model</a:t>
            </a:r>
          </a:p>
        </p:txBody>
      </p:sp>
      <p:cxnSp>
        <p:nvCxnSpPr>
          <p:cNvPr id="13" name="Connector 12"/>
          <p:cNvCxnSpPr/>
          <p:nvPr/>
        </p:nvCxnSpPr>
        <p:spPr>
          <a:xfrm>
            <a:off x="2569464" y="290322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782312" y="290322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995159" y="2903220"/>
            <a:ext cx="411481"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208008" y="290322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Text Placeholder 6">
            <a:extLst>
              <a:ext uri="{FF2B5EF4-FFF2-40B4-BE49-F238E27FC236}">
                <a16:creationId xmlns:a16="http://schemas.microsoft.com/office/drawing/2014/main" id="{959B5004-DDFE-ED73-39F4-CD8372AA205C}"/>
              </a:ext>
            </a:extLst>
          </p:cNvPr>
          <p:cNvSpPr>
            <a:spLocks noGrp="1"/>
          </p:cNvSpPr>
          <p:nvPr>
            <p:ph type="body" sz="quarter" idx="15"/>
          </p:nvPr>
        </p:nvSpPr>
        <p:spPr/>
        <p:txBody>
          <a:bodyPr/>
          <a:lstStyle/>
          <a:p>
            <a:endParaRPr lang="en-DE"/>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More than doubled</a:t>
            </a:r>
            <a:endParaRPr dirty="0"/>
          </a:p>
        </p:txBody>
      </p:sp>
      <p:sp>
        <p:nvSpPr>
          <p:cNvPr id="5" name="Text Placeholder 4"/>
          <p:cNvSpPr>
            <a:spLocks noGrp="1"/>
          </p:cNvSpPr>
          <p:nvPr>
            <p:ph type="body" sz="quarter" idx="13"/>
          </p:nvPr>
        </p:nvSpPr>
        <p:spPr/>
        <p:txBody>
          <a:bodyPr/>
          <a:lstStyle/>
          <a:p>
            <a:r>
              <a:rPr lang="en-US" dirty="0"/>
              <a:t>LLM capabilities</a:t>
            </a:r>
            <a:endParaRPr dirty="0"/>
          </a:p>
        </p:txBody>
      </p:sp>
      <p:sp>
        <p:nvSpPr>
          <p:cNvPr id="7" name="Text Placeholder 6"/>
          <p:cNvSpPr>
            <a:spLocks noGrp="1"/>
          </p:cNvSpPr>
          <p:nvPr>
            <p:ph type="body" sz="quarter" idx="16"/>
          </p:nvPr>
        </p:nvSpPr>
        <p:spPr/>
        <p:txBody>
          <a:bodyPr/>
          <a:lstStyle/>
          <a:p>
            <a:r>
              <a:t>Artificial Analysis Intelligence Index v4.3, artificialanalysis.ai; release dates from the vendors</a:t>
            </a:r>
          </a:p>
        </p:txBody>
      </p:sp>
      <p:pic>
        <p:nvPicPr>
          <p:cNvPr id="8" name="Picture 7" descr="llm_timeline.png"/>
          <p:cNvPicPr>
            <a:picLocks noChangeAspect="1"/>
          </p:cNvPicPr>
          <p:nvPr/>
        </p:nvPicPr>
        <p:blipFill>
          <a:blip r:embed="rId3"/>
          <a:stretch>
            <a:fillRect/>
          </a:stretch>
        </p:blipFill>
        <p:spPr>
          <a:xfrm>
            <a:off x="822960" y="2011680"/>
            <a:ext cx="6159137" cy="3749039"/>
          </a:xfrm>
          <a:prstGeom prst="rect">
            <a:avLst/>
          </a:prstGeom>
        </p:spPr>
      </p:pic>
      <p:sp>
        <p:nvSpPr>
          <p:cNvPr id="9" name="Text Placeholder 8">
            <a:extLst>
              <a:ext uri="{FF2B5EF4-FFF2-40B4-BE49-F238E27FC236}">
                <a16:creationId xmlns:a16="http://schemas.microsoft.com/office/drawing/2014/main" id="{4A7C660B-0608-DAE9-46CE-A5FE6AD1916D}"/>
              </a:ext>
            </a:extLst>
          </p:cNvPr>
          <p:cNvSpPr>
            <a:spLocks noGrp="1"/>
          </p:cNvSpPr>
          <p:nvPr>
            <p:ph type="body" sz="half" idx="2"/>
          </p:nvPr>
        </p:nvSpPr>
        <p:spPr/>
        <p:txBody>
          <a:bodyPr/>
          <a:lstStyle/>
          <a:p>
            <a:endParaRPr lang="en-DE"/>
          </a:p>
        </p:txBody>
      </p:sp>
      <p:sp>
        <p:nvSpPr>
          <p:cNvPr id="11" name="Text Placeholder 10">
            <a:extLst>
              <a:ext uri="{FF2B5EF4-FFF2-40B4-BE49-F238E27FC236}">
                <a16:creationId xmlns:a16="http://schemas.microsoft.com/office/drawing/2014/main" id="{539D515A-E992-15AD-5F86-843BE7707864}"/>
              </a:ext>
            </a:extLst>
          </p:cNvPr>
          <p:cNvSpPr>
            <a:spLocks noGrp="1"/>
          </p:cNvSpPr>
          <p:nvPr>
            <p:ph type="body" sz="quarter" idx="15"/>
          </p:nvPr>
        </p:nvSpPr>
        <p:spPr/>
        <p:txBody>
          <a:bodyPr/>
          <a:lstStyle/>
          <a:p>
            <a:endParaRPr lang="en-DE"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assistant types, you decide</a:t>
            </a:r>
          </a:p>
        </p:txBody>
      </p:sp>
      <p:sp>
        <p:nvSpPr>
          <p:cNvPr id="4" name="Text Placeholder 3"/>
          <p:cNvSpPr>
            <a:spLocks noGrp="1"/>
          </p:cNvSpPr>
          <p:nvPr>
            <p:ph type="body" sz="quarter" idx="13"/>
          </p:nvPr>
        </p:nvSpPr>
        <p:spPr/>
        <p:txBody>
          <a:bodyPr/>
          <a:lstStyle/>
          <a:p>
            <a:r>
              <a:t>Motivation</a:t>
            </a:r>
          </a:p>
        </p:txBody>
      </p:sp>
      <p:pic>
        <p:nvPicPr>
          <p:cNvPr id="7" name="Picture 6" descr="icon_card.png"/>
          <p:cNvPicPr>
            <a:picLocks noChangeAspect="1"/>
          </p:cNvPicPr>
          <p:nvPr/>
        </p:nvPicPr>
        <p:blipFill>
          <a:blip r:embed="rId3"/>
          <a:stretch>
            <a:fillRect/>
          </a:stretch>
        </p:blipFill>
        <p:spPr>
          <a:xfrm>
            <a:off x="1986641" y="1965960"/>
            <a:ext cx="1371600" cy="1371600"/>
          </a:xfrm>
          <a:prstGeom prst="rect">
            <a:avLst/>
          </a:prstGeom>
        </p:spPr>
      </p:pic>
      <p:sp>
        <p:nvSpPr>
          <p:cNvPr id="8" name="TextBox 7"/>
          <p:cNvSpPr txBox="1"/>
          <p:nvPr/>
        </p:nvSpPr>
        <p:spPr>
          <a:xfrm>
            <a:off x="1525670" y="3611880"/>
            <a:ext cx="2293543" cy="411480"/>
          </a:xfrm>
          <a:prstGeom prst="rect">
            <a:avLst/>
          </a:prstGeom>
          <a:noFill/>
        </p:spPr>
        <p:txBody>
          <a:bodyPr wrap="square" lIns="0" tIns="0" rIns="0" bIns="0">
            <a:spAutoFit/>
          </a:bodyPr>
          <a:lstStyle/>
          <a:p>
            <a:pPr algn="ctr"/>
            <a:r>
              <a:rPr sz="1600" b="1">
                <a:solidFill>
                  <a:srgbClr val="0A0A0A"/>
                </a:solidFill>
              </a:rPr>
              <a:t>One page is enough</a:t>
            </a:r>
          </a:p>
        </p:txBody>
      </p:sp>
      <p:sp>
        <p:nvSpPr>
          <p:cNvPr id="9" name="TextBox 8"/>
          <p:cNvSpPr txBox="1"/>
          <p:nvPr/>
        </p:nvSpPr>
        <p:spPr>
          <a:xfrm>
            <a:off x="1525670" y="4160520"/>
            <a:ext cx="2293543" cy="400110"/>
          </a:xfrm>
          <a:prstGeom prst="rect">
            <a:avLst/>
          </a:prstGeom>
          <a:noFill/>
        </p:spPr>
        <p:txBody>
          <a:bodyPr wrap="square" lIns="0" tIns="0" rIns="0" bIns="0">
            <a:spAutoFit/>
          </a:bodyPr>
          <a:lstStyle/>
          <a:p>
            <a:pPr algn="ctr"/>
            <a:r>
              <a:rPr lang="en-US" sz="1300" dirty="0">
                <a:solidFill>
                  <a:srgbClr val="6F6F6F"/>
                </a:solidFill>
              </a:rPr>
              <a:t>Instruct LLM where to find data and how to </a:t>
            </a:r>
            <a:r>
              <a:rPr lang="en-US" sz="1300" dirty="0" err="1">
                <a:solidFill>
                  <a:srgbClr val="6F6F6F"/>
                </a:solidFill>
              </a:rPr>
              <a:t>analyse</a:t>
            </a:r>
            <a:r>
              <a:rPr lang="en-US" sz="1300" dirty="0">
                <a:solidFill>
                  <a:srgbClr val="6F6F6F"/>
                </a:solidFill>
              </a:rPr>
              <a:t> it</a:t>
            </a:r>
            <a:endParaRPr sz="1300" dirty="0">
              <a:solidFill>
                <a:srgbClr val="6F6F6F"/>
              </a:solidFill>
            </a:endParaRPr>
          </a:p>
        </p:txBody>
      </p:sp>
      <p:pic>
        <p:nvPicPr>
          <p:cNvPr id="13" name="Picture 12" descr="icon_person_check.png"/>
          <p:cNvPicPr>
            <a:picLocks noChangeAspect="1"/>
          </p:cNvPicPr>
          <p:nvPr/>
        </p:nvPicPr>
        <p:blipFill>
          <a:blip r:embed="rId4"/>
          <a:stretch>
            <a:fillRect/>
          </a:stretch>
        </p:blipFill>
        <p:spPr>
          <a:xfrm>
            <a:off x="5198357" y="1965960"/>
            <a:ext cx="1371600" cy="1371600"/>
          </a:xfrm>
          <a:prstGeom prst="rect">
            <a:avLst/>
          </a:prstGeom>
        </p:spPr>
      </p:pic>
      <p:sp>
        <p:nvSpPr>
          <p:cNvPr id="14" name="TextBox 13"/>
          <p:cNvSpPr txBox="1"/>
          <p:nvPr/>
        </p:nvSpPr>
        <p:spPr>
          <a:xfrm>
            <a:off x="4737385" y="3611880"/>
            <a:ext cx="2293543" cy="411480"/>
          </a:xfrm>
          <a:prstGeom prst="rect">
            <a:avLst/>
          </a:prstGeom>
          <a:noFill/>
        </p:spPr>
        <p:txBody>
          <a:bodyPr wrap="square" lIns="0" tIns="0" rIns="0" bIns="0">
            <a:spAutoFit/>
          </a:bodyPr>
          <a:lstStyle/>
          <a:p>
            <a:pPr algn="ctr"/>
            <a:r>
              <a:rPr sz="1600" b="1">
                <a:solidFill>
                  <a:srgbClr val="0A0A0A"/>
                </a:solidFill>
              </a:rPr>
              <a:t>You decide and check</a:t>
            </a:r>
          </a:p>
        </p:txBody>
      </p:sp>
      <p:sp>
        <p:nvSpPr>
          <p:cNvPr id="15" name="TextBox 14"/>
          <p:cNvSpPr txBox="1"/>
          <p:nvPr/>
        </p:nvSpPr>
        <p:spPr>
          <a:xfrm>
            <a:off x="4737385" y="4160520"/>
            <a:ext cx="2293543" cy="1280160"/>
          </a:xfrm>
          <a:prstGeom prst="rect">
            <a:avLst/>
          </a:prstGeom>
          <a:noFill/>
        </p:spPr>
        <p:txBody>
          <a:bodyPr wrap="square" lIns="0" tIns="0" rIns="0" bIns="0">
            <a:spAutoFit/>
          </a:bodyPr>
          <a:lstStyle/>
          <a:p>
            <a:pPr algn="ctr"/>
            <a:r>
              <a:rPr sz="1300">
                <a:solidFill>
                  <a:srgbClr val="6F6F6F"/>
                </a:solidFill>
              </a:rPr>
              <a:t>The decisions and the checks stay with the scientist; the assistant executes</a:t>
            </a:r>
          </a:p>
        </p:txBody>
      </p:sp>
      <p:pic>
        <p:nvPicPr>
          <p:cNvPr id="16" name="Picture 15" descr="icon_document_arrows.png"/>
          <p:cNvPicPr>
            <a:picLocks noChangeAspect="1"/>
          </p:cNvPicPr>
          <p:nvPr/>
        </p:nvPicPr>
        <p:blipFill>
          <a:blip r:embed="rId5"/>
          <a:stretch>
            <a:fillRect/>
          </a:stretch>
        </p:blipFill>
        <p:spPr>
          <a:xfrm>
            <a:off x="8410073" y="1965960"/>
            <a:ext cx="1371600" cy="1371600"/>
          </a:xfrm>
          <a:prstGeom prst="rect">
            <a:avLst/>
          </a:prstGeom>
        </p:spPr>
      </p:pic>
      <p:sp>
        <p:nvSpPr>
          <p:cNvPr id="17" name="TextBox 16"/>
          <p:cNvSpPr txBox="1"/>
          <p:nvPr/>
        </p:nvSpPr>
        <p:spPr>
          <a:xfrm>
            <a:off x="7949101" y="3611880"/>
            <a:ext cx="2293543" cy="411480"/>
          </a:xfrm>
          <a:prstGeom prst="rect">
            <a:avLst/>
          </a:prstGeom>
          <a:noFill/>
        </p:spPr>
        <p:txBody>
          <a:bodyPr wrap="square" lIns="0" tIns="0" rIns="0" bIns="0">
            <a:spAutoFit/>
          </a:bodyPr>
          <a:lstStyle/>
          <a:p>
            <a:pPr algn="ctr"/>
            <a:r>
              <a:rPr sz="1600" b="1">
                <a:solidFill>
                  <a:srgbClr val="0A0A0A"/>
                </a:solidFill>
              </a:rPr>
              <a:t>EnzymeML in between</a:t>
            </a:r>
          </a:p>
        </p:txBody>
      </p:sp>
      <p:sp>
        <p:nvSpPr>
          <p:cNvPr id="18" name="TextBox 17"/>
          <p:cNvSpPr txBox="1"/>
          <p:nvPr/>
        </p:nvSpPr>
        <p:spPr>
          <a:xfrm>
            <a:off x="7949101" y="4160520"/>
            <a:ext cx="2293543" cy="600164"/>
          </a:xfrm>
          <a:prstGeom prst="rect">
            <a:avLst/>
          </a:prstGeom>
          <a:noFill/>
        </p:spPr>
        <p:txBody>
          <a:bodyPr wrap="square" lIns="0" tIns="0" rIns="0" bIns="0">
            <a:spAutoFit/>
          </a:bodyPr>
          <a:lstStyle/>
          <a:p>
            <a:pPr algn="ctr"/>
            <a:r>
              <a:rPr sz="1300" dirty="0">
                <a:solidFill>
                  <a:srgbClr val="6F6F6F"/>
                </a:solidFill>
              </a:rPr>
              <a:t>One document carries the data between the steps</a:t>
            </a:r>
            <a:r>
              <a:rPr lang="en-US" sz="1300" dirty="0">
                <a:solidFill>
                  <a:srgbClr val="6F6F6F"/>
                </a:solidFill>
              </a:rPr>
              <a:t>. LLM writes code to do data science</a:t>
            </a:r>
            <a:endParaRPr sz="1300" dirty="0">
              <a:solidFill>
                <a:srgbClr val="6F6F6F"/>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Tools act, skills instruct, you decide</a:t>
            </a:r>
          </a:p>
        </p:txBody>
      </p:sp>
      <p:sp>
        <p:nvSpPr>
          <p:cNvPr id="5" name="Text Placeholder 4"/>
          <p:cNvSpPr>
            <a:spLocks noGrp="1"/>
          </p:cNvSpPr>
          <p:nvPr>
            <p:ph type="body" sz="quarter" idx="13"/>
          </p:nvPr>
        </p:nvSpPr>
        <p:spPr/>
        <p:txBody>
          <a:bodyPr/>
          <a:lstStyle/>
          <a:p>
            <a:r>
              <a:t>Concept</a:t>
            </a:r>
          </a:p>
        </p:txBody>
      </p:sp>
      <p:sp>
        <p:nvSpPr>
          <p:cNvPr id="8" name="Rounded Rectangle 7"/>
          <p:cNvSpPr/>
          <p:nvPr/>
        </p:nvSpPr>
        <p:spPr>
          <a:xfrm>
            <a:off x="4572000" y="3246120"/>
            <a:ext cx="2743200" cy="100584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400" b="1">
                <a:solidFill>
                  <a:srgbClr val="0A0A0A"/>
                </a:solidFill>
              </a:rPr>
              <a:t>Language model</a:t>
            </a:r>
          </a:p>
          <a:p>
            <a:pPr algn="ctr"/>
            <a:r>
              <a:rPr sz="1100">
                <a:solidFill>
                  <a:srgbClr val="6F6F6F"/>
                </a:solidFill>
              </a:rPr>
              <a:t>ChatGPT, Claude, Gemini, …</a:t>
            </a:r>
          </a:p>
        </p:txBody>
      </p:sp>
      <p:sp>
        <p:nvSpPr>
          <p:cNvPr id="9" name="Rounded Rectangle 8"/>
          <p:cNvSpPr/>
          <p:nvPr/>
        </p:nvSpPr>
        <p:spPr>
          <a:xfrm>
            <a:off x="4084624" y="1691640"/>
            <a:ext cx="4023360" cy="73152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400" b="1">
                <a:solidFill>
                  <a:srgbClr val="0A0A0A"/>
                </a:solidFill>
              </a:rPr>
              <a:t>You</a:t>
            </a:r>
          </a:p>
          <a:p>
            <a:pPr algn="ctr"/>
            <a:r>
              <a:rPr sz="1100">
                <a:solidFill>
                  <a:srgbClr val="6F6F6F"/>
                </a:solidFill>
              </a:rPr>
              <a:t>the task, the decisions, the checks</a:t>
            </a:r>
          </a:p>
        </p:txBody>
      </p:sp>
      <p:cxnSp>
        <p:nvCxnSpPr>
          <p:cNvPr id="10" name="Connector 9"/>
          <p:cNvCxnSpPr/>
          <p:nvPr/>
        </p:nvCxnSpPr>
        <p:spPr>
          <a:xfrm>
            <a:off x="5639104" y="2478024"/>
            <a:ext cx="0" cy="713232"/>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892040" y="2697480"/>
            <a:ext cx="685800" cy="228600"/>
          </a:xfrm>
          <a:prstGeom prst="rect">
            <a:avLst/>
          </a:prstGeom>
          <a:noFill/>
        </p:spPr>
        <p:txBody>
          <a:bodyPr wrap="square" lIns="0" tIns="0" rIns="0" bIns="0">
            <a:spAutoFit/>
          </a:bodyPr>
          <a:lstStyle/>
          <a:p>
            <a:pPr algn="ctr"/>
            <a:r>
              <a:rPr sz="1200">
                <a:solidFill>
                  <a:srgbClr val="6F6F6F"/>
                </a:solidFill>
              </a:rPr>
              <a:t>task</a:t>
            </a:r>
          </a:p>
        </p:txBody>
      </p:sp>
      <p:cxnSp>
        <p:nvCxnSpPr>
          <p:cNvPr id="12" name="Connector 11"/>
          <p:cNvCxnSpPr/>
          <p:nvPr/>
        </p:nvCxnSpPr>
        <p:spPr>
          <a:xfrm flipV="1">
            <a:off x="6553504" y="2478024"/>
            <a:ext cx="0" cy="713232"/>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629400" y="2697480"/>
            <a:ext cx="822960" cy="228600"/>
          </a:xfrm>
          <a:prstGeom prst="rect">
            <a:avLst/>
          </a:prstGeom>
          <a:noFill/>
        </p:spPr>
        <p:txBody>
          <a:bodyPr wrap="square" lIns="0" tIns="0" rIns="0" bIns="0">
            <a:spAutoFit/>
          </a:bodyPr>
          <a:lstStyle/>
          <a:p>
            <a:pPr algn="ctr"/>
            <a:r>
              <a:rPr sz="1200">
                <a:solidFill>
                  <a:srgbClr val="6F6F6F"/>
                </a:solidFill>
              </a:rPr>
              <a:t>results</a:t>
            </a:r>
          </a:p>
        </p:txBody>
      </p:sp>
      <p:sp>
        <p:nvSpPr>
          <p:cNvPr id="14" name="TextBox 13"/>
          <p:cNvSpPr txBox="1"/>
          <p:nvPr/>
        </p:nvSpPr>
        <p:spPr>
          <a:xfrm>
            <a:off x="822960" y="2331720"/>
            <a:ext cx="2103120" cy="274320"/>
          </a:xfrm>
          <a:prstGeom prst="rect">
            <a:avLst/>
          </a:prstGeom>
          <a:noFill/>
        </p:spPr>
        <p:txBody>
          <a:bodyPr wrap="square" lIns="0" tIns="0" rIns="0" bIns="0">
            <a:spAutoFit/>
          </a:bodyPr>
          <a:lstStyle/>
          <a:p>
            <a:pPr algn="ctr"/>
            <a:r>
              <a:rPr sz="1200">
                <a:solidFill>
                  <a:srgbClr val="6F6F6F"/>
                </a:solidFill>
              </a:rPr>
              <a:t>Tools</a:t>
            </a:r>
          </a:p>
        </p:txBody>
      </p:sp>
      <p:sp>
        <p:nvSpPr>
          <p:cNvPr id="15" name="Rounded Rectangle 14"/>
          <p:cNvSpPr/>
          <p:nvPr/>
        </p:nvSpPr>
        <p:spPr>
          <a:xfrm>
            <a:off x="822960" y="2651760"/>
            <a:ext cx="2103120" cy="64008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400" b="1">
                <a:solidFill>
                  <a:srgbClr val="0A0A0A"/>
                </a:solidFill>
              </a:rPr>
              <a:t>read files</a:t>
            </a:r>
          </a:p>
        </p:txBody>
      </p:sp>
      <p:cxnSp>
        <p:nvCxnSpPr>
          <p:cNvPr id="16" name="Connector 15"/>
          <p:cNvCxnSpPr/>
          <p:nvPr/>
        </p:nvCxnSpPr>
        <p:spPr>
          <a:xfrm>
            <a:off x="2926079" y="2971800"/>
            <a:ext cx="365761"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22960" y="3429000"/>
            <a:ext cx="2103120" cy="64008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400" b="1">
                <a:solidFill>
                  <a:srgbClr val="0A0A0A"/>
                </a:solidFill>
              </a:rPr>
              <a:t>run Python</a:t>
            </a:r>
          </a:p>
        </p:txBody>
      </p:sp>
      <p:cxnSp>
        <p:nvCxnSpPr>
          <p:cNvPr id="18" name="Connector 17"/>
          <p:cNvCxnSpPr/>
          <p:nvPr/>
        </p:nvCxnSpPr>
        <p:spPr>
          <a:xfrm>
            <a:off x="2926079" y="3749039"/>
            <a:ext cx="365761"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822960" y="4206240"/>
            <a:ext cx="2103120" cy="64008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400" b="1">
                <a:solidFill>
                  <a:srgbClr val="0A0A0A"/>
                </a:solidFill>
              </a:rPr>
              <a:t>make plots</a:t>
            </a:r>
          </a:p>
        </p:txBody>
      </p:sp>
      <p:cxnSp>
        <p:nvCxnSpPr>
          <p:cNvPr id="20" name="Connector 19"/>
          <p:cNvCxnSpPr/>
          <p:nvPr/>
        </p:nvCxnSpPr>
        <p:spPr>
          <a:xfrm>
            <a:off x="2926079" y="4526279"/>
            <a:ext cx="365761"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291840" y="2971800"/>
            <a:ext cx="0" cy="1554479"/>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3346704" y="3566160"/>
            <a:ext cx="1170432"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383280" y="3291840"/>
            <a:ext cx="1097280" cy="228600"/>
          </a:xfrm>
          <a:prstGeom prst="rect">
            <a:avLst/>
          </a:prstGeom>
          <a:noFill/>
        </p:spPr>
        <p:txBody>
          <a:bodyPr wrap="square" lIns="0" tIns="0" rIns="0" bIns="0">
            <a:spAutoFit/>
          </a:bodyPr>
          <a:lstStyle/>
          <a:p>
            <a:pPr algn="ctr"/>
            <a:r>
              <a:rPr sz="1200">
                <a:solidFill>
                  <a:srgbClr val="6F6F6F"/>
                </a:solidFill>
              </a:rPr>
              <a:t>actions</a:t>
            </a:r>
          </a:p>
        </p:txBody>
      </p:sp>
      <p:cxnSp>
        <p:nvCxnSpPr>
          <p:cNvPr id="24" name="Connector 23"/>
          <p:cNvCxnSpPr/>
          <p:nvPr/>
        </p:nvCxnSpPr>
        <p:spPr>
          <a:xfrm>
            <a:off x="3346704" y="3931920"/>
            <a:ext cx="1170432"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383280" y="3986784"/>
            <a:ext cx="1097280" cy="228600"/>
          </a:xfrm>
          <a:prstGeom prst="rect">
            <a:avLst/>
          </a:prstGeom>
          <a:noFill/>
        </p:spPr>
        <p:txBody>
          <a:bodyPr wrap="square" lIns="0" tIns="0" rIns="0" bIns="0">
            <a:spAutoFit/>
          </a:bodyPr>
          <a:lstStyle/>
          <a:p>
            <a:pPr algn="ctr"/>
            <a:r>
              <a:rPr sz="1200">
                <a:solidFill>
                  <a:srgbClr val="6F6F6F"/>
                </a:solidFill>
              </a:rPr>
              <a:t>results</a:t>
            </a:r>
          </a:p>
        </p:txBody>
      </p:sp>
      <p:sp>
        <p:nvSpPr>
          <p:cNvPr id="26" name="TextBox 25"/>
          <p:cNvSpPr txBox="1"/>
          <p:nvPr/>
        </p:nvSpPr>
        <p:spPr>
          <a:xfrm>
            <a:off x="8808415" y="2423160"/>
            <a:ext cx="2560320" cy="274320"/>
          </a:xfrm>
          <a:prstGeom prst="rect">
            <a:avLst/>
          </a:prstGeom>
          <a:noFill/>
        </p:spPr>
        <p:txBody>
          <a:bodyPr wrap="square" lIns="0" tIns="0" rIns="0" bIns="0">
            <a:spAutoFit/>
          </a:bodyPr>
          <a:lstStyle/>
          <a:p>
            <a:pPr algn="ctr"/>
            <a:r>
              <a:rPr sz="1200">
                <a:solidFill>
                  <a:srgbClr val="6F6F6F"/>
                </a:solidFill>
              </a:rPr>
              <a:t>Skills</a:t>
            </a:r>
          </a:p>
        </p:txBody>
      </p:sp>
      <p:sp>
        <p:nvSpPr>
          <p:cNvPr id="27" name="Rounded Rectangle 26"/>
          <p:cNvSpPr/>
          <p:nvPr/>
        </p:nvSpPr>
        <p:spPr>
          <a:xfrm>
            <a:off x="8808415" y="2743200"/>
            <a:ext cx="2560320" cy="9144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400" b="1">
                <a:solidFill>
                  <a:srgbClr val="0A0A0A"/>
                </a:solidFill>
              </a:rPr>
              <a:t>chromhandler.md</a:t>
            </a:r>
          </a:p>
          <a:p>
            <a:pPr algn="ctr"/>
            <a:r>
              <a:rPr sz="1100">
                <a:solidFill>
                  <a:srgbClr val="6F6F6F"/>
                </a:solidFill>
              </a:rPr>
              <a:t>peak tables → EnzymeML</a:t>
            </a:r>
          </a:p>
        </p:txBody>
      </p:sp>
      <p:cxnSp>
        <p:nvCxnSpPr>
          <p:cNvPr id="28" name="Connector 27"/>
          <p:cNvCxnSpPr/>
          <p:nvPr/>
        </p:nvCxnSpPr>
        <p:spPr>
          <a:xfrm flipH="1">
            <a:off x="8412480" y="3200400"/>
            <a:ext cx="395935"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8808415" y="3840480"/>
            <a:ext cx="2560320" cy="9144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400" b="1">
                <a:solidFill>
                  <a:srgbClr val="0A0A0A"/>
                </a:solidFill>
              </a:rPr>
              <a:t>catalax.md</a:t>
            </a:r>
          </a:p>
          <a:p>
            <a:pPr algn="ctr"/>
            <a:r>
              <a:rPr sz="1100">
                <a:solidFill>
                  <a:srgbClr val="6F6F6F"/>
                </a:solidFill>
              </a:rPr>
              <a:t>EnzymeML → </a:t>
            </a:r>
            <a:r>
              <a:rPr sz="1100" i="1">
                <a:solidFill>
                  <a:srgbClr val="6F6F6F"/>
                </a:solidFill>
              </a:rPr>
              <a:t>k</a:t>
            </a:r>
            <a:r>
              <a:rPr sz="1100" baseline="-25000">
                <a:solidFill>
                  <a:srgbClr val="6F6F6F"/>
                </a:solidFill>
              </a:rPr>
              <a:t>cat</a:t>
            </a:r>
            <a:r>
              <a:rPr sz="1100">
                <a:solidFill>
                  <a:srgbClr val="6F6F6F"/>
                </a:solidFill>
              </a:rPr>
              <a:t>, </a:t>
            </a:r>
            <a:r>
              <a:rPr sz="1100" i="1">
                <a:solidFill>
                  <a:srgbClr val="6F6F6F"/>
                </a:solidFill>
              </a:rPr>
              <a:t>K</a:t>
            </a:r>
            <a:r>
              <a:rPr sz="1100" i="1" baseline="-25000">
                <a:solidFill>
                  <a:srgbClr val="6F6F6F"/>
                </a:solidFill>
              </a:rPr>
              <a:t>M</a:t>
            </a:r>
            <a:r>
              <a:rPr sz="1100">
                <a:solidFill>
                  <a:srgbClr val="6F6F6F"/>
                </a:solidFill>
              </a:rPr>
              <a:t> by Bayesian inference</a:t>
            </a:r>
          </a:p>
        </p:txBody>
      </p:sp>
      <p:cxnSp>
        <p:nvCxnSpPr>
          <p:cNvPr id="30" name="Connector 29"/>
          <p:cNvCxnSpPr/>
          <p:nvPr/>
        </p:nvCxnSpPr>
        <p:spPr>
          <a:xfrm flipH="1">
            <a:off x="8412480" y="4297680"/>
            <a:ext cx="395935"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412480" y="3200400"/>
            <a:ext cx="0" cy="109728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a:off x="7370064" y="3749039"/>
            <a:ext cx="987552"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7360920" y="3474720"/>
            <a:ext cx="1005840" cy="228600"/>
          </a:xfrm>
          <a:prstGeom prst="rect">
            <a:avLst/>
          </a:prstGeom>
          <a:noFill/>
        </p:spPr>
        <p:txBody>
          <a:bodyPr wrap="square" lIns="0" tIns="0" rIns="0" bIns="0">
            <a:spAutoFit/>
          </a:bodyPr>
          <a:lstStyle/>
          <a:p>
            <a:pPr algn="ctr"/>
            <a:r>
              <a:rPr sz="1200">
                <a:solidFill>
                  <a:srgbClr val="6F6F6F"/>
                </a:solidFill>
              </a:rPr>
              <a:t>instructions</a:t>
            </a:r>
          </a:p>
        </p:txBody>
      </p:sp>
      <p:sp>
        <p:nvSpPr>
          <p:cNvPr id="6" name="Text Placeholder 5">
            <a:extLst>
              <a:ext uri="{FF2B5EF4-FFF2-40B4-BE49-F238E27FC236}">
                <a16:creationId xmlns:a16="http://schemas.microsoft.com/office/drawing/2014/main" id="{1EA3B184-3433-1559-AE1E-2C0441139266}"/>
              </a:ext>
            </a:extLst>
          </p:cNvPr>
          <p:cNvSpPr>
            <a:spLocks noGrp="1"/>
          </p:cNvSpPr>
          <p:nvPr>
            <p:ph type="body" sz="half" idx="2"/>
          </p:nvPr>
        </p:nvSpPr>
        <p:spPr/>
        <p:txBody>
          <a:bodyPr/>
          <a:lstStyle/>
          <a:p>
            <a:endParaRPr lang="en-DE"/>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Two tasks, one document in between</a:t>
            </a:r>
          </a:p>
        </p:txBody>
      </p:sp>
      <p:sp>
        <p:nvSpPr>
          <p:cNvPr id="3" name="Text Placeholder 2"/>
          <p:cNvSpPr>
            <a:spLocks noGrp="1"/>
          </p:cNvSpPr>
          <p:nvPr>
            <p:ph type="body" sz="quarter" idx="13"/>
          </p:nvPr>
        </p:nvSpPr>
        <p:spPr/>
        <p:txBody>
          <a:bodyPr/>
          <a:lstStyle/>
          <a:p>
            <a:r>
              <a:t>Workflow</a:t>
            </a:r>
          </a:p>
        </p:txBody>
      </p:sp>
      <p:sp>
        <p:nvSpPr>
          <p:cNvPr id="6" name="Rounded Rectangle 5"/>
          <p:cNvSpPr/>
          <p:nvPr/>
        </p:nvSpPr>
        <p:spPr>
          <a:xfrm>
            <a:off x="822960"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400" b="1">
                <a:solidFill>
                  <a:srgbClr val="0A0A0A"/>
                </a:solidFill>
              </a:rPr>
              <a:t>Raw HPLC chromatograms</a:t>
            </a:r>
          </a:p>
          <a:p>
            <a:pPr algn="ctr"/>
            <a:r>
              <a:rPr sz="1100">
                <a:solidFill>
                  <a:srgbClr val="6F6F6F"/>
                </a:solidFill>
              </a:rPr>
              <a:t>one peak table per injection</a:t>
            </a:r>
          </a:p>
        </p:txBody>
      </p:sp>
      <p:sp>
        <p:nvSpPr>
          <p:cNvPr id="7" name="Rounded Rectangle 6"/>
          <p:cNvSpPr/>
          <p:nvPr/>
        </p:nvSpPr>
        <p:spPr>
          <a:xfrm>
            <a:off x="3035808"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400" b="1">
                <a:solidFill>
                  <a:srgbClr val="0A0A0A"/>
                </a:solidFill>
              </a:rPr>
              <a:t>Chromhandler</a:t>
            </a:r>
          </a:p>
          <a:p>
            <a:pPr algn="ctr"/>
            <a:r>
              <a:rPr sz="1100">
                <a:solidFill>
                  <a:srgbClr val="6F6F6F"/>
                </a:solidFill>
              </a:rPr>
              <a:t>peaks, calibration</a:t>
            </a:r>
          </a:p>
        </p:txBody>
      </p:sp>
      <p:sp>
        <p:nvSpPr>
          <p:cNvPr id="8" name="Rounded Rectangle 7"/>
          <p:cNvSpPr/>
          <p:nvPr/>
        </p:nvSpPr>
        <p:spPr>
          <a:xfrm>
            <a:off x="5248656"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400" b="1">
                <a:solidFill>
                  <a:srgbClr val="0A0A0A"/>
                </a:solidFill>
              </a:rPr>
              <a:t>EnzymeML document</a:t>
            </a:r>
          </a:p>
          <a:p>
            <a:pPr algn="ctr"/>
            <a:r>
              <a:rPr sz="1100">
                <a:solidFill>
                  <a:srgbClr val="6F6F6F"/>
                </a:solidFill>
              </a:rPr>
              <a:t>Neu5Ac time courses</a:t>
            </a:r>
          </a:p>
        </p:txBody>
      </p:sp>
      <p:sp>
        <p:nvSpPr>
          <p:cNvPr id="9" name="Rounded Rectangle 8"/>
          <p:cNvSpPr/>
          <p:nvPr/>
        </p:nvSpPr>
        <p:spPr>
          <a:xfrm>
            <a:off x="7461504"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400" b="1">
                <a:solidFill>
                  <a:srgbClr val="0A0A0A"/>
                </a:solidFill>
              </a:rPr>
              <a:t>Catalax</a:t>
            </a:r>
          </a:p>
          <a:p>
            <a:pPr algn="ctr"/>
            <a:r>
              <a:rPr sz="1100">
                <a:solidFill>
                  <a:srgbClr val="6F6F6F"/>
                </a:solidFill>
              </a:rPr>
              <a:t>ODE model, Bayesian inference</a:t>
            </a:r>
          </a:p>
        </p:txBody>
      </p:sp>
      <p:sp>
        <p:nvSpPr>
          <p:cNvPr id="10" name="Rounded Rectangle 9"/>
          <p:cNvSpPr/>
          <p:nvPr/>
        </p:nvSpPr>
        <p:spPr>
          <a:xfrm>
            <a:off x="9674352"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400" b="1" i="1">
                <a:solidFill>
                  <a:srgbClr val="0A0A0A"/>
                </a:solidFill>
              </a:rPr>
              <a:t>k</a:t>
            </a:r>
            <a:r>
              <a:rPr sz="1400" b="1" baseline="-25000">
                <a:solidFill>
                  <a:srgbClr val="0A0A0A"/>
                </a:solidFill>
              </a:rPr>
              <a:t>cat</a:t>
            </a:r>
            <a:r>
              <a:rPr sz="1400" b="1">
                <a:solidFill>
                  <a:srgbClr val="0A0A0A"/>
                </a:solidFill>
              </a:rPr>
              <a:t>, </a:t>
            </a:r>
            <a:r>
              <a:rPr sz="1400" b="1" i="1">
                <a:solidFill>
                  <a:srgbClr val="0A0A0A"/>
                </a:solidFill>
              </a:rPr>
              <a:t>K</a:t>
            </a:r>
            <a:r>
              <a:rPr sz="1400" b="1" i="1" baseline="-25000">
                <a:solidFill>
                  <a:srgbClr val="0A0A0A"/>
                </a:solidFill>
              </a:rPr>
              <a:t>M</a:t>
            </a:r>
            <a:r>
              <a:rPr sz="1400" b="1" baseline="30000">
                <a:solidFill>
                  <a:srgbClr val="0A0A0A"/>
                </a:solidFill>
              </a:rPr>
              <a:t>ManNAc</a:t>
            </a:r>
            <a:r>
              <a:rPr sz="1400" b="1">
                <a:solidFill>
                  <a:srgbClr val="0A0A0A"/>
                </a:solidFill>
              </a:rPr>
              <a:t>, </a:t>
            </a:r>
            <a:r>
              <a:rPr sz="1400" b="1" i="1">
                <a:solidFill>
                  <a:srgbClr val="0A0A0A"/>
                </a:solidFill>
              </a:rPr>
              <a:t>K</a:t>
            </a:r>
            <a:r>
              <a:rPr sz="1400" b="1" i="1" baseline="-25000">
                <a:solidFill>
                  <a:srgbClr val="0A0A0A"/>
                </a:solidFill>
              </a:rPr>
              <a:t>M</a:t>
            </a:r>
            <a:r>
              <a:rPr sz="1400" b="1" baseline="30000">
                <a:solidFill>
                  <a:srgbClr val="0A0A0A"/>
                </a:solidFill>
              </a:rPr>
              <a:t>PEP</a:t>
            </a:r>
          </a:p>
          <a:p>
            <a:pPr algn="ctr"/>
            <a:r>
              <a:rPr sz="1100">
                <a:solidFill>
                  <a:srgbClr val="6F6F6F"/>
                </a:solidFill>
              </a:rPr>
              <a:t>posterior distributions</a:t>
            </a:r>
          </a:p>
        </p:txBody>
      </p:sp>
      <p:cxnSp>
        <p:nvCxnSpPr>
          <p:cNvPr id="11" name="Connector 10"/>
          <p:cNvCxnSpPr/>
          <p:nvPr/>
        </p:nvCxnSpPr>
        <p:spPr>
          <a:xfrm>
            <a:off x="2569464" y="304038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782312" y="304038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995159" y="3040380"/>
            <a:ext cx="411481"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9208008" y="304038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22960" y="4023360"/>
            <a:ext cx="6117336"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22960" y="3913632"/>
            <a:ext cx="0" cy="109728"/>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940296" y="3913632"/>
            <a:ext cx="0" cy="109728"/>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22960" y="4096512"/>
            <a:ext cx="6117336" cy="274320"/>
          </a:xfrm>
          <a:prstGeom prst="rect">
            <a:avLst/>
          </a:prstGeom>
          <a:noFill/>
        </p:spPr>
        <p:txBody>
          <a:bodyPr wrap="square" lIns="0" tIns="0" rIns="0" bIns="0">
            <a:spAutoFit/>
          </a:bodyPr>
          <a:lstStyle/>
          <a:p>
            <a:pPr algn="ctr"/>
            <a:r>
              <a:rPr sz="1200">
                <a:solidFill>
                  <a:srgbClr val="0A0A0A"/>
                </a:solidFill>
              </a:rPr>
              <a:t>Task 1 · chromatograms to EnzymeML</a:t>
            </a:r>
          </a:p>
        </p:txBody>
      </p:sp>
      <p:cxnSp>
        <p:nvCxnSpPr>
          <p:cNvPr id="19" name="Connector 18"/>
          <p:cNvCxnSpPr/>
          <p:nvPr/>
        </p:nvCxnSpPr>
        <p:spPr>
          <a:xfrm>
            <a:off x="5248656" y="4709160"/>
            <a:ext cx="6117336"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248656" y="4599432"/>
            <a:ext cx="0" cy="109728"/>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1365992" y="4599432"/>
            <a:ext cx="0" cy="109728"/>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248656" y="4782312"/>
            <a:ext cx="6117336" cy="274320"/>
          </a:xfrm>
          <a:prstGeom prst="rect">
            <a:avLst/>
          </a:prstGeom>
          <a:noFill/>
        </p:spPr>
        <p:txBody>
          <a:bodyPr wrap="square" lIns="0" tIns="0" rIns="0" bIns="0">
            <a:spAutoFit/>
          </a:bodyPr>
          <a:lstStyle/>
          <a:p>
            <a:pPr algn="ctr"/>
            <a:r>
              <a:rPr sz="1200">
                <a:solidFill>
                  <a:srgbClr val="0A0A0A"/>
                </a:solidFill>
              </a:rPr>
              <a:t>Task 2 · infer the kinetic parameters</a:t>
            </a:r>
          </a:p>
        </p:txBody>
      </p:sp>
      <p:sp>
        <p:nvSpPr>
          <p:cNvPr id="23" name="Text Placeholder 22">
            <a:extLst>
              <a:ext uri="{FF2B5EF4-FFF2-40B4-BE49-F238E27FC236}">
                <a16:creationId xmlns:a16="http://schemas.microsoft.com/office/drawing/2014/main" id="{84DCA151-6101-D758-A8BB-B3BDE83EEE61}"/>
              </a:ext>
            </a:extLst>
          </p:cNvPr>
          <p:cNvSpPr>
            <a:spLocks noGrp="1"/>
          </p:cNvSpPr>
          <p:nvPr>
            <p:ph type="body" sz="quarter" idx="15"/>
          </p:nvPr>
        </p:nvSpPr>
        <p:spPr/>
        <p:txBody>
          <a:bodyPr/>
          <a:lstStyle/>
          <a:p>
            <a:endParaRPr lang="en-DE"/>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Chromhandler: from peak tables to concentrations</a:t>
            </a:r>
          </a:p>
        </p:txBody>
      </p:sp>
      <p:sp>
        <p:nvSpPr>
          <p:cNvPr id="3" name="Text Placeholder 2"/>
          <p:cNvSpPr>
            <a:spLocks noGrp="1"/>
          </p:cNvSpPr>
          <p:nvPr>
            <p:ph type="body" sz="quarter" idx="13"/>
          </p:nvPr>
        </p:nvSpPr>
        <p:spPr/>
        <p:txBody>
          <a:bodyPr/>
          <a:lstStyle/>
          <a:p>
            <a:r>
              <a:t>Tool 1 · Chromhandler</a:t>
            </a:r>
          </a:p>
        </p:txBody>
      </p:sp>
      <p:sp>
        <p:nvSpPr>
          <p:cNvPr id="4" name="Text Placeholder 3"/>
          <p:cNvSpPr>
            <a:spLocks noGrp="1"/>
          </p:cNvSpPr>
          <p:nvPr>
            <p:ph type="body" sz="quarter" idx="15"/>
          </p:nvPr>
        </p:nvSpPr>
        <p:spPr/>
        <p:txBody>
          <a:bodyPr/>
          <a:lstStyle/>
          <a:p>
            <a:r>
              <a:t>Reads the instrument's exports, assigns and calibrates one peak per compound, writes EnzymeML</a:t>
            </a:r>
          </a:p>
        </p:txBody>
      </p:sp>
      <p:sp>
        <p:nvSpPr>
          <p:cNvPr id="6" name="TextBox 5"/>
          <p:cNvSpPr txBox="1"/>
          <p:nvPr/>
        </p:nvSpPr>
        <p:spPr>
          <a:xfrm>
            <a:off x="822960" y="2057400"/>
            <a:ext cx="2743200" cy="274320"/>
          </a:xfrm>
          <a:prstGeom prst="rect">
            <a:avLst/>
          </a:prstGeom>
          <a:noFill/>
        </p:spPr>
        <p:txBody>
          <a:bodyPr wrap="square" lIns="0" tIns="0" rIns="0" bIns="0">
            <a:spAutoFit/>
          </a:bodyPr>
          <a:lstStyle/>
          <a:p>
            <a:pPr algn="ctr"/>
            <a:r>
              <a:rPr sz="1200">
                <a:solidFill>
                  <a:srgbClr val="6F6F6F"/>
                </a:solidFill>
              </a:rPr>
              <a:t>Input</a:t>
            </a:r>
          </a:p>
        </p:txBody>
      </p:sp>
      <p:sp>
        <p:nvSpPr>
          <p:cNvPr id="7" name="TextBox 6"/>
          <p:cNvSpPr txBox="1"/>
          <p:nvPr/>
        </p:nvSpPr>
        <p:spPr>
          <a:xfrm>
            <a:off x="4087368" y="2057400"/>
            <a:ext cx="4023360" cy="274320"/>
          </a:xfrm>
          <a:prstGeom prst="rect">
            <a:avLst/>
          </a:prstGeom>
          <a:noFill/>
        </p:spPr>
        <p:txBody>
          <a:bodyPr wrap="square" lIns="0" tIns="0" rIns="0" bIns="0">
            <a:spAutoFit/>
          </a:bodyPr>
          <a:lstStyle/>
          <a:p>
            <a:pPr algn="ctr"/>
            <a:r>
              <a:rPr sz="1200">
                <a:solidFill>
                  <a:srgbClr val="6F6F6F"/>
                </a:solidFill>
              </a:rPr>
              <a:t>Steps</a:t>
            </a:r>
          </a:p>
        </p:txBody>
      </p:sp>
      <p:sp>
        <p:nvSpPr>
          <p:cNvPr id="8" name="TextBox 7"/>
          <p:cNvSpPr txBox="1"/>
          <p:nvPr/>
        </p:nvSpPr>
        <p:spPr>
          <a:xfrm>
            <a:off x="8622792" y="2057400"/>
            <a:ext cx="2743200" cy="274320"/>
          </a:xfrm>
          <a:prstGeom prst="rect">
            <a:avLst/>
          </a:prstGeom>
          <a:noFill/>
        </p:spPr>
        <p:txBody>
          <a:bodyPr wrap="square" lIns="0" tIns="0" rIns="0" bIns="0">
            <a:spAutoFit/>
          </a:bodyPr>
          <a:lstStyle/>
          <a:p>
            <a:pPr algn="ctr"/>
            <a:r>
              <a:rPr sz="1200">
                <a:solidFill>
                  <a:srgbClr val="6F6F6F"/>
                </a:solidFill>
              </a:rPr>
              <a:t>Output</a:t>
            </a:r>
          </a:p>
        </p:txBody>
      </p:sp>
      <p:sp>
        <p:nvSpPr>
          <p:cNvPr id="9" name="Rounded Rectangle 8"/>
          <p:cNvSpPr/>
          <p:nvPr/>
        </p:nvSpPr>
        <p:spPr>
          <a:xfrm>
            <a:off x="822960" y="23774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400" b="1">
                <a:solidFill>
                  <a:srgbClr val="0A0A0A"/>
                </a:solidFill>
              </a:rPr>
              <a:t>Peak tables</a:t>
            </a:r>
          </a:p>
        </p:txBody>
      </p:sp>
      <p:cxnSp>
        <p:nvCxnSpPr>
          <p:cNvPr id="10" name="Connector 9"/>
          <p:cNvCxnSpPr/>
          <p:nvPr/>
        </p:nvCxnSpPr>
        <p:spPr>
          <a:xfrm>
            <a:off x="3566160" y="27203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822960" y="32918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400" b="1">
                <a:solidFill>
                  <a:srgbClr val="0A0A0A"/>
                </a:solidFill>
              </a:rPr>
              <a:t>Calibration standards</a:t>
            </a:r>
          </a:p>
        </p:txBody>
      </p:sp>
      <p:cxnSp>
        <p:nvCxnSpPr>
          <p:cNvPr id="12" name="Connector 11"/>
          <p:cNvCxnSpPr/>
          <p:nvPr/>
        </p:nvCxnSpPr>
        <p:spPr>
          <a:xfrm>
            <a:off x="3566160" y="36347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22960" y="42062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400" b="1">
                <a:solidFill>
                  <a:srgbClr val="0A0A0A"/>
                </a:solidFill>
              </a:rPr>
              <a:t>Initial concentrations</a:t>
            </a:r>
          </a:p>
        </p:txBody>
      </p:sp>
      <p:cxnSp>
        <p:nvCxnSpPr>
          <p:cNvPr id="14" name="Connector 13"/>
          <p:cNvCxnSpPr/>
          <p:nvPr/>
        </p:nvCxnSpPr>
        <p:spPr>
          <a:xfrm>
            <a:off x="3566160" y="45491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3794760" y="2642616"/>
            <a:ext cx="0" cy="1906524"/>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794760" y="2642616"/>
            <a:ext cx="237744"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4087368" y="2377440"/>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400" b="1">
                <a:solidFill>
                  <a:srgbClr val="0A0A0A"/>
                </a:solidFill>
              </a:rPr>
              <a:t>Read the exports</a:t>
            </a:r>
          </a:p>
        </p:txBody>
      </p:sp>
      <p:sp>
        <p:nvSpPr>
          <p:cNvPr id="18" name="Rounded Rectangle 17"/>
          <p:cNvSpPr/>
          <p:nvPr/>
        </p:nvSpPr>
        <p:spPr>
          <a:xfrm>
            <a:off x="4087368" y="3054096"/>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400" b="1">
                <a:solidFill>
                  <a:srgbClr val="0A0A0A"/>
                </a:solidFill>
              </a:rPr>
              <a:t>Set the retention window</a:t>
            </a:r>
          </a:p>
        </p:txBody>
      </p:sp>
      <p:sp>
        <p:nvSpPr>
          <p:cNvPr id="19" name="Rounded Rectangle 18"/>
          <p:cNvSpPr/>
          <p:nvPr/>
        </p:nvSpPr>
        <p:spPr>
          <a:xfrm>
            <a:off x="4087368" y="3730752"/>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400" b="1">
                <a:solidFill>
                  <a:srgbClr val="0A0A0A"/>
                </a:solidFill>
              </a:rPr>
              <a:t>Assign the peak</a:t>
            </a:r>
          </a:p>
        </p:txBody>
      </p:sp>
      <p:sp>
        <p:nvSpPr>
          <p:cNvPr id="20" name="Rounded Rectangle 19"/>
          <p:cNvSpPr/>
          <p:nvPr/>
        </p:nvSpPr>
        <p:spPr>
          <a:xfrm>
            <a:off x="4087368" y="4407408"/>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400" b="1">
                <a:solidFill>
                  <a:srgbClr val="0A0A0A"/>
                </a:solidFill>
              </a:rPr>
              <a:t>Calibrate</a:t>
            </a:r>
          </a:p>
        </p:txBody>
      </p:sp>
      <p:sp>
        <p:nvSpPr>
          <p:cNvPr id="21" name="Rounded Rectangle 20"/>
          <p:cNvSpPr/>
          <p:nvPr/>
        </p:nvSpPr>
        <p:spPr>
          <a:xfrm>
            <a:off x="4087368" y="5084064"/>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400" b="1">
                <a:solidFill>
                  <a:srgbClr val="0A0A0A"/>
                </a:solidFill>
              </a:rPr>
              <a:t>Export</a:t>
            </a:r>
          </a:p>
        </p:txBody>
      </p:sp>
      <p:cxnSp>
        <p:nvCxnSpPr>
          <p:cNvPr id="22" name="Connector 21"/>
          <p:cNvCxnSpPr/>
          <p:nvPr/>
        </p:nvCxnSpPr>
        <p:spPr>
          <a:xfrm>
            <a:off x="6099048" y="2926080"/>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099048" y="3602736"/>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6099048" y="4279392"/>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099048" y="4956048"/>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110728" y="5349240"/>
            <a:ext cx="283464"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8394192" y="2720340"/>
            <a:ext cx="0" cy="262890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8622792" y="23774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400" b="1">
                <a:solidFill>
                  <a:srgbClr val="0A0A0A"/>
                </a:solidFill>
              </a:rPr>
              <a:t>EnzymeML document</a:t>
            </a:r>
          </a:p>
        </p:txBody>
      </p:sp>
      <p:cxnSp>
        <p:nvCxnSpPr>
          <p:cNvPr id="29" name="Connector 28"/>
          <p:cNvCxnSpPr/>
          <p:nvPr/>
        </p:nvCxnSpPr>
        <p:spPr>
          <a:xfrm>
            <a:off x="8394192" y="2720340"/>
            <a:ext cx="173736"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8622792" y="32918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400" b="1">
                <a:solidFill>
                  <a:srgbClr val="0A0A0A"/>
                </a:solidFill>
              </a:rPr>
              <a:t>Checks</a:t>
            </a:r>
          </a:p>
        </p:txBody>
      </p:sp>
      <p:cxnSp>
        <p:nvCxnSpPr>
          <p:cNvPr id="31" name="Connector 30"/>
          <p:cNvCxnSpPr/>
          <p:nvPr/>
        </p:nvCxnSpPr>
        <p:spPr>
          <a:xfrm>
            <a:off x="8394192" y="3634740"/>
            <a:ext cx="173736"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0"/>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1"/>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2"/>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3"/>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4"/>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25"/>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8"/>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26"/>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27"/>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28"/>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29"/>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0"/>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9" grpId="0" animBg="1"/>
      <p:bldP spid="11" grpId="0" animBg="1"/>
      <p:bldP spid="13" grpId="0" animBg="1"/>
      <p:bldP spid="17" grpId="0" animBg="1"/>
      <p:bldP spid="18" grpId="0" animBg="1"/>
      <p:bldP spid="19" grpId="0" animBg="1"/>
      <p:bldP spid="20" grpId="0" animBg="1"/>
      <p:bldP spid="21" grpId="0" animBg="1"/>
      <p:bldP spid="28" grpId="0" animBg="1"/>
      <p:bldP spid="30"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Catalax: from time courses to kinetic parameters</a:t>
            </a:r>
          </a:p>
        </p:txBody>
      </p:sp>
      <p:sp>
        <p:nvSpPr>
          <p:cNvPr id="3" name="Text Placeholder 2"/>
          <p:cNvSpPr>
            <a:spLocks noGrp="1"/>
          </p:cNvSpPr>
          <p:nvPr>
            <p:ph type="body" sz="quarter" idx="13"/>
          </p:nvPr>
        </p:nvSpPr>
        <p:spPr/>
        <p:txBody>
          <a:bodyPr/>
          <a:lstStyle/>
          <a:p>
            <a:r>
              <a:t>Tool 2 · Catalax</a:t>
            </a:r>
          </a:p>
        </p:txBody>
      </p:sp>
      <p:sp>
        <p:nvSpPr>
          <p:cNvPr id="4" name="Text Placeholder 3"/>
          <p:cNvSpPr>
            <a:spLocks noGrp="1"/>
          </p:cNvSpPr>
          <p:nvPr>
            <p:ph type="body" sz="quarter" idx="15"/>
          </p:nvPr>
        </p:nvSpPr>
        <p:spPr/>
        <p:txBody>
          <a:bodyPr/>
          <a:lstStyle/>
          <a:p>
            <a:r>
              <a:t>Builds the ODE model from a rate law and samples the posterior of its parameters</a:t>
            </a:r>
          </a:p>
        </p:txBody>
      </p:sp>
      <p:sp>
        <p:nvSpPr>
          <p:cNvPr id="6" name="TextBox 5"/>
          <p:cNvSpPr txBox="1"/>
          <p:nvPr/>
        </p:nvSpPr>
        <p:spPr>
          <a:xfrm>
            <a:off x="822960" y="2057400"/>
            <a:ext cx="2743200" cy="274320"/>
          </a:xfrm>
          <a:prstGeom prst="rect">
            <a:avLst/>
          </a:prstGeom>
          <a:noFill/>
        </p:spPr>
        <p:txBody>
          <a:bodyPr wrap="square" lIns="0" tIns="0" rIns="0" bIns="0">
            <a:spAutoFit/>
          </a:bodyPr>
          <a:lstStyle/>
          <a:p>
            <a:pPr algn="ctr"/>
            <a:r>
              <a:rPr sz="1200">
                <a:solidFill>
                  <a:srgbClr val="6F6F6F"/>
                </a:solidFill>
              </a:rPr>
              <a:t>Input</a:t>
            </a:r>
          </a:p>
        </p:txBody>
      </p:sp>
      <p:sp>
        <p:nvSpPr>
          <p:cNvPr id="7" name="TextBox 6"/>
          <p:cNvSpPr txBox="1"/>
          <p:nvPr/>
        </p:nvSpPr>
        <p:spPr>
          <a:xfrm>
            <a:off x="4087368" y="2057400"/>
            <a:ext cx="4023360" cy="274320"/>
          </a:xfrm>
          <a:prstGeom prst="rect">
            <a:avLst/>
          </a:prstGeom>
          <a:noFill/>
        </p:spPr>
        <p:txBody>
          <a:bodyPr wrap="square" lIns="0" tIns="0" rIns="0" bIns="0">
            <a:spAutoFit/>
          </a:bodyPr>
          <a:lstStyle/>
          <a:p>
            <a:pPr algn="ctr"/>
            <a:r>
              <a:rPr sz="1200">
                <a:solidFill>
                  <a:srgbClr val="6F6F6F"/>
                </a:solidFill>
              </a:rPr>
              <a:t>Steps</a:t>
            </a:r>
          </a:p>
        </p:txBody>
      </p:sp>
      <p:sp>
        <p:nvSpPr>
          <p:cNvPr id="8" name="TextBox 7"/>
          <p:cNvSpPr txBox="1"/>
          <p:nvPr/>
        </p:nvSpPr>
        <p:spPr>
          <a:xfrm>
            <a:off x="8622792" y="2057400"/>
            <a:ext cx="2743200" cy="274320"/>
          </a:xfrm>
          <a:prstGeom prst="rect">
            <a:avLst/>
          </a:prstGeom>
          <a:noFill/>
        </p:spPr>
        <p:txBody>
          <a:bodyPr wrap="square" lIns="0" tIns="0" rIns="0" bIns="0">
            <a:spAutoFit/>
          </a:bodyPr>
          <a:lstStyle/>
          <a:p>
            <a:pPr algn="ctr"/>
            <a:r>
              <a:rPr sz="1200">
                <a:solidFill>
                  <a:srgbClr val="6F6F6F"/>
                </a:solidFill>
              </a:rPr>
              <a:t>Output</a:t>
            </a:r>
          </a:p>
        </p:txBody>
      </p:sp>
      <p:sp>
        <p:nvSpPr>
          <p:cNvPr id="9" name="Rounded Rectangle 8"/>
          <p:cNvSpPr/>
          <p:nvPr/>
        </p:nvSpPr>
        <p:spPr>
          <a:xfrm>
            <a:off x="822960" y="23774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400" b="1">
                <a:solidFill>
                  <a:srgbClr val="0A0A0A"/>
                </a:solidFill>
              </a:rPr>
              <a:t>EnzymeML document</a:t>
            </a:r>
          </a:p>
        </p:txBody>
      </p:sp>
      <p:cxnSp>
        <p:nvCxnSpPr>
          <p:cNvPr id="10" name="Connector 9"/>
          <p:cNvCxnSpPr/>
          <p:nvPr/>
        </p:nvCxnSpPr>
        <p:spPr>
          <a:xfrm>
            <a:off x="3566160" y="27203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822960" y="32918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400" b="1">
                <a:solidFill>
                  <a:srgbClr val="0A0A0A"/>
                </a:solidFill>
              </a:rPr>
              <a:t>Rate law</a:t>
            </a:r>
          </a:p>
        </p:txBody>
      </p:sp>
      <p:cxnSp>
        <p:nvCxnSpPr>
          <p:cNvPr id="12" name="Connector 11"/>
          <p:cNvCxnSpPr/>
          <p:nvPr/>
        </p:nvCxnSpPr>
        <p:spPr>
          <a:xfrm>
            <a:off x="3566160" y="36347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22960" y="42062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400" b="1">
                <a:solidFill>
                  <a:srgbClr val="0A0A0A"/>
                </a:solidFill>
              </a:rPr>
              <a:t>Priors and noise</a:t>
            </a:r>
          </a:p>
        </p:txBody>
      </p:sp>
      <p:cxnSp>
        <p:nvCxnSpPr>
          <p:cNvPr id="14" name="Connector 13"/>
          <p:cNvCxnSpPr/>
          <p:nvPr/>
        </p:nvCxnSpPr>
        <p:spPr>
          <a:xfrm>
            <a:off x="3566160" y="45491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3794760" y="2642616"/>
            <a:ext cx="0" cy="1906524"/>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794760" y="2642616"/>
            <a:ext cx="237744"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4087368" y="2377440"/>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400" b="1">
                <a:solidFill>
                  <a:srgbClr val="0A0A0A"/>
                </a:solidFill>
              </a:rPr>
              <a:t>Load the dataset</a:t>
            </a:r>
          </a:p>
        </p:txBody>
      </p:sp>
      <p:sp>
        <p:nvSpPr>
          <p:cNvPr id="18" name="Rounded Rectangle 17"/>
          <p:cNvSpPr/>
          <p:nvPr/>
        </p:nvSpPr>
        <p:spPr>
          <a:xfrm>
            <a:off x="4087368" y="3054096"/>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400" b="1">
                <a:solidFill>
                  <a:srgbClr val="0A0A0A"/>
                </a:solidFill>
              </a:rPr>
              <a:t>Define the model</a:t>
            </a:r>
          </a:p>
        </p:txBody>
      </p:sp>
      <p:sp>
        <p:nvSpPr>
          <p:cNvPr id="19" name="Rounded Rectangle 18"/>
          <p:cNvSpPr/>
          <p:nvPr/>
        </p:nvSpPr>
        <p:spPr>
          <a:xfrm>
            <a:off x="4087368" y="3730752"/>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400" b="1">
                <a:solidFill>
                  <a:srgbClr val="0A0A0A"/>
                </a:solidFill>
              </a:rPr>
              <a:t>Set the priors</a:t>
            </a:r>
          </a:p>
        </p:txBody>
      </p:sp>
      <p:sp>
        <p:nvSpPr>
          <p:cNvPr id="20" name="Rounded Rectangle 19"/>
          <p:cNvSpPr/>
          <p:nvPr/>
        </p:nvSpPr>
        <p:spPr>
          <a:xfrm>
            <a:off x="4087368" y="4407408"/>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400" b="1">
                <a:solidFill>
                  <a:srgbClr val="0A0A0A"/>
                </a:solidFill>
              </a:rPr>
              <a:t>Sample</a:t>
            </a:r>
          </a:p>
        </p:txBody>
      </p:sp>
      <p:sp>
        <p:nvSpPr>
          <p:cNvPr id="21" name="Rounded Rectangle 20"/>
          <p:cNvSpPr/>
          <p:nvPr/>
        </p:nvSpPr>
        <p:spPr>
          <a:xfrm>
            <a:off x="4087368" y="5084064"/>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400" b="1">
                <a:solidFill>
                  <a:srgbClr val="0A0A0A"/>
                </a:solidFill>
              </a:rPr>
              <a:t>Check and plot</a:t>
            </a:r>
          </a:p>
        </p:txBody>
      </p:sp>
      <p:cxnSp>
        <p:nvCxnSpPr>
          <p:cNvPr id="22" name="Connector 21"/>
          <p:cNvCxnSpPr/>
          <p:nvPr/>
        </p:nvCxnSpPr>
        <p:spPr>
          <a:xfrm>
            <a:off x="6099048" y="2926080"/>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099048" y="3602736"/>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6099048" y="4279392"/>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099048" y="4956048"/>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110728" y="5349240"/>
            <a:ext cx="283464"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8394192" y="2720340"/>
            <a:ext cx="0" cy="262890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8622792" y="23774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400" b="1">
                <a:solidFill>
                  <a:srgbClr val="0A0A0A"/>
                </a:solidFill>
              </a:rPr>
              <a:t>Posterior</a:t>
            </a:r>
          </a:p>
        </p:txBody>
      </p:sp>
      <p:cxnSp>
        <p:nvCxnSpPr>
          <p:cNvPr id="29" name="Connector 28"/>
          <p:cNvCxnSpPr/>
          <p:nvPr/>
        </p:nvCxnSpPr>
        <p:spPr>
          <a:xfrm>
            <a:off x="8394192" y="2720340"/>
            <a:ext cx="173736"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8622792" y="32918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400" b="1">
                <a:solidFill>
                  <a:srgbClr val="0A0A0A"/>
                </a:solidFill>
              </a:rPr>
              <a:t>Plots</a:t>
            </a:r>
          </a:p>
        </p:txBody>
      </p:sp>
      <p:cxnSp>
        <p:nvCxnSpPr>
          <p:cNvPr id="31" name="Connector 30"/>
          <p:cNvCxnSpPr/>
          <p:nvPr/>
        </p:nvCxnSpPr>
        <p:spPr>
          <a:xfrm>
            <a:off x="8394192" y="3634740"/>
            <a:ext cx="173736"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3"/>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4"/>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5"/>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8"/>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26"/>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7"/>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8"/>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30"/>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17" grpId="0" animBg="1"/>
      <p:bldP spid="18" grpId="0" animBg="1"/>
      <p:bldP spid="19" grpId="0" animBg="1"/>
      <p:bldP spid="20" grpId="0" animBg="1"/>
      <p:bldP spid="21" grpId="0" animBg="1"/>
      <p:bldP spid="28" grpId="0" animBg="1"/>
      <p:bldP spid="30"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ManNAc + PEP → Neu5Ac + Pi, followed by HPLC</a:t>
            </a:r>
          </a:p>
        </p:txBody>
      </p:sp>
      <p:sp>
        <p:nvSpPr>
          <p:cNvPr id="4" name="Text Placeholder 3"/>
          <p:cNvSpPr>
            <a:spLocks noGrp="1"/>
          </p:cNvSpPr>
          <p:nvPr>
            <p:ph type="body" sz="half" idx="2"/>
          </p:nvPr>
        </p:nvSpPr>
        <p:spPr>
          <a:xfrm>
            <a:off x="822960" y="4079968"/>
            <a:ext cx="10545775" cy="1097280"/>
          </a:xfrm>
        </p:spPr>
        <p:txBody>
          <a:bodyPr/>
          <a:lstStyle/>
          <a:p>
            <a:r>
              <a:rPr dirty="0"/>
              <a:t>HPLC-PDA </a:t>
            </a:r>
            <a:r>
              <a:rPr lang="en-US" dirty="0"/>
              <a:t>time-course data</a:t>
            </a:r>
            <a:endParaRPr dirty="0"/>
          </a:p>
          <a:p>
            <a:r>
              <a:rPr lang="en-US" dirty="0"/>
              <a:t>Raw data: peat tables as instrument output</a:t>
            </a:r>
            <a:endParaRPr dirty="0"/>
          </a:p>
          <a:p>
            <a:r>
              <a:rPr dirty="0"/>
              <a:t>Only the product Neu5Ac is quantified</a:t>
            </a:r>
          </a:p>
        </p:txBody>
      </p:sp>
      <p:sp>
        <p:nvSpPr>
          <p:cNvPr id="5" name="Text Placeholder 4"/>
          <p:cNvSpPr>
            <a:spLocks noGrp="1"/>
          </p:cNvSpPr>
          <p:nvPr>
            <p:ph type="body" sz="quarter" idx="13"/>
          </p:nvPr>
        </p:nvSpPr>
        <p:spPr/>
        <p:txBody>
          <a:bodyPr/>
          <a:lstStyle/>
          <a:p>
            <a:r>
              <a:t>The experiment</a:t>
            </a:r>
          </a:p>
        </p:txBody>
      </p:sp>
      <p:sp>
        <p:nvSpPr>
          <p:cNvPr id="7" name="Text Placeholder 6"/>
          <p:cNvSpPr>
            <a:spLocks noGrp="1"/>
          </p:cNvSpPr>
          <p:nvPr>
            <p:ph type="body" sz="quarter" idx="16"/>
          </p:nvPr>
        </p:nvSpPr>
        <p:spPr/>
        <p:txBody>
          <a:bodyPr/>
          <a:lstStyle/>
          <a:p>
            <a:r>
              <a:t>Data: Çakar et al. (2024) Kinetic characterization of two neuraminic acid synthases and evaluation of their application potential. Appl. Microbiol. Biotechnol. 108, 446 · doi:10.1007/s00253-024-13277-1</a:t>
            </a:r>
          </a:p>
        </p:txBody>
      </p:sp>
      <p:pic>
        <p:nvPicPr>
          <p:cNvPr id="8" name="Picture 7" descr="reaction_scheme.png"/>
          <p:cNvPicPr>
            <a:picLocks noChangeAspect="1"/>
          </p:cNvPicPr>
          <p:nvPr/>
        </p:nvPicPr>
        <p:blipFill>
          <a:blip r:embed="rId3"/>
          <a:stretch>
            <a:fillRect/>
          </a:stretch>
        </p:blipFill>
        <p:spPr>
          <a:xfrm>
            <a:off x="822960" y="1645920"/>
            <a:ext cx="10545775" cy="2296888"/>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Get started: </a:t>
            </a:r>
            <a:r>
              <a:rPr lang="en-GB" dirty="0" err="1">
                <a:hlinkClick r:id="rId3"/>
              </a:rPr>
              <a:t>tinyurl.com</a:t>
            </a:r>
            <a:r>
              <a:rPr lang="en-GB" dirty="0">
                <a:hlinkClick r:id="rId3"/>
              </a:rPr>
              <a:t>/enzymeml2026</a:t>
            </a:r>
            <a:endParaRPr dirty="0"/>
          </a:p>
        </p:txBody>
      </p:sp>
      <p:sp>
        <p:nvSpPr>
          <p:cNvPr id="5" name="Text Placeholder 4"/>
          <p:cNvSpPr>
            <a:spLocks noGrp="1"/>
          </p:cNvSpPr>
          <p:nvPr>
            <p:ph type="body" sz="quarter" idx="13"/>
          </p:nvPr>
        </p:nvSpPr>
        <p:spPr/>
        <p:txBody>
          <a:bodyPr/>
          <a:lstStyle/>
          <a:p>
            <a:r>
              <a:t>Hands-on</a:t>
            </a:r>
          </a:p>
        </p:txBody>
      </p:sp>
      <p:sp>
        <p:nvSpPr>
          <p:cNvPr id="6" name="Text Placeholder 5"/>
          <p:cNvSpPr>
            <a:spLocks noGrp="1"/>
          </p:cNvSpPr>
          <p:nvPr>
            <p:ph type="body" sz="quarter" idx="15"/>
          </p:nvPr>
        </p:nvSpPr>
        <p:spPr/>
        <p:txBody>
          <a:bodyPr/>
          <a:lstStyle/>
          <a:p>
            <a:r>
              <a:rPr dirty="0"/>
              <a:t>Everything is in the README</a:t>
            </a:r>
          </a:p>
        </p:txBody>
      </p:sp>
      <p:sp>
        <p:nvSpPr>
          <p:cNvPr id="8" name="TextBox 7"/>
          <p:cNvSpPr txBox="1"/>
          <p:nvPr/>
        </p:nvSpPr>
        <p:spPr>
          <a:xfrm>
            <a:off x="822960" y="2011680"/>
            <a:ext cx="5029200" cy="365760"/>
          </a:xfrm>
          <a:prstGeom prst="rect">
            <a:avLst/>
          </a:prstGeom>
          <a:noFill/>
        </p:spPr>
        <p:txBody>
          <a:bodyPr wrap="none" lIns="0" tIns="0" bIns="0">
            <a:spAutoFit/>
          </a:bodyPr>
          <a:lstStyle/>
          <a:p>
            <a:r>
              <a:rPr sz="1600" b="1"/>
              <a:t>Tasks</a:t>
            </a:r>
          </a:p>
        </p:txBody>
      </p:sp>
      <p:pic>
        <p:nvPicPr>
          <p:cNvPr id="9" name="Picture 8" descr="chart-area-line.png"/>
          <p:cNvPicPr>
            <a:picLocks noChangeAspect="1"/>
          </p:cNvPicPr>
          <p:nvPr/>
        </p:nvPicPr>
        <p:blipFill>
          <a:blip r:embed="rId4"/>
          <a:stretch>
            <a:fillRect/>
          </a:stretch>
        </p:blipFill>
        <p:spPr>
          <a:xfrm>
            <a:off x="822960" y="2487168"/>
            <a:ext cx="384048" cy="384048"/>
          </a:xfrm>
          <a:prstGeom prst="rect">
            <a:avLst/>
          </a:prstGeom>
        </p:spPr>
      </p:pic>
      <p:sp>
        <p:nvSpPr>
          <p:cNvPr id="10" name="TextBox 9"/>
          <p:cNvSpPr txBox="1"/>
          <p:nvPr/>
        </p:nvSpPr>
        <p:spPr>
          <a:xfrm>
            <a:off x="1389888" y="2468880"/>
            <a:ext cx="4462272" cy="960119"/>
          </a:xfrm>
          <a:prstGeom prst="rect">
            <a:avLst/>
          </a:prstGeom>
          <a:noFill/>
        </p:spPr>
        <p:txBody>
          <a:bodyPr wrap="square" lIns="0" tIns="0" bIns="0">
            <a:spAutoFit/>
          </a:bodyPr>
          <a:lstStyle/>
          <a:p>
            <a:r>
              <a:rPr sz="1600" b="1"/>
              <a:t>Task 1 · chromatograms to EnzymeML: </a:t>
            </a:r>
            <a:r>
              <a:rPr sz="1600"/>
              <a:t>plot the data, check the assay design, calibrate, export the document</a:t>
            </a:r>
          </a:p>
        </p:txBody>
      </p:sp>
      <p:pic>
        <p:nvPicPr>
          <p:cNvPr id="11" name="Picture 10" descr="chart-scatter.png"/>
          <p:cNvPicPr>
            <a:picLocks noChangeAspect="1"/>
          </p:cNvPicPr>
          <p:nvPr/>
        </p:nvPicPr>
        <p:blipFill>
          <a:blip r:embed="rId5"/>
          <a:stretch>
            <a:fillRect/>
          </a:stretch>
        </p:blipFill>
        <p:spPr>
          <a:xfrm>
            <a:off x="822960" y="3538728"/>
            <a:ext cx="384048" cy="384048"/>
          </a:xfrm>
          <a:prstGeom prst="rect">
            <a:avLst/>
          </a:prstGeom>
        </p:spPr>
      </p:pic>
      <p:sp>
        <p:nvSpPr>
          <p:cNvPr id="12" name="TextBox 11"/>
          <p:cNvSpPr txBox="1"/>
          <p:nvPr/>
        </p:nvSpPr>
        <p:spPr>
          <a:xfrm>
            <a:off x="1389888" y="3520440"/>
            <a:ext cx="4462272" cy="960119"/>
          </a:xfrm>
          <a:prstGeom prst="rect">
            <a:avLst/>
          </a:prstGeom>
          <a:noFill/>
        </p:spPr>
        <p:txBody>
          <a:bodyPr wrap="square" lIns="0" tIns="0" bIns="0">
            <a:spAutoFit/>
          </a:bodyPr>
          <a:lstStyle/>
          <a:p>
            <a:r>
              <a:rPr sz="1600" b="1"/>
              <a:t>Task 2 · kinetic parameters: </a:t>
            </a:r>
            <a:r>
              <a:rPr sz="1600"/>
              <a:t>infer </a:t>
            </a:r>
            <a:r>
              <a:rPr sz="1600" i="1"/>
              <a:t>k</a:t>
            </a:r>
            <a:r>
              <a:rPr sz="1600" baseline="-25000"/>
              <a:t>cat</a:t>
            </a:r>
            <a:r>
              <a:rPr sz="1600"/>
              <a:t> and </a:t>
            </a:r>
            <a:r>
              <a:rPr sz="1600" i="1"/>
              <a:t>K</a:t>
            </a:r>
            <a:r>
              <a:rPr sz="1600" i="1" baseline="-25000"/>
              <a:t>M</a:t>
            </a:r>
            <a:r>
              <a:rPr sz="1600"/>
              <a:t> with their uncertainty and correlation; does the model describe the data?</a:t>
            </a:r>
          </a:p>
        </p:txBody>
      </p:sp>
      <p:pic>
        <p:nvPicPr>
          <p:cNvPr id="13" name="Picture 12" descr="users-group.png"/>
          <p:cNvPicPr>
            <a:picLocks noChangeAspect="1"/>
          </p:cNvPicPr>
          <p:nvPr/>
        </p:nvPicPr>
        <p:blipFill>
          <a:blip r:embed="rId6"/>
          <a:stretch>
            <a:fillRect/>
          </a:stretch>
        </p:blipFill>
        <p:spPr>
          <a:xfrm>
            <a:off x="822960" y="4590288"/>
            <a:ext cx="384048" cy="384048"/>
          </a:xfrm>
          <a:prstGeom prst="rect">
            <a:avLst/>
          </a:prstGeom>
        </p:spPr>
      </p:pic>
      <p:sp>
        <p:nvSpPr>
          <p:cNvPr id="14" name="TextBox 13"/>
          <p:cNvSpPr txBox="1"/>
          <p:nvPr/>
        </p:nvSpPr>
        <p:spPr>
          <a:xfrm>
            <a:off x="1389888" y="4572000"/>
            <a:ext cx="4462272" cy="246221"/>
          </a:xfrm>
          <a:prstGeom prst="rect">
            <a:avLst/>
          </a:prstGeom>
          <a:noFill/>
        </p:spPr>
        <p:txBody>
          <a:bodyPr wrap="square" lIns="0" tIns="0" bIns="0">
            <a:spAutoFit/>
          </a:bodyPr>
          <a:lstStyle/>
          <a:p>
            <a:r>
              <a:rPr sz="1600" b="1" dirty="0"/>
              <a:t>At the end </a:t>
            </a:r>
            <a:r>
              <a:rPr sz="1600" dirty="0"/>
              <a:t>we </a:t>
            </a:r>
            <a:r>
              <a:rPr lang="en-US" sz="1600" dirty="0"/>
              <a:t>discuss experiences</a:t>
            </a:r>
            <a:endParaRPr sz="1600" dirty="0"/>
          </a:p>
        </p:txBody>
      </p:sp>
      <p:sp>
        <p:nvSpPr>
          <p:cNvPr id="15" name="TextBox 14"/>
          <p:cNvSpPr txBox="1"/>
          <p:nvPr/>
        </p:nvSpPr>
        <p:spPr>
          <a:xfrm>
            <a:off x="6339535" y="2011680"/>
            <a:ext cx="3654205" cy="246221"/>
          </a:xfrm>
          <a:prstGeom prst="rect">
            <a:avLst/>
          </a:prstGeom>
          <a:noFill/>
        </p:spPr>
        <p:txBody>
          <a:bodyPr wrap="none" lIns="0" tIns="0" bIns="0">
            <a:spAutoFit/>
          </a:bodyPr>
          <a:lstStyle/>
          <a:p>
            <a:r>
              <a:rPr sz="1600" b="1" dirty="0"/>
              <a:t>How to get started</a:t>
            </a:r>
            <a:r>
              <a:rPr lang="en-US" sz="1600" b="1" dirty="0"/>
              <a:t>: </a:t>
            </a:r>
            <a:r>
              <a:rPr lang="en-US" sz="1600" dirty="0"/>
              <a:t>choose your route</a:t>
            </a:r>
            <a:endParaRPr sz="1600" dirty="0"/>
          </a:p>
        </p:txBody>
      </p:sp>
      <p:pic>
        <p:nvPicPr>
          <p:cNvPr id="16" name="Picture 15" descr="terminal-2.png"/>
          <p:cNvPicPr>
            <a:picLocks noChangeAspect="1"/>
          </p:cNvPicPr>
          <p:nvPr/>
        </p:nvPicPr>
        <p:blipFill>
          <a:blip r:embed="rId7"/>
          <a:stretch>
            <a:fillRect/>
          </a:stretch>
        </p:blipFill>
        <p:spPr>
          <a:xfrm>
            <a:off x="6339535" y="2487168"/>
            <a:ext cx="384048" cy="384048"/>
          </a:xfrm>
          <a:prstGeom prst="rect">
            <a:avLst/>
          </a:prstGeom>
        </p:spPr>
      </p:pic>
      <p:sp>
        <p:nvSpPr>
          <p:cNvPr id="17" name="TextBox 16"/>
          <p:cNvSpPr txBox="1"/>
          <p:nvPr/>
        </p:nvSpPr>
        <p:spPr>
          <a:xfrm>
            <a:off x="6906463" y="2468880"/>
            <a:ext cx="4591854" cy="492443"/>
          </a:xfrm>
          <a:prstGeom prst="rect">
            <a:avLst/>
          </a:prstGeom>
          <a:noFill/>
        </p:spPr>
        <p:txBody>
          <a:bodyPr wrap="square" lIns="0" tIns="0" bIns="0">
            <a:spAutoFit/>
          </a:bodyPr>
          <a:lstStyle/>
          <a:p>
            <a:r>
              <a:rPr sz="1600" b="1" dirty="0"/>
              <a:t>Route A · coding assistant on your computer: </a:t>
            </a:r>
            <a:r>
              <a:rPr sz="1600" dirty="0"/>
              <a:t>give it the cards in briefs/</a:t>
            </a:r>
          </a:p>
        </p:txBody>
      </p:sp>
      <p:pic>
        <p:nvPicPr>
          <p:cNvPr id="18" name="Picture 17" descr="message-chatbot.png"/>
          <p:cNvPicPr>
            <a:picLocks noChangeAspect="1"/>
          </p:cNvPicPr>
          <p:nvPr/>
        </p:nvPicPr>
        <p:blipFill>
          <a:blip r:embed="rId8"/>
          <a:stretch>
            <a:fillRect/>
          </a:stretch>
        </p:blipFill>
        <p:spPr>
          <a:xfrm>
            <a:off x="6339535" y="3264408"/>
            <a:ext cx="384048" cy="384048"/>
          </a:xfrm>
          <a:prstGeom prst="rect">
            <a:avLst/>
          </a:prstGeom>
        </p:spPr>
      </p:pic>
      <p:sp>
        <p:nvSpPr>
          <p:cNvPr id="19" name="TextBox 18"/>
          <p:cNvSpPr txBox="1"/>
          <p:nvPr/>
        </p:nvSpPr>
        <p:spPr>
          <a:xfrm>
            <a:off x="6906463" y="3246120"/>
            <a:ext cx="4462272" cy="492443"/>
          </a:xfrm>
          <a:prstGeom prst="rect">
            <a:avLst/>
          </a:prstGeom>
          <a:noFill/>
        </p:spPr>
        <p:txBody>
          <a:bodyPr wrap="square" lIns="0" tIns="0" bIns="0">
            <a:spAutoFit/>
          </a:bodyPr>
          <a:lstStyle/>
          <a:p>
            <a:r>
              <a:rPr sz="1600" b="1" dirty="0"/>
              <a:t>Route B · chat assistant only: </a:t>
            </a:r>
            <a:br>
              <a:rPr lang="en-US" sz="1600" b="1" dirty="0"/>
            </a:br>
            <a:r>
              <a:rPr sz="1600" dirty="0"/>
              <a:t>the </a:t>
            </a:r>
            <a:r>
              <a:rPr sz="1600" dirty="0" err="1"/>
              <a:t>Colab</a:t>
            </a:r>
            <a:r>
              <a:rPr sz="1600" dirty="0"/>
              <a:t> starter notebook</a:t>
            </a:r>
          </a:p>
        </p:txBody>
      </p:sp>
      <p:pic>
        <p:nvPicPr>
          <p:cNvPr id="20" name="Picture 19" descr="users.png"/>
          <p:cNvPicPr>
            <a:picLocks noChangeAspect="1"/>
          </p:cNvPicPr>
          <p:nvPr/>
        </p:nvPicPr>
        <p:blipFill>
          <a:blip r:embed="rId9"/>
          <a:stretch>
            <a:fillRect/>
          </a:stretch>
        </p:blipFill>
        <p:spPr>
          <a:xfrm>
            <a:off x="6339535" y="4041648"/>
            <a:ext cx="384048" cy="384048"/>
          </a:xfrm>
          <a:prstGeom prst="rect">
            <a:avLst/>
          </a:prstGeom>
        </p:spPr>
      </p:pic>
      <p:sp>
        <p:nvSpPr>
          <p:cNvPr id="21" name="TextBox 20"/>
          <p:cNvSpPr txBox="1"/>
          <p:nvPr/>
        </p:nvSpPr>
        <p:spPr>
          <a:xfrm>
            <a:off x="6906463" y="4023360"/>
            <a:ext cx="4462272" cy="492443"/>
          </a:xfrm>
          <a:prstGeom prst="rect">
            <a:avLst/>
          </a:prstGeom>
          <a:noFill/>
        </p:spPr>
        <p:txBody>
          <a:bodyPr wrap="square" lIns="0" tIns="0" bIns="0">
            <a:spAutoFit/>
          </a:bodyPr>
          <a:lstStyle/>
          <a:p>
            <a:r>
              <a:rPr sz="1600" b="1" dirty="0"/>
              <a:t>Route C · no assistant that runs code: </a:t>
            </a:r>
            <a:br>
              <a:rPr lang="en-US" sz="1600" b="1" dirty="0"/>
            </a:br>
            <a:r>
              <a:rPr sz="1600" dirty="0"/>
              <a:t>team up</a:t>
            </a:r>
          </a:p>
        </p:txBody>
      </p:sp>
      <p:pic>
        <p:nvPicPr>
          <p:cNvPr id="22" name="Picture 21" descr="book-2.png"/>
          <p:cNvPicPr>
            <a:picLocks noChangeAspect="1"/>
          </p:cNvPicPr>
          <p:nvPr/>
        </p:nvPicPr>
        <p:blipFill>
          <a:blip r:embed="rId10"/>
          <a:stretch>
            <a:fillRect/>
          </a:stretch>
        </p:blipFill>
        <p:spPr>
          <a:xfrm>
            <a:off x="6339535" y="4818888"/>
            <a:ext cx="384048" cy="384048"/>
          </a:xfrm>
          <a:prstGeom prst="rect">
            <a:avLst/>
          </a:prstGeom>
        </p:spPr>
      </p:pic>
      <p:sp>
        <p:nvSpPr>
          <p:cNvPr id="23" name="TextBox 22"/>
          <p:cNvSpPr txBox="1"/>
          <p:nvPr/>
        </p:nvSpPr>
        <p:spPr>
          <a:xfrm>
            <a:off x="6906463" y="4800600"/>
            <a:ext cx="4462272" cy="492443"/>
          </a:xfrm>
          <a:prstGeom prst="rect">
            <a:avLst/>
          </a:prstGeom>
          <a:noFill/>
        </p:spPr>
        <p:txBody>
          <a:bodyPr wrap="square" lIns="0" tIns="0" bIns="0">
            <a:spAutoFit/>
          </a:bodyPr>
          <a:lstStyle/>
          <a:p>
            <a:r>
              <a:rPr sz="1600" b="1" dirty="0"/>
              <a:t>Details: </a:t>
            </a:r>
            <a:r>
              <a:rPr lang="en-GB" sz="1600" dirty="0" err="1"/>
              <a:t>README.md</a:t>
            </a:r>
            <a:br>
              <a:rPr lang="en-US" sz="1600" dirty="0"/>
            </a:br>
            <a:r>
              <a:rPr sz="1600" dirty="0"/>
              <a:t>sections</a:t>
            </a:r>
            <a:r>
              <a:rPr lang="en-US" sz="1600" dirty="0"/>
              <a:t>: </a:t>
            </a:r>
            <a:r>
              <a:rPr sz="1600" dirty="0"/>
              <a:t>How to do it, </a:t>
            </a:r>
            <a:r>
              <a:rPr lang="en-US" sz="1600" dirty="0"/>
              <a:t>T</a:t>
            </a:r>
            <a:r>
              <a:rPr sz="1600" dirty="0"/>
              <a:t>ask 1, Task 2</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reference fit, and an open question</a:t>
            </a:r>
          </a:p>
        </p:txBody>
      </p:sp>
      <p:sp>
        <p:nvSpPr>
          <p:cNvPr id="4" name="Text Placeholder 3"/>
          <p:cNvSpPr>
            <a:spLocks noGrp="1"/>
          </p:cNvSpPr>
          <p:nvPr>
            <p:ph type="body" sz="half" idx="2"/>
          </p:nvPr>
        </p:nvSpPr>
        <p:spPr>
          <a:xfrm>
            <a:off x="6492240" y="4343400"/>
            <a:ext cx="4876495" cy="1417319"/>
          </a:xfrm>
        </p:spPr>
        <p:txBody>
          <a:bodyPr/>
          <a:lstStyle/>
          <a:p>
            <a:r>
              <a:rPr dirty="0"/>
              <a:t>One shared </a:t>
            </a:r>
            <a:r>
              <a:rPr i="1" dirty="0" err="1"/>
              <a:t>k</a:t>
            </a:r>
            <a:r>
              <a:rPr baseline="-25000" dirty="0" err="1"/>
              <a:t>cat</a:t>
            </a:r>
            <a:r>
              <a:rPr dirty="0"/>
              <a:t> over-predicts the </a:t>
            </a:r>
            <a:r>
              <a:rPr dirty="0" err="1"/>
              <a:t>ManNAc</a:t>
            </a:r>
            <a:r>
              <a:rPr dirty="0"/>
              <a:t> series and under-predicts the PEP series</a:t>
            </a:r>
          </a:p>
          <a:p>
            <a:r>
              <a:rPr dirty="0"/>
              <a:t>The two series were measured on different days and differ by roughly 25 % in activity</a:t>
            </a:r>
          </a:p>
          <a:p>
            <a:r>
              <a:rPr dirty="0"/>
              <a:t>What would you do next?</a:t>
            </a:r>
          </a:p>
        </p:txBody>
      </p:sp>
      <p:sp>
        <p:nvSpPr>
          <p:cNvPr id="5" name="Text Placeholder 4"/>
          <p:cNvSpPr>
            <a:spLocks noGrp="1"/>
          </p:cNvSpPr>
          <p:nvPr>
            <p:ph type="body" sz="quarter" idx="13"/>
          </p:nvPr>
        </p:nvSpPr>
        <p:spPr/>
        <p:txBody>
          <a:bodyPr/>
          <a:lstStyle/>
          <a:p>
            <a:r>
              <a:t>Reference result</a:t>
            </a:r>
          </a:p>
        </p:txBody>
      </p:sp>
      <p:pic>
        <p:nvPicPr>
          <p:cNvPr id="8" name="Picture 7" descr="model_fit.png"/>
          <p:cNvPicPr>
            <a:picLocks noChangeAspect="1"/>
          </p:cNvPicPr>
          <p:nvPr/>
        </p:nvPicPr>
        <p:blipFill>
          <a:blip r:embed="rId3"/>
          <a:stretch>
            <a:fillRect/>
          </a:stretch>
        </p:blipFill>
        <p:spPr>
          <a:xfrm>
            <a:off x="1725614" y="1645920"/>
            <a:ext cx="8740465" cy="2514600"/>
          </a:xfrm>
          <a:prstGeom prst="rect">
            <a:avLst/>
          </a:prstGeom>
        </p:spPr>
      </p:pic>
      <p:graphicFrame>
        <p:nvGraphicFramePr>
          <p:cNvPr id="9" name="Table 8"/>
          <p:cNvGraphicFramePr>
            <a:graphicFrameLocks noGrp="1"/>
          </p:cNvGraphicFramePr>
          <p:nvPr/>
        </p:nvGraphicFramePr>
        <p:xfrm>
          <a:off x="822960" y="4343400"/>
          <a:ext cx="5303520" cy="1316736"/>
        </p:xfrm>
        <a:graphic>
          <a:graphicData uri="http://schemas.openxmlformats.org/drawingml/2006/table">
            <a:tbl>
              <a:tblPr firstRow="1"/>
              <a:tblGrid>
                <a:gridCol w="1737360">
                  <a:extLst>
                    <a:ext uri="{9D8B030D-6E8A-4147-A177-3AD203B41FA5}">
                      <a16:colId xmlns:a16="http://schemas.microsoft.com/office/drawing/2014/main" val="20000"/>
                    </a:ext>
                  </a:extLst>
                </a:gridCol>
                <a:gridCol w="3566160">
                  <a:extLst>
                    <a:ext uri="{9D8B030D-6E8A-4147-A177-3AD203B41FA5}">
                      <a16:colId xmlns:a16="http://schemas.microsoft.com/office/drawing/2014/main" val="20001"/>
                    </a:ext>
                  </a:extLst>
                </a:gridCol>
              </a:tblGrid>
              <a:tr h="329184">
                <a:tc>
                  <a:txBody>
                    <a:bodyPr/>
                    <a:lstStyle/>
                    <a:p>
                      <a:r>
                        <a:rPr sz="1400" b="1"/>
                        <a:t>Parameter</a:t>
                      </a:r>
                    </a:p>
                  </a:txBody>
                  <a:tcPr/>
                </a:tc>
                <a:tc>
                  <a:txBody>
                    <a:bodyPr/>
                    <a:lstStyle/>
                    <a:p>
                      <a:r>
                        <a:rPr sz="1400" b="1"/>
                        <a:t>Posterior mean ± sd</a:t>
                      </a:r>
                    </a:p>
                  </a:txBody>
                  <a:tcPr/>
                </a:tc>
                <a:extLst>
                  <a:ext uri="{0D108BD9-81ED-4DB2-BD59-A6C34878D82A}">
                    <a16:rowId xmlns:a16="http://schemas.microsoft.com/office/drawing/2014/main" val="10000"/>
                  </a:ext>
                </a:extLst>
              </a:tr>
              <a:tr h="329184">
                <a:tc>
                  <a:txBody>
                    <a:bodyPr/>
                    <a:lstStyle/>
                    <a:p>
                      <a:r>
                        <a:rPr sz="1400" b="1" i="1"/>
                        <a:t>k</a:t>
                      </a:r>
                      <a:r>
                        <a:rPr sz="1400" b="1" baseline="-25000"/>
                        <a:t>cat</a:t>
                      </a:r>
                    </a:p>
                  </a:txBody>
                  <a:tcPr/>
                </a:tc>
                <a:tc>
                  <a:txBody>
                    <a:bodyPr/>
                    <a:lstStyle/>
                    <a:p>
                      <a:r>
                        <a:rPr sz="1400" b="0"/>
                        <a:t>364 ± 6 min⁻¹  (6.1 s⁻¹, 9.4 U/mg)</a:t>
                      </a:r>
                    </a:p>
                  </a:txBody>
                  <a:tcPr/>
                </a:tc>
                <a:extLst>
                  <a:ext uri="{0D108BD9-81ED-4DB2-BD59-A6C34878D82A}">
                    <a16:rowId xmlns:a16="http://schemas.microsoft.com/office/drawing/2014/main" val="10001"/>
                  </a:ext>
                </a:extLst>
              </a:tr>
              <a:tr h="329184">
                <a:tc>
                  <a:txBody>
                    <a:bodyPr/>
                    <a:lstStyle/>
                    <a:p>
                      <a:r>
                        <a:rPr sz="1400" b="1" i="1"/>
                        <a:t>K</a:t>
                      </a:r>
                      <a:r>
                        <a:rPr sz="1400" b="1" i="1" baseline="-25000"/>
                        <a:t>M</a:t>
                      </a:r>
                      <a:r>
                        <a:rPr sz="1400" b="1" baseline="30000"/>
                        <a:t>ManNAc</a:t>
                      </a:r>
                    </a:p>
                  </a:txBody>
                  <a:tcPr/>
                </a:tc>
                <a:tc>
                  <a:txBody>
                    <a:bodyPr/>
                    <a:lstStyle/>
                    <a:p>
                      <a:r>
                        <a:rPr sz="1400" b="0"/>
                        <a:t>1.53 ± 0.19 mM</a:t>
                      </a:r>
                    </a:p>
                  </a:txBody>
                  <a:tcPr/>
                </a:tc>
                <a:extLst>
                  <a:ext uri="{0D108BD9-81ED-4DB2-BD59-A6C34878D82A}">
                    <a16:rowId xmlns:a16="http://schemas.microsoft.com/office/drawing/2014/main" val="10002"/>
                  </a:ext>
                </a:extLst>
              </a:tr>
              <a:tr h="329184">
                <a:tc>
                  <a:txBody>
                    <a:bodyPr/>
                    <a:lstStyle/>
                    <a:p>
                      <a:r>
                        <a:rPr sz="1400" b="1" i="1"/>
                        <a:t>K</a:t>
                      </a:r>
                      <a:r>
                        <a:rPr sz="1400" b="1" i="1" baseline="-25000"/>
                        <a:t>M</a:t>
                      </a:r>
                      <a:r>
                        <a:rPr sz="1400" b="1" baseline="30000"/>
                        <a:t>PEP</a:t>
                      </a:r>
                    </a:p>
                  </a:txBody>
                  <a:tcPr/>
                </a:tc>
                <a:tc>
                  <a:txBody>
                    <a:bodyPr/>
                    <a:lstStyle/>
                    <a:p>
                      <a:r>
                        <a:rPr sz="1400" b="0"/>
                        <a:t>0.59 ± 0.07 mM</a:t>
                      </a:r>
                    </a:p>
                  </a:txBody>
                  <a:tcPr/>
                </a:tc>
                <a:extLst>
                  <a:ext uri="{0D108BD9-81ED-4DB2-BD59-A6C34878D82A}">
                    <a16:rowId xmlns:a16="http://schemas.microsoft.com/office/drawing/2014/main" val="10003"/>
                  </a:ext>
                </a:extLst>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to take home</a:t>
            </a:r>
          </a:p>
        </p:txBody>
      </p:sp>
      <p:sp>
        <p:nvSpPr>
          <p:cNvPr id="3" name="Content Placeholder 2"/>
          <p:cNvSpPr>
            <a:spLocks noGrp="1"/>
          </p:cNvSpPr>
          <p:nvPr>
            <p:ph idx="1"/>
          </p:nvPr>
        </p:nvSpPr>
        <p:spPr/>
        <p:txBody>
          <a:bodyPr/>
          <a:lstStyle/>
          <a:p>
            <a:r>
              <a:t>A one-page card is enough for an assistant to drive our tools</a:t>
            </a:r>
          </a:p>
          <a:p>
            <a:r>
              <a:t>The decisions and the checks stay with the scientist</a:t>
            </a:r>
          </a:p>
          <a:p>
            <a:r>
              <a:t>The cards are reusable as SKILL.md or AGENTS.md in coding agents</a:t>
            </a:r>
          </a:p>
          <a:p>
            <a:r>
              <a:t>What did not work for you today is the most useful feedback for us</a:t>
            </a:r>
          </a:p>
        </p:txBody>
      </p:sp>
      <p:sp>
        <p:nvSpPr>
          <p:cNvPr id="4" name="Text Placeholder 3"/>
          <p:cNvSpPr>
            <a:spLocks noGrp="1"/>
          </p:cNvSpPr>
          <p:nvPr>
            <p:ph type="body" sz="quarter" idx="13"/>
          </p:nvPr>
        </p:nvSpPr>
        <p:spPr/>
        <p:txBody>
          <a:bodyPr/>
          <a:lstStyle/>
          <a:p>
            <a:r>
              <a:t>Wrap-up</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Thank you</a:t>
            </a:r>
          </a:p>
        </p:txBody>
      </p:sp>
      <p:sp>
        <p:nvSpPr>
          <p:cNvPr id="3" name="Text Placeholder 2"/>
          <p:cNvSpPr>
            <a:spLocks noGrp="1"/>
          </p:cNvSpPr>
          <p:nvPr>
            <p:ph type="body" idx="1"/>
          </p:nvPr>
        </p:nvSpPr>
        <p:spPr/>
        <p:txBody>
          <a:bodyPr/>
          <a:lstStyle/>
          <a:p>
            <a:r>
              <a:t>tinyurl.com/enzymeml2026</a:t>
            </a:r>
          </a:p>
          <a:p>
            <a:pPr lvl="1"/>
            <a:r>
              <a:t>Max Häußler · University of Freiburg</a:t>
            </a:r>
          </a:p>
        </p:txBody>
      </p:sp>
      <p:pic>
        <p:nvPicPr>
          <p:cNvPr id="4" name="Picture 3" descr="qr_repository.png"/>
          <p:cNvPicPr>
            <a:picLocks noChangeAspect="1"/>
          </p:cNvPicPr>
          <p:nvPr/>
        </p:nvPicPr>
        <p:blipFill>
          <a:blip r:embed="rId3"/>
          <a:stretch>
            <a:fillRect/>
          </a:stretch>
        </p:blipFill>
        <p:spPr>
          <a:xfrm>
            <a:off x="10058400" y="2148840"/>
            <a:ext cx="1371600" cy="1371600"/>
          </a:xfrm>
          <a:prstGeom prst="rect">
            <a:avLst/>
          </a:prstGeom>
        </p:spPr>
      </p:pic>
    </p:spTree>
  </p:cSld>
  <p:clrMapOvr>
    <a:masterClrMapping/>
  </p:clrMapOvr>
</p:sld>
</file>

<file path=ppt/theme/theme1.xml><?xml version="1.0" encoding="utf-8"?>
<a:theme xmlns:a="http://schemas.openxmlformats.org/drawingml/2006/main" name="Office Theme">
  <a:themeElements>
    <a:clrScheme name="Black and white">
      <a:dk1>
        <a:srgbClr val="0A0A0A"/>
      </a:dk1>
      <a:lt1>
        <a:srgbClr val="FFFFFF"/>
      </a:lt1>
      <a:dk2>
        <a:srgbClr val="0A0A0A"/>
      </a:dk2>
      <a:lt2>
        <a:srgbClr val="F2F2F2"/>
      </a:lt2>
      <a:accent1>
        <a:srgbClr val="0A0A0A"/>
      </a:accent1>
      <a:accent2>
        <a:srgbClr val="6F6F6F"/>
      </a:accent2>
      <a:accent3>
        <a:srgbClr val="A6A6A6"/>
      </a:accent3>
      <a:accent4>
        <a:srgbClr val="404040"/>
      </a:accent4>
      <a:accent5>
        <a:srgbClr val="8C8C8C"/>
      </a:accent5>
      <a:accent6>
        <a:srgbClr val="D9D9D9"/>
      </a:accent6>
      <a:hlink>
        <a:srgbClr val="0A0A0A"/>
      </a:hlink>
      <a:folHlink>
        <a:srgbClr val="6F6F6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1761</Words>
  <Application>Microsoft Macintosh PowerPoint</Application>
  <PresentationFormat>Widescreen</PresentationFormat>
  <Paragraphs>148</Paragraphs>
  <Slides>13</Slides>
  <Notes>13</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13</vt:i4>
      </vt:variant>
    </vt:vector>
  </HeadingPairs>
  <TitlesOfParts>
    <vt:vector size="15" baseType="lpstr">
      <vt:lpstr>Arial</vt:lpstr>
      <vt:lpstr>Office Theme</vt:lpstr>
      <vt:lpstr>From measurement to kinetic modelling</vt:lpstr>
      <vt:lpstr>Last year the code was the hurdle</vt:lpstr>
      <vt:lpstr>More than doubled</vt:lpstr>
      <vt:lpstr>The assistant types, you decide</vt:lpstr>
      <vt:lpstr>Tools act, skills instruct, you decide</vt:lpstr>
      <vt:lpstr>Two tasks, one document in between</vt:lpstr>
      <vt:lpstr>Chromhandler: from peak tables to concentrations</vt:lpstr>
      <vt:lpstr>Catalax: from time courses to kinetic parameters</vt:lpstr>
      <vt:lpstr>ManNAc + PEP → Neu5Ac + Pi, followed by HPLC</vt:lpstr>
      <vt:lpstr>Get started: tinyurl.com/enzymeml2026</vt:lpstr>
      <vt:lpstr>The reference fit, and an open question</vt:lpstr>
      <vt:lpstr>What to take home</vt:lpstr>
      <vt:lpstr>Thank you</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measurement to kinetic modelling</dc:title>
  <dc:subject/>
  <dc:creator/>
  <cp:keywords/>
  <dc:description>generated using python-pptx</dc:description>
  <cp:lastModifiedBy>Max Häußler</cp:lastModifiedBy>
  <cp:revision>5</cp:revision>
  <dcterms:created xsi:type="dcterms:W3CDTF">2013-01-27T09:14:16Z</dcterms:created>
  <dcterms:modified xsi:type="dcterms:W3CDTF">2026-09-15T22:21:31Z</dcterms:modified>
  <cp:category/>
</cp:coreProperties>
</file>
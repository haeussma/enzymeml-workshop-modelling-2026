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Two series: ManNAc varied at fixed PEP (13 reactions), PEP varied at fixed ManNAc (11 reactions); six injections each; five standards with 1–5 mM. Only the product is quantified; the substrates enter the model as their known initial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 1 min. Two series: ManNAc varied at fixed PEP (13 reactions), PEP varied at fixed ManNAc (11 reactions); six injections each, 144 chromatograms; five standards with 1–5 mM Neu5Ac that also contain the substrates, no enzyme. Participants do not get the raw traces: the instrument software exported a peak table per injection, and that is the input of task 1. Initial concentrations are in conditions.csv. Where Neu5Ac elutes is in the task card and comes up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Show the count (24 reactions, 5 standards) and the peak plot. Accept the calibration explicitly ('my decision, not the assistant's'). Deliberate mistake: when asked for the reaction window, say 'the same as the standards, 11.41 ± 0.05'; chromhandler warns 'No peaks found for Neu5Ac in 6 measurement(s)' per reaction, the document has 0 Neu5Ac values, the check '6 values per reaction' fails. Say why (the shift on the peak plot), correct to 10.05 ± 0.20, continue. Export, run the checks, show this plot.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3" name="Content Placeholder 2"/>
          <p:cNvSpPr>
            <a:spLocks noGrp="1"/>
          </p:cNvSpPr>
          <p:nvPr>
            <p:ph idx="1"/>
          </p:nvPr>
        </p:nvSpPr>
        <p:spPr/>
        <p:txBody>
          <a:bodyPr/>
          <a:lstStyle/>
          <a:p>
            <a:r>
              <a:rPr/>
              <a:t>Today's models write correct code against our Python APIs from a one-page card</a:t>
            </a:r>
          </a:p>
          <a:p>
            <a:r>
              <a:rPr/>
              <a:t>They do not know where the peak is, which model is right, when a result is wrong</a:t>
            </a:r>
          </a:p>
          <a:p>
            <a:r>
              <a:rPr/>
              <a:t>So the scientist decides and checks; the assistant executes</a:t>
            </a:r>
          </a:p>
          <a:p>
            <a:r>
              <a:rPr/>
              <a:t>EnzymeML is the document that travels between the steps and the tools</a:t>
            </a:r>
          </a:p>
        </p:txBody>
      </p:sp>
      <p:sp>
        <p:nvSpPr>
          <p:cNvPr id="4" name="Text Placeholder 3"/>
          <p:cNvSpPr>
            <a:spLocks noGrp="1"/>
          </p:cNvSpPr>
          <p:nvPr>
            <p:ph type="body" idx="13" sz="quarter"/>
          </p:nvPr>
        </p:nvSpPr>
        <p:spPr/>
        <p:txBody>
          <a:bodyPr/>
          <a:lstStyle/>
          <a:p>
            <a:r>
              <a:rPr/>
              <a:t>Motivation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24 reactions × 6 injections, 5 standards</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24 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a:p>
            <a:pPr algn="ctr"/>
            <a:r>
              <a:rPr sz="1100">
                <a:solidFill>
                  <a:srgbClr val="6F6F6F"/>
                </a:solidFill>
              </a:rPr>
              <a:t>one export per injection, the time in the file name</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a:p>
            <a:pPr algn="ctr"/>
            <a:r>
              <a:rPr sz="1100">
                <a:solidFill>
                  <a:srgbClr val="6F6F6F"/>
                </a:solidFill>
              </a:rPr>
              <a:t>exports with known concentrations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a:p>
            <a:pPr algn="ctr"/>
            <a:r>
              <a:rPr sz="1100">
                <a:solidFill>
                  <a:srgbClr val="6F6F6F"/>
                </a:solidFill>
              </a:rPr>
              <a:t>what was in each reaction at t = 0</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a:p>
            <a:pPr algn="ctr"/>
            <a:r>
              <a:rPr sz="1100">
                <a:solidFill>
                  <a:srgbClr val="6F6F6F"/>
                </a:solidFill>
              </a:rPr>
              <a:t>read_shimadzu, reaction or calibration mode</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a:p>
            <a:pPr algn="ctr"/>
            <a:r>
              <a:rPr sz="1100">
                <a:solidFill>
                  <a:srgbClr val="6F6F6F"/>
                </a:solidFill>
              </a:rPr>
              <a:t>your decision, per measurement session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a:p>
            <a:pPr algn="ctr"/>
            <a:r>
              <a:rPr sz="1100">
                <a:solidFill>
                  <a:srgbClr val="6F6F6F"/>
                </a:solidFill>
              </a:rPr>
              <a:t>auto_assign: the peak inside the window</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a:p>
            <a:pPr algn="ctr"/>
            <a:r>
              <a:rPr sz="1100">
                <a:solidFill>
                  <a:srgbClr val="6F6F6F"/>
                </a:solidFill>
              </a:rPr>
              <a:t>add_standard, area against concentration; you accept R²</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a:p>
            <a:pPr algn="ctr"/>
            <a:r>
              <a:rPr sz="1100">
                <a:solidFill>
                  <a:srgbClr val="6F6F6F"/>
                </a:solidFill>
              </a:rPr>
              <a:t>to_enzymeml: areas become concentrations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with their initial conditions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a:p>
            <a:pPr algn="ctr"/>
            <a:r>
              <a:rPr sz="1100">
                <a:solidFill>
                  <a:srgbClr val="6F6F6F"/>
                </a:solidFill>
              </a:rPr>
              <a:t>one peak per chromatogram, R², values per reaction</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and initial conditions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a:p>
            <a:pPr algn="ctr"/>
            <a:r>
              <a:rPr sz="1100">
                <a:solidFill>
                  <a:srgbClr val="6F6F6F"/>
                </a:solidFill>
              </a:rPr>
              <a:t>one equation; states and ODEs follow from it</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a:p>
            <a:pPr algn="ctr"/>
            <a:r>
              <a:rPr sz="1100">
                <a:solidFill>
                  <a:srgbClr val="6F6F6F"/>
                </a:solidFill>
              </a:rPr>
              <a:t>what you assume before seeing the data</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a:p>
            <a:pPr algn="ctr"/>
            <a:r>
              <a:rPr sz="1100">
                <a:solidFill>
                  <a:srgbClr val="6F6F6F"/>
                </a:solidFill>
              </a:rPr>
              <a:t>Dataset.from_enzymeml</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a:p>
            <a:pPr algn="ctr"/>
            <a:r>
              <a:rPr sz="1100">
                <a:solidFill>
                  <a:srgbClr val="6F6F6F"/>
                </a:solidFill>
              </a:rPr>
              <a:t>add_state, add_ode; your decision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a:p>
            <a:pPr algn="ctr"/>
            <a:r>
              <a:rPr sz="1100">
                <a:solidFill>
                  <a:srgbClr val="6F6F6F"/>
                </a:solidFill>
              </a:rPr>
              <a:t>LogUniform per parameter, yerrs; your decision</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a:p>
            <a:pPr algn="ctr"/>
            <a:r>
              <a:rPr sz="1100">
                <a:solidFill>
                  <a:srgbClr val="6F6F6F"/>
                </a:solidFill>
              </a:rPr>
              <a:t>run_mcmc: chains, warmup, samples</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a:p>
            <a:pPr algn="ctr"/>
            <a:r>
              <a:rPr sz="1100">
                <a:solidFill>
                  <a:srgbClr val="6F6F6F"/>
                </a:solidFill>
              </a:rPr>
              <a:t>r-hat, divergences, bounds, correlations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a:p>
            <a:pPr algn="ct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ManNAc</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PEP</a:t>
            </a:r>
            <a:r>
              <a:rPr sz="1100">
                <a:solidFill>
                  <a:srgbClr val="6F6F6F"/>
                </a:solidFill>
              </a:rPr>
              <a:t>: mean ± sd, intervals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a:p>
            <a:pPr algn="ctr"/>
            <a:r>
              <a:rPr sz="1100">
                <a:solidFill>
                  <a:srgbClr val="6F6F6F"/>
                </a:solidFill>
              </a:rPr>
              <a:t>corner plot; data with the model on top</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HPLC-PDA at 215 nm; only the product Neu5Ac is quantified</a:t>
            </a:r>
          </a:p>
          <a:p>
            <a:r>
              <a:rPr/>
              <a:t>ManNAc series: 13 reactions, ManNAc 0–100 mM at 20 mM PEP</a:t>
            </a:r>
          </a:p>
          <a:p>
            <a:r>
              <a:rPr/>
              <a:t>PEP series: 11 reactions, PEP 0–20 mM at 50 mM ManNAc</a:t>
            </a:r>
          </a:p>
          <a:p>
            <a:r>
              <a:rPr/>
              <a:t>Six injections per reaction; five calibration standards, 1–5 mM</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series, one substrate varied at a time</a:t>
            </a:r>
          </a:p>
        </p:txBody>
      </p:sp>
      <p:sp>
        <p:nvSpPr>
          <p:cNvPr id="3" name="Content Placeholder 2"/>
          <p:cNvSpPr>
            <a:spLocks noGrp="1"/>
          </p:cNvSpPr>
          <p:nvPr>
            <p:ph idx="1"/>
          </p:nvPr>
        </p:nvSpPr>
        <p:spPr>
          <a:xfrm>
            <a:off x="822960" y="3520440"/>
            <a:ext cx="10545775" cy="2240279"/>
          </a:xfrm>
        </p:spPr>
        <p:txBody>
          <a:bodyPr/>
          <a:lstStyle/>
          <a:p>
            <a:r>
              <a:rPr/>
              <a:t>24 reactions sampled six times: 144 chromatograms</a:t>
            </a:r>
          </a:p>
          <a:p>
            <a:r>
              <a:rPr/>
              <a:t>Per injection you get the instrument's peak table, not the raw trace</a:t>
            </a:r>
          </a:p>
          <a:p>
            <a:r>
              <a:rPr/>
              <a:t>Initial concentrations are in conditions.csv</a:t>
            </a:r>
          </a:p>
        </p:txBody>
      </p:sp>
      <p:sp>
        <p:nvSpPr>
          <p:cNvPr id="4" name="Text Placeholder 3"/>
          <p:cNvSpPr>
            <a:spLocks noGrp="1"/>
          </p:cNvSpPr>
          <p:nvPr>
            <p:ph type="body" idx="13" sz="quarter"/>
          </p:nvPr>
        </p:nvSpPr>
        <p:spPr/>
        <p:txBody>
          <a:bodyPr/>
          <a:lstStyle/>
          <a:p>
            <a:r>
              <a:rPr/>
              <a:t>The dataset</a:t>
            </a:r>
          </a:p>
        </p:txBody>
      </p:sp>
      <p:graphicFrame>
        <p:nvGraphicFramePr>
          <p:cNvPr id="7" name="Table 6"/>
          <p:cNvGraphicFramePr>
            <a:graphicFrameLocks noGrp="1"/>
          </p:cNvGraphicFramePr>
          <p:nvPr/>
        </p:nvGraphicFramePr>
        <p:xfrm>
          <a:off x="822960" y="1645920"/>
          <a:ext cx="10545775" cy="1536192"/>
        </p:xfrm>
        <a:graphic>
          <a:graphicData uri="http://schemas.openxmlformats.org/drawingml/2006/table">
            <a:tbl>
              <a:tblPr firstRow="1">
                <a:tableStyleId>{9D7B26C5-4107-4FEC-AEDC-1716B250EE53}</a:tableStyleId>
              </a:tblPr>
              <a:tblGrid>
                <a:gridCol w="2468880"/>
                <a:gridCol w="1554480"/>
                <a:gridCol w="3566160"/>
                <a:gridCol w="2956255"/>
              </a:tblGrid>
              <a:tr h="384048">
                <a:tc>
                  <a:txBody>
                    <a:bodyPr/>
                    <a:lstStyle/>
                    <a:p/>
                  </a:txBody>
                  <a:tcPr/>
                </a:tc>
                <a:tc>
                  <a:txBody>
                    <a:bodyPr/>
                    <a:lstStyle/>
                    <a:p>
                      <a:r>
                        <a:rPr b="1" sz="1400"/>
                        <a:t>Samples</a:t>
                      </a:r>
                    </a:p>
                  </a:txBody>
                  <a:tcPr/>
                </a:tc>
                <a:tc>
                  <a:txBody>
                    <a:bodyPr/>
                    <a:lstStyle/>
                    <a:p>
                      <a:r>
                        <a:rPr b="1" sz="1400"/>
                        <a:t>What varies</a:t>
                      </a:r>
                    </a:p>
                  </a:txBody>
                  <a:tcPr/>
                </a:tc>
                <a:tc>
                  <a:txBody>
                    <a:bodyPr/>
                    <a:lstStyle/>
                    <a:p>
                      <a:r>
                        <a:rPr b="1" sz="1400"/>
                        <a:t>What is fixed</a:t>
                      </a:r>
                    </a:p>
                  </a:txBody>
                  <a:tcPr/>
                </a:tc>
              </a:tr>
              <a:tr h="384048">
                <a:tc>
                  <a:txBody>
                    <a:bodyPr/>
                    <a:lstStyle/>
                    <a:p>
                      <a:r>
                        <a:rPr b="1" sz="1400"/>
                        <a:t>ManNAc series</a:t>
                      </a:r>
                    </a:p>
                  </a:txBody>
                  <a:tcPr/>
                </a:tc>
                <a:tc>
                  <a:txBody>
                    <a:bodyPr/>
                    <a:lstStyle/>
                    <a:p>
                      <a:r>
                        <a:rPr b="0" sz="1400"/>
                        <a:t>13 reactions</a:t>
                      </a:r>
                    </a:p>
                  </a:txBody>
                  <a:tcPr/>
                </a:tc>
                <a:tc>
                  <a:txBody>
                    <a:bodyPr/>
                    <a:lstStyle/>
                    <a:p>
                      <a:r>
                        <a:rPr b="0" sz="1400"/>
                        <a:t>ManNAc 0–100 mM</a:t>
                      </a:r>
                    </a:p>
                  </a:txBody>
                  <a:tcPr/>
                </a:tc>
                <a:tc>
                  <a:txBody>
                    <a:bodyPr/>
                    <a:lstStyle/>
                    <a:p>
                      <a:r>
                        <a:rPr b="0" sz="1400"/>
                        <a:t>PEP 20 mM</a:t>
                      </a:r>
                    </a:p>
                  </a:txBody>
                  <a:tcPr/>
                </a:tc>
              </a:tr>
              <a:tr h="384048">
                <a:tc>
                  <a:txBody>
                    <a:bodyPr/>
                    <a:lstStyle/>
                    <a:p>
                      <a:r>
                        <a:rPr b="1" sz="1400"/>
                        <a:t>PEP series</a:t>
                      </a:r>
                    </a:p>
                  </a:txBody>
                  <a:tcPr/>
                </a:tc>
                <a:tc>
                  <a:txBody>
                    <a:bodyPr/>
                    <a:lstStyle/>
                    <a:p>
                      <a:r>
                        <a:rPr b="0" sz="1400"/>
                        <a:t>11 reactions</a:t>
                      </a:r>
                    </a:p>
                  </a:txBody>
                  <a:tcPr/>
                </a:tc>
                <a:tc>
                  <a:txBody>
                    <a:bodyPr/>
                    <a:lstStyle/>
                    <a:p>
                      <a:r>
                        <a:rPr b="0" sz="1400"/>
                        <a:t>PEP 0–20 mM</a:t>
                      </a:r>
                    </a:p>
                  </a:txBody>
                  <a:tcPr/>
                </a:tc>
                <a:tc>
                  <a:txBody>
                    <a:bodyPr/>
                    <a:lstStyle/>
                    <a:p>
                      <a:r>
                        <a:rPr b="0" sz="1400"/>
                        <a:t>ManNAc 50 mM</a:t>
                      </a:r>
                    </a:p>
                  </a:txBody>
                  <a:tcPr/>
                </a:tc>
              </a:tr>
              <a:tr h="384048">
                <a:tc>
                  <a:txBody>
                    <a:bodyPr/>
                    <a:lstStyle/>
                    <a:p>
                      <a:r>
                        <a:rPr b="1" sz="1400"/>
                        <a:t>Calibration standards</a:t>
                      </a:r>
                    </a:p>
                  </a:txBody>
                  <a:tcPr/>
                </a:tc>
                <a:tc>
                  <a:txBody>
                    <a:bodyPr/>
                    <a:lstStyle/>
                    <a:p>
                      <a:r>
                        <a:rPr b="0" sz="1400"/>
                        <a:t>5 standards</a:t>
                      </a:r>
                    </a:p>
                  </a:txBody>
                  <a:tcPr/>
                </a:tc>
                <a:tc>
                  <a:txBody>
                    <a:bodyPr/>
                    <a:lstStyle/>
                    <a:p>
                      <a:r>
                        <a:rPr b="0" sz="1400"/>
                        <a:t>Neu5Ac 1–5 mM, with ManNAc and PEP</a:t>
                      </a:r>
                    </a:p>
                  </a:txBody>
                  <a:tcPr/>
                </a:tc>
                <a:tc>
                  <a:txBody>
                    <a:bodyPr/>
                    <a:lstStyle/>
                    <a:p>
                      <a:r>
                        <a:rPr b="0" sz="1400"/>
                        <a:t>no enzyme</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github.com/haeussma/enzymeml-workshop-modelling-2026 · start with the README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4" name="Text Placeholder 3"/>
          <p:cNvSpPr>
            <a:spLocks noGrp="1"/>
          </p:cNvSpPr>
          <p:nvPr>
            <p:ph type="body" idx="2" sz="half"/>
          </p:nvPr>
        </p:nvSpPr>
        <p:spPr>
          <a:xfrm>
            <a:off x="822960" y="4663440"/>
            <a:ext cx="10545775" cy="1097280"/>
          </a:xfrm>
        </p:spPr>
        <p:txBody>
          <a:bodyPr/>
          <a:lstStyle/>
          <a:p>
            <a:r>
              <a:rPr b="1"/>
              <a:t>Goal: </a:t>
            </a:r>
            <a:r>
              <a:rPr/>
              <a:t>an EnzymeML document with 24 calibrated Neu5Ac time courses</a:t>
            </a:r>
          </a:p>
          <a:p>
            <a:r>
              <a:rPr b="1"/>
              <a:t>Your decision: </a:t>
            </a:r>
            <a:r>
              <a:rPr/>
              <a:t>the Neu5Ac retention window, different in standards and reactions</a:t>
            </a:r>
          </a:p>
          <a:p>
            <a:r>
              <a:rPr b="1"/>
              <a:t>Checks: </a:t>
            </a:r>
            <a:r>
              <a:rPr/>
              <a:t>slope ≈ 239 000 area per mM, R² ≥ 0.99; 24 measurements, six increasing time points each</a:t>
            </a:r>
          </a:p>
          <a:p>
            <a:r>
              <a:rPr b="1"/>
              <a:t>Live demo: </a:t>
            </a:r>
            <a:r>
              <a:rPr/>
              <a:t>one deliberate mistake, the standards window used for the reactions</a:t>
            </a:r>
          </a:p>
        </p:txBody>
      </p:sp>
      <p:sp>
        <p:nvSpPr>
          <p:cNvPr id="5" name="Text Placeholder 4"/>
          <p:cNvSpPr>
            <a:spLocks noGrp="1"/>
          </p:cNvSpPr>
          <p:nvPr>
            <p:ph type="body" idx="13" sz="quarter"/>
          </p:nvPr>
        </p:nvSpPr>
        <p:spPr/>
        <p:txBody>
          <a:bodyPr/>
          <a:lstStyle/>
          <a:p>
            <a:r>
              <a:rPr/>
              <a:t>Task 1</a:t>
            </a:r>
          </a:p>
        </p:txBody>
      </p:sp>
      <p:pic>
        <p:nvPicPr>
          <p:cNvPr id="8" name="Picture 7" descr="time_courses.png"/>
          <p:cNvPicPr>
            <a:picLocks noChangeAspect="1"/>
          </p:cNvPicPr>
          <p:nvPr/>
        </p:nvPicPr>
        <p:blipFill>
          <a:blip r:embed="rId3"/>
          <a:stretch>
            <a:fillRect/>
          </a:stretch>
        </p:blipFill>
        <p:spPr>
          <a:xfrm>
            <a:off x="1928617" y="1645920"/>
            <a:ext cx="8334461" cy="2880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r>
              <a:rPr b="1"/>
              <a:t>Checks: </a:t>
            </a:r>
            <a:r>
              <a:rPr/>
              <a:t>r-hat near 1, no divergences, posterior clear of the prior bounds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github.com/haeussma/enzymeml-workshop-modelling-2026</a:t>
            </a:r>
          </a:p>
          <a:p>
            <a:pPr lvl="1"/>
            <a:r>
              <a:t>Max Häußler · University of Freiburg</a:t>
            </a:r>
          </a:p>
        </p:txBody>
      </p:sp>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